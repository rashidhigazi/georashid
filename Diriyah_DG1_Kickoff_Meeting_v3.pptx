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media/image12.svg" ContentType="image/svg+xml"/>
  <Override PartName="/ppt/media/image3.svg" ContentType="image/svg+xml"/>
  <Override PartName="/ppt/media/image31.svg" ContentType="image/svg+xml"/>
  <Override PartName="/ppt/media/image5.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74" r:id="rId2"/>
    <p:sldId id="294" r:id="rId3"/>
    <p:sldId id="306" r:id="rId4"/>
    <p:sldId id="325" r:id="rId5"/>
    <p:sldId id="307" r:id="rId6"/>
    <p:sldId id="317" r:id="rId8"/>
    <p:sldId id="319" r:id="rId9"/>
    <p:sldId id="318" r:id="rId10"/>
    <p:sldId id="324" r:id="rId11"/>
    <p:sldId id="321" r:id="rId12"/>
    <p:sldId id="302" r:id="rId13"/>
    <p:sldId id="327" r:id="rId22"/>
    <p:sldId id="305" r:id="rId14"/>
    <p:sldId id="295"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24" userDrawn="1">
          <p15:clr>
            <a:srgbClr val="A4A3A4"/>
          </p15:clr>
        </p15:guide>
        <p15:guide id="2" pos="3816" userDrawn="1">
          <p15:clr>
            <a:srgbClr val="A4A3A4"/>
          </p15:clr>
        </p15:guide>
        <p15:guide id="3" pos="7392" userDrawn="1">
          <p15:clr>
            <a:srgbClr val="A4A3A4"/>
          </p15:clr>
        </p15:guide>
        <p15:guide id="4" orient="horz" pos="4224" userDrawn="1">
          <p15:clr>
            <a:srgbClr val="A4A3A4"/>
          </p15:clr>
        </p15:guide>
        <p15:guide id="5" orient="horz" pos="336" userDrawn="1">
          <p15:clr>
            <a:srgbClr val="A4A3A4"/>
          </p15:clr>
        </p15:guide>
        <p15:guide id="6" pos="192" userDrawn="1">
          <p15:clr>
            <a:srgbClr val="A4A3A4"/>
          </p15:clr>
        </p15:guide>
        <p15:guide id="7" pos="628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1AA1E"/>
    <a:srgbClr val="21446A"/>
    <a:srgbClr val="231F20"/>
    <a:srgbClr val="EBB13D"/>
    <a:srgbClr val="70AD47"/>
    <a:srgbClr val="02573D"/>
    <a:srgbClr val="787878"/>
    <a:srgbClr val="F1C875"/>
    <a:srgbClr val="21456A"/>
    <a:srgbClr val="F1AC2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43" autoAdjust="0"/>
    <p:restoredTop sz="96323" autoAdjust="0"/>
  </p:normalViewPr>
  <p:slideViewPr>
    <p:cSldViewPr snapToGrid="0" showGuides="1">
      <p:cViewPr varScale="1">
        <p:scale>
          <a:sx n="113" d="100"/>
          <a:sy n="113" d="100"/>
        </p:scale>
        <p:origin x="474" y="90"/>
      </p:cViewPr>
      <p:guideLst>
        <p:guide orient="horz" pos="3024"/>
        <p:guide pos="3816"/>
        <p:guide pos="7392"/>
        <p:guide orient="horz" pos="4224"/>
        <p:guide orient="horz" pos="336"/>
        <p:guide pos="192"/>
        <p:guide pos="6288"/>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22" Type="http://schemas.openxmlformats.org/officeDocument/2006/relationships/slide" Target="slides/slide12.xml"/></Relationships>
</file>

<file path=ppt/diagrams/colors1.xml><?xml version="1.0" encoding="utf-8"?>
<dgm:colorsDef xmlns:dgm="http://schemas.openxmlformats.org/drawingml/2006/diagram" xmlns:a="http://schemas.openxmlformats.org/drawingml/2006/main" uniqueId="urn:microsoft.com/office/officeart/2005/8/colors/accent5_1">
  <dgm:title val=""/>
  <dgm:desc val=""/>
  <dgm:catLst>
    <dgm:cat type="accent5" pri="11100"/>
  </dgm:catLst>
  <dgm:styleLbl name="node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5">
        <a:shade val="80000"/>
      </a:schemeClr>
    </dgm:linClrLst>
    <dgm:effectClrLst/>
    <dgm:txLinClrLst/>
    <dgm:txFillClrLst/>
    <dgm:txEffectClrLst/>
  </dgm:styleLbl>
  <dgm:styleLbl name="node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f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align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bgImgPlace1">
    <dgm:fillClrLst meth="repeat">
      <a:schemeClr val="accent5">
        <a:tint val="40000"/>
      </a:schemeClr>
    </dgm:fillClrLst>
    <dgm:linClrLst meth="repeat">
      <a:schemeClr val="accent5">
        <a:shade val="80000"/>
      </a:schemeClr>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meth="repeat">
      <a:schemeClr val="dk1"/>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5">
        <a:shade val="80000"/>
      </a:schemeClr>
    </dgm:linClrLst>
    <dgm:effectClrLst/>
    <dgm:txLinClrLst/>
    <dgm:txFillClrLst meth="repeat">
      <a:schemeClr val="dk1"/>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dgm:txEffectClrLst/>
  </dgm:styleLbl>
  <dgm:styleLbl name="parChTrans2D2">
    <dgm:fillClrLst meth="repeat">
      <a:schemeClr val="accent5"/>
    </dgm:fillClrLst>
    <dgm:linClrLst meth="repeat">
      <a:schemeClr val="accent5"/>
    </dgm:linClrLst>
    <dgm:effectClrLst/>
    <dgm:txLinClrLst/>
    <dgm:txFillClrLst/>
    <dgm:txEffectClrLst/>
  </dgm:styleLbl>
  <dgm:styleLbl name="parChTrans2D3">
    <dgm:fillClrLst meth="repeat">
      <a:schemeClr val="accent5"/>
    </dgm:fillClrLst>
    <dgm:linClrLst meth="repeat">
      <a:schemeClr val="accent5"/>
    </dgm:linClrLst>
    <dgm:effectClrLst/>
    <dgm:txLinClrLst/>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conF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align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trAlignAcc1">
    <dgm:fillClrLst meth="repeat">
      <a:schemeClr val="accent5">
        <a:alpha val="40000"/>
        <a:tint val="40000"/>
      </a:schemeClr>
    </dgm:fillClrLst>
    <dgm:linClrLst meth="repeat">
      <a:schemeClr val="accent5"/>
    </dgm:linClrLst>
    <dgm:effectClrLst/>
    <dgm:txLinClrLst/>
    <dgm:txFillClrLst meth="repeat">
      <a:schemeClr val="dk1"/>
    </dgm:txFillClrLst>
    <dgm:txEffectClrLst/>
  </dgm:styleLbl>
  <dgm:styleLbl name="bgAcc1">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5">
        <a:alpha val="90000"/>
      </a:schemeClr>
    </dgm:linClrLst>
    <dgm:effectClrLst/>
    <dgm:txLinClrLst/>
    <dgm:txFillClrLst meth="repeat">
      <a:schemeClr val="dk1"/>
    </dgm:txFillClrLst>
    <dgm:txEffectClrLst/>
  </dgm:styleLbl>
  <dgm:styleLbl name="fgAcc0">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2">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3">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fgAcc4">
    <dgm:fillClrLst meth="repeat">
      <a:schemeClr val="accent5">
        <a:alpha val="90000"/>
        <a:tint val="4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22DE47-F8C4-47D5-BDBD-0121F64763AE}" type="doc">
      <dgm:prSet loTypeId="urn:microsoft.com/office/officeart/2005/8/layout/hProcess4" loCatId="process" qsTypeId="urn:microsoft.com/office/officeart/2005/8/quickstyle/simple5" qsCatId="simple" csTypeId="urn:microsoft.com/office/officeart/2005/8/colors/accent5_1" csCatId="accent5" phldr="1"/>
      <dgm:spPr/>
      <dgm:t>
        <a:bodyPr/>
        <a:lstStyle/>
        <a:p>
          <a:endParaRPr lang="en-US"/>
        </a:p>
      </dgm:t>
    </dgm:pt>
    <dgm:pt modelId="{30EFCF9D-C5AA-47CA-AF80-BB56CB8D9662}">
      <dgm:prSet phldrT="[Text]" custT="1"/>
      <dgm:spPr/>
      <dgm:t>
        <a:bodyPr/>
        <a:lstStyle/>
        <a:p>
          <a:r>
            <a:rPr lang="en-US" sz="1200" b="1" dirty="0">
              <a:effectLst/>
              <a:latin typeface="Changa" panose="00000500000000000000" pitchFamily="2" charset="-78"/>
              <a:ea typeface="Times New Roman" panose="02020603050405020304" pitchFamily="18" charset="0"/>
              <a:cs typeface="Changa" panose="00000500000000000000" pitchFamily="2" charset="-78"/>
            </a:rPr>
            <a:t>Phase 1:</a:t>
          </a:r>
          <a:r>
            <a:rPr lang="en-US" sz="1200" dirty="0">
              <a:effectLst/>
              <a:latin typeface="Changa" panose="00000500000000000000" pitchFamily="2" charset="-78"/>
              <a:ea typeface="Times New Roman" panose="02020603050405020304" pitchFamily="18" charset="0"/>
              <a:cs typeface="Changa" panose="00000500000000000000" pitchFamily="2" charset="-78"/>
            </a:rPr>
            <a:t> </a:t>
          </a:r>
          <a:br>
            <a:rPr lang="en-US" sz="1200" dirty="0">
              <a:effectLst/>
              <a:latin typeface="Changa" panose="00000500000000000000" pitchFamily="2" charset="-78"/>
              <a:ea typeface="Times New Roman" panose="02020603050405020304" pitchFamily="18" charset="0"/>
              <a:cs typeface="Changa" panose="00000500000000000000" pitchFamily="2" charset="-78"/>
            </a:rPr>
          </a:br>
          <a:r>
            <a:rPr lang="en-US" sz="1200" b="1" dirty="0">
              <a:latin typeface="Changa" panose="00000500000000000000" pitchFamily="2" charset="-78"/>
              <a:ea typeface="Times New Roman" panose="02020603050405020304" pitchFamily="18" charset="0"/>
              <a:cs typeface="Changa" panose="00000500000000000000" pitchFamily="2" charset="-78"/>
            </a:rPr>
            <a:t>Initiation and Planning</a:t>
          </a:r>
          <a:r>
            <a:rPr lang="en-US" sz="1200" b="1" dirty="0">
              <a:effectLst/>
              <a:latin typeface="Changa" panose="00000500000000000000" pitchFamily="2" charset="-78"/>
              <a:ea typeface="Times New Roman" panose="02020603050405020304" pitchFamily="18" charset="0"/>
              <a:cs typeface="Changa" panose="00000500000000000000" pitchFamily="2" charset="-78"/>
            </a:rPr>
            <a:t>:</a:t>
          </a:r>
          <a:endParaRPr lang="en-US" sz="1200" dirty="0"/>
        </a:p>
      </dgm:t>
    </dgm:pt>
    <dgm:pt modelId="{49C8F770-57A1-4F27-9419-AA66F767EABF}" type="parTrans" cxnId="{E087C4CC-8C47-45DE-802D-42DA4FC2FE55}">
      <dgm:prSet/>
      <dgm:spPr/>
      <dgm:t>
        <a:bodyPr/>
        <a:lstStyle/>
        <a:p>
          <a:endParaRPr lang="en-US"/>
        </a:p>
      </dgm:t>
    </dgm:pt>
    <dgm:pt modelId="{AF61CAC7-625C-4469-AC19-994078562DA5}" type="sibTrans" cxnId="{E087C4CC-8C47-45DE-802D-42DA4FC2FE55}">
      <dgm:prSet/>
      <dgm:spPr/>
      <dgm:t>
        <a:bodyPr/>
        <a:lstStyle/>
        <a:p>
          <a:endParaRPr lang="en-US"/>
        </a:p>
      </dgm:t>
    </dgm:pt>
    <dgm:pt modelId="{0E7D8A4E-C679-4E5C-9B96-90188BF9098B}">
      <dgm:prSet phldrT="[Text]" custT="1"/>
      <dgm:spPr/>
      <dgm:t>
        <a:bodyPr/>
        <a:lstStyle/>
        <a:p>
          <a:r>
            <a:rPr lang="en-US" sz="1100" dirty="0">
              <a:effectLst/>
              <a:latin typeface="Changa" panose="00000500000000000000" pitchFamily="2" charset="-78"/>
              <a:ea typeface="Times New Roman" panose="02020603050405020304" pitchFamily="18" charset="0"/>
              <a:cs typeface="Changa" panose="00000500000000000000" pitchFamily="2" charset="-78"/>
            </a:rPr>
            <a:t>Task Order received.</a:t>
          </a:r>
          <a:endParaRPr lang="en-US" sz="1100" dirty="0"/>
        </a:p>
      </dgm:t>
    </dgm:pt>
    <dgm:pt modelId="{67E6116D-68CA-4C9B-9774-8468870A5E66}" type="parTrans" cxnId="{C220EDBA-7E1A-4112-BB67-1EAF83C08868}">
      <dgm:prSet/>
      <dgm:spPr/>
      <dgm:t>
        <a:bodyPr/>
        <a:lstStyle/>
        <a:p>
          <a:endParaRPr lang="en-US"/>
        </a:p>
      </dgm:t>
    </dgm:pt>
    <dgm:pt modelId="{30EC7686-651B-45EF-BE1E-1CB72AA0BE32}" type="sibTrans" cxnId="{C220EDBA-7E1A-4112-BB67-1EAF83C08868}">
      <dgm:prSet/>
      <dgm:spPr/>
      <dgm:t>
        <a:bodyPr/>
        <a:lstStyle/>
        <a:p>
          <a:endParaRPr lang="en-US"/>
        </a:p>
      </dgm:t>
    </dgm:pt>
    <dgm:pt modelId="{C28DDED0-2409-4AF5-A159-B0018228F6D0}">
      <dgm:prSet phldrT="[Text]" custT="1"/>
      <dgm:spPr/>
      <dgm:t>
        <a:bodyPr/>
        <a:lstStyle/>
        <a:p>
          <a:r>
            <a:rPr lang="en-US" sz="1200" b="1" dirty="0">
              <a:effectLst/>
              <a:latin typeface="Changa" panose="00000500000000000000" pitchFamily="2" charset="-78"/>
              <a:ea typeface="Times New Roman" panose="02020603050405020304" pitchFamily="18" charset="0"/>
              <a:cs typeface="Changa" panose="00000500000000000000" pitchFamily="2" charset="-78"/>
            </a:rPr>
            <a:t>Phase 2:</a:t>
          </a:r>
          <a:r>
            <a:rPr lang="en-US" sz="1200" dirty="0">
              <a:effectLst/>
              <a:latin typeface="Changa" panose="00000500000000000000" pitchFamily="2" charset="-78"/>
              <a:ea typeface="Times New Roman" panose="02020603050405020304" pitchFamily="18" charset="0"/>
              <a:cs typeface="Changa" panose="00000500000000000000" pitchFamily="2" charset="-78"/>
            </a:rPr>
            <a:t> </a:t>
          </a:r>
          <a:br>
            <a:rPr lang="en-US" sz="1200" dirty="0">
              <a:effectLst/>
              <a:latin typeface="Changa" panose="00000500000000000000" pitchFamily="2" charset="-78"/>
              <a:ea typeface="Times New Roman" panose="02020603050405020304" pitchFamily="18" charset="0"/>
              <a:cs typeface="Changa" panose="00000500000000000000" pitchFamily="2" charset="-78"/>
            </a:rPr>
          </a:br>
          <a:r>
            <a:rPr lang="en-US" sz="1200" b="1" dirty="0">
              <a:effectLst/>
              <a:latin typeface="Changa" panose="00000500000000000000" pitchFamily="2" charset="-78"/>
              <a:ea typeface="Times New Roman" panose="02020603050405020304" pitchFamily="18" charset="0"/>
              <a:cs typeface="Changa" panose="00000500000000000000" pitchFamily="2" charset="-78"/>
            </a:rPr>
            <a:t>Field Survey:</a:t>
          </a:r>
          <a:endParaRPr lang="en-US" sz="1200" dirty="0"/>
        </a:p>
      </dgm:t>
    </dgm:pt>
    <dgm:pt modelId="{97A10DE8-5E79-4539-9AD5-CB1D5F0DF43F}" type="parTrans" cxnId="{D6E12F14-5D78-4E16-91EC-291A7E021AC7}">
      <dgm:prSet/>
      <dgm:spPr/>
      <dgm:t>
        <a:bodyPr/>
        <a:lstStyle/>
        <a:p>
          <a:endParaRPr lang="en-US"/>
        </a:p>
      </dgm:t>
    </dgm:pt>
    <dgm:pt modelId="{8838594E-2C7A-4896-884B-C719340C49FB}" type="sibTrans" cxnId="{D6E12F14-5D78-4E16-91EC-291A7E021AC7}">
      <dgm:prSet/>
      <dgm:spPr/>
      <dgm:t>
        <a:bodyPr/>
        <a:lstStyle/>
        <a:p>
          <a:endParaRPr lang="en-US"/>
        </a:p>
      </dgm:t>
    </dgm:pt>
    <dgm:pt modelId="{ED5F4D89-6BA2-4760-B0F5-78B084FC43E4}">
      <dgm:prSet phldrT="[Text]" custT="1"/>
      <dgm:spPr/>
      <dgm:t>
        <a:bodyPr/>
        <a:lstStyle/>
        <a:p>
          <a:r>
            <a:rPr lang="en-US" sz="1200" dirty="0">
              <a:latin typeface="Changa" panose="00000500000000000000" pitchFamily="2" charset="-78"/>
              <a:ea typeface="Times New Roman" panose="02020603050405020304" pitchFamily="18" charset="0"/>
              <a:cs typeface="Changa" panose="00000500000000000000" pitchFamily="2" charset="-78"/>
            </a:rPr>
            <a:t>Survey control, land and boundary survey, demarcation where instructed.</a:t>
          </a:r>
          <a:endParaRPr lang="en-US" sz="1200" dirty="0"/>
        </a:p>
      </dgm:t>
    </dgm:pt>
    <dgm:pt modelId="{42988D90-AA91-45A5-904B-E7D4C8076FC1}" type="parTrans" cxnId="{073C3BD1-6796-4E81-89FD-85D91E60BA8F}">
      <dgm:prSet/>
      <dgm:spPr/>
      <dgm:t>
        <a:bodyPr/>
        <a:lstStyle/>
        <a:p>
          <a:endParaRPr lang="en-US"/>
        </a:p>
      </dgm:t>
    </dgm:pt>
    <dgm:pt modelId="{C1116D48-0E67-451A-A66F-6D0C29720FD6}" type="sibTrans" cxnId="{073C3BD1-6796-4E81-89FD-85D91E60BA8F}">
      <dgm:prSet/>
      <dgm:spPr/>
      <dgm:t>
        <a:bodyPr/>
        <a:lstStyle/>
        <a:p>
          <a:endParaRPr lang="en-US"/>
        </a:p>
      </dgm:t>
    </dgm:pt>
    <dgm:pt modelId="{CCCA19E3-F8A5-43CC-B2CD-DCFC23E5C703}">
      <dgm:prSet phldrT="[Text]" custT="1"/>
      <dgm:spPr/>
      <dgm:t>
        <a:bodyPr/>
        <a:lstStyle/>
        <a:p>
          <a:r>
            <a:rPr lang="en-US" sz="1200" b="1" dirty="0">
              <a:latin typeface="Changa" panose="00000500000000000000" pitchFamily="2" charset="-78"/>
              <a:cs typeface="Changa" panose="00000500000000000000" pitchFamily="2" charset="-78"/>
            </a:rPr>
            <a:t>Phase 3: </a:t>
          </a:r>
          <a:br>
            <a:rPr lang="en-US" sz="1200" b="1" dirty="0">
              <a:latin typeface="Changa" panose="00000500000000000000" pitchFamily="2" charset="-78"/>
              <a:cs typeface="Changa" panose="00000500000000000000" pitchFamily="2" charset="-78"/>
            </a:rPr>
          </a:br>
          <a:r>
            <a:rPr lang="en-US" sz="1200" b="1" dirty="0">
              <a:latin typeface="Changa" panose="00000500000000000000" pitchFamily="2" charset="-78"/>
              <a:cs typeface="Changa" panose="00000500000000000000" pitchFamily="2" charset="-78"/>
            </a:rPr>
            <a:t>Processing and Deliverables </a:t>
          </a:r>
          <a:endParaRPr lang="en-US" sz="1200" dirty="0"/>
        </a:p>
      </dgm:t>
    </dgm:pt>
    <dgm:pt modelId="{07F26F43-FBC7-4D2D-AED7-49DFBB9A9E9C}" type="parTrans" cxnId="{A0BA440C-E8FE-4797-B4AD-9D0B78FBB5C1}">
      <dgm:prSet/>
      <dgm:spPr/>
      <dgm:t>
        <a:bodyPr/>
        <a:lstStyle/>
        <a:p>
          <a:endParaRPr lang="en-US"/>
        </a:p>
      </dgm:t>
    </dgm:pt>
    <dgm:pt modelId="{12B45BC0-7793-4F6B-AAAB-265F9512AA44}" type="sibTrans" cxnId="{A0BA440C-E8FE-4797-B4AD-9D0B78FBB5C1}">
      <dgm:prSet/>
      <dgm:spPr/>
      <dgm:t>
        <a:bodyPr/>
        <a:lstStyle/>
        <a:p>
          <a:endParaRPr lang="en-US"/>
        </a:p>
      </dgm:t>
    </dgm:pt>
    <dgm:pt modelId="{DC305E5D-0523-4185-B83B-FAC9237D6F8E}">
      <dgm:prSet phldrT="[Text]" custT="1"/>
      <dgm:spPr/>
      <dgm:t>
        <a:bodyPr/>
        <a:lstStyle/>
        <a:p>
          <a:r>
            <a:rPr lang="en-US" sz="1200" dirty="0">
              <a:latin typeface="Changa" panose="00000500000000000000" pitchFamily="2" charset="-78"/>
              <a:ea typeface="Times New Roman" panose="02020603050405020304" pitchFamily="18" charset="0"/>
              <a:cs typeface="Changa" panose="00000500000000000000" pitchFamily="2" charset="-78"/>
            </a:rPr>
            <a:t>Field data processed; drawings and title deed documentation prepared.</a:t>
          </a:r>
          <a:endParaRPr lang="en-US" sz="1200" dirty="0"/>
        </a:p>
      </dgm:t>
    </dgm:pt>
    <dgm:pt modelId="{93C569AF-96FD-4BBB-8B94-9A16B1EB4DBD}" type="parTrans" cxnId="{5529F410-E4B2-40B4-A3DB-9C8862C133E0}">
      <dgm:prSet/>
      <dgm:spPr/>
      <dgm:t>
        <a:bodyPr/>
        <a:lstStyle/>
        <a:p>
          <a:endParaRPr lang="en-US"/>
        </a:p>
      </dgm:t>
    </dgm:pt>
    <dgm:pt modelId="{61AC2590-E5F3-48A6-BC4F-418A0205C218}" type="sibTrans" cxnId="{5529F410-E4B2-40B4-A3DB-9C8862C133E0}">
      <dgm:prSet/>
      <dgm:spPr/>
      <dgm:t>
        <a:bodyPr/>
        <a:lstStyle/>
        <a:p>
          <a:endParaRPr lang="en-US"/>
        </a:p>
      </dgm:t>
    </dgm:pt>
    <dgm:pt modelId="{1D8F650C-E5A3-44C7-BBD1-380A8D544A4A}">
      <dgm:prSet phldrT="[Text]" custT="1"/>
      <dgm:spPr/>
      <dgm:t>
        <a:bodyPr/>
        <a:lstStyle/>
        <a:p>
          <a:pPr algn="ctr"/>
          <a:r>
            <a:rPr lang="en-US" sz="1200" b="1" dirty="0">
              <a:latin typeface="Changa" panose="00000500000000000000" pitchFamily="2" charset="-78"/>
              <a:cs typeface="Changa" panose="00000500000000000000" pitchFamily="2" charset="-78"/>
            </a:rPr>
            <a:t>Phase 4: </a:t>
          </a:r>
          <a:br>
            <a:rPr lang="en-US" sz="1200" b="1" dirty="0">
              <a:latin typeface="Changa" panose="00000500000000000000" pitchFamily="2" charset="-78"/>
              <a:cs typeface="Changa" panose="00000500000000000000" pitchFamily="2" charset="-78"/>
            </a:rPr>
          </a:br>
          <a:r>
            <a:rPr lang="en-US" sz="1200" b="1" dirty="0">
              <a:latin typeface="Changa" panose="00000500000000000000" pitchFamily="2" charset="-78"/>
              <a:cs typeface="Changa" panose="00000500000000000000" pitchFamily="2" charset="-78"/>
            </a:rPr>
            <a:t>QA/QC and Close-Out</a:t>
          </a:r>
          <a:endParaRPr lang="en-US" sz="1200" dirty="0"/>
        </a:p>
      </dgm:t>
    </dgm:pt>
    <dgm:pt modelId="{CFD549F4-A2A3-43F2-9580-DC4A80802D38}" type="parTrans" cxnId="{C7B5A699-038F-4855-ACF2-7D4798C65DA0}">
      <dgm:prSet/>
      <dgm:spPr/>
      <dgm:t>
        <a:bodyPr/>
        <a:lstStyle/>
        <a:p>
          <a:endParaRPr lang="en-US"/>
        </a:p>
      </dgm:t>
    </dgm:pt>
    <dgm:pt modelId="{3D6AAE64-85E8-4DEA-A89F-5F1858983C56}" type="sibTrans" cxnId="{C7B5A699-038F-4855-ACF2-7D4798C65DA0}">
      <dgm:prSet/>
      <dgm:spPr/>
      <dgm:t>
        <a:bodyPr/>
        <a:lstStyle/>
        <a:p>
          <a:endParaRPr lang="en-US"/>
        </a:p>
      </dgm:t>
    </dgm:pt>
    <dgm:pt modelId="{6318D349-17C4-4A1E-96A7-76160996641C}">
      <dgm:prSet custT="1"/>
      <dgm:spPr/>
      <dgm:t>
        <a:bodyPr/>
        <a:lstStyle/>
        <a:p>
          <a:r>
            <a:rPr lang="en-US" sz="1100" dirty="0">
              <a:effectLst/>
              <a:latin typeface="Changa" panose="00000500000000000000" pitchFamily="2" charset="-78"/>
              <a:ea typeface="Times New Roman" panose="02020603050405020304" pitchFamily="18" charset="0"/>
              <a:cs typeface="Changa" panose="00000500000000000000" pitchFamily="2" charset="-78"/>
            </a:rPr>
            <a:t>Programme agreed.</a:t>
          </a:r>
        </a:p>
      </dgm:t>
    </dgm:pt>
    <dgm:pt modelId="{4B1BD827-B8D8-45CA-BE46-67D0B68F4A82}" type="parTrans" cxnId="{9363999B-4E57-476A-A2DA-B4E44E786ECF}">
      <dgm:prSet/>
      <dgm:spPr/>
      <dgm:t>
        <a:bodyPr/>
        <a:lstStyle/>
        <a:p>
          <a:endParaRPr lang="en-US"/>
        </a:p>
      </dgm:t>
    </dgm:pt>
    <dgm:pt modelId="{00FF42E8-CD65-4017-8E11-AECE439F575A}" type="sibTrans" cxnId="{9363999B-4E57-476A-A2DA-B4E44E786ECF}">
      <dgm:prSet/>
      <dgm:spPr/>
      <dgm:t>
        <a:bodyPr/>
        <a:lstStyle/>
        <a:p>
          <a:endParaRPr lang="en-US"/>
        </a:p>
      </dgm:t>
    </dgm:pt>
    <dgm:pt modelId="{3AD65404-8BAF-40C5-BC81-FABB64FD5973}">
      <dgm:prSet custT="1"/>
      <dgm:spPr/>
      <dgm:t>
        <a:bodyPr/>
        <a:lstStyle/>
        <a:p>
          <a:r>
            <a:rPr lang="en-US" sz="1100" dirty="0">
              <a:effectLst/>
              <a:latin typeface="Changa" panose="00000500000000000000" pitchFamily="2" charset="-78"/>
              <a:ea typeface="Times New Roman" panose="02020603050405020304" pitchFamily="18" charset="0"/>
              <a:cs typeface="Changa" panose="00000500000000000000" pitchFamily="2" charset="-78"/>
            </a:rPr>
            <a:t>Team mobilized.</a:t>
          </a:r>
        </a:p>
      </dgm:t>
    </dgm:pt>
    <dgm:pt modelId="{E744EF96-AD10-4ED0-A796-04FF5C63926B}" type="parTrans" cxnId="{747C180B-8424-427F-9B9F-E581B2F4B150}">
      <dgm:prSet/>
      <dgm:spPr/>
      <dgm:t>
        <a:bodyPr/>
        <a:lstStyle/>
        <a:p>
          <a:endParaRPr lang="en-US"/>
        </a:p>
      </dgm:t>
    </dgm:pt>
    <dgm:pt modelId="{9E48736D-BB88-4540-A4D5-FF3D75A18D60}" type="sibTrans" cxnId="{747C180B-8424-427F-9B9F-E581B2F4B150}">
      <dgm:prSet/>
      <dgm:spPr/>
      <dgm:t>
        <a:bodyPr/>
        <a:lstStyle/>
        <a:p>
          <a:endParaRPr lang="en-US"/>
        </a:p>
      </dgm:t>
    </dgm:pt>
    <dgm:pt modelId="{C27AB737-ACD2-472C-BA20-707B7BB1D1E0}">
      <dgm:prSet phldrT="[Text]" custT="1"/>
      <dgm:spPr/>
      <dgm:t>
        <a:bodyPr/>
        <a:lstStyle/>
        <a:p>
          <a:r>
            <a:rPr lang="en-US" sz="1200" dirty="0">
              <a:latin typeface="Changa" panose="00000500000000000000" pitchFamily="2" charset="-78"/>
              <a:ea typeface="Times New Roman" panose="02020603050405020304" pitchFamily="18" charset="0"/>
              <a:cs typeface="Changa" panose="00000500000000000000" pitchFamily="2" charset="-78"/>
            </a:rPr>
            <a:t>QA/QC, submission, comments, authority approval if applicable, close-out</a:t>
          </a:r>
          <a:r>
            <a:rPr lang="en-US" sz="1000" dirty="0">
              <a:latin typeface="Changa" panose="00000500000000000000" pitchFamily="2" charset="-78"/>
              <a:ea typeface="Times New Roman" panose="02020603050405020304" pitchFamily="18" charset="0"/>
              <a:cs typeface="Changa" panose="00000500000000000000" pitchFamily="2" charset="-78"/>
            </a:rPr>
            <a:t>.</a:t>
          </a:r>
          <a:endParaRPr lang="en-US" sz="1000" dirty="0"/>
        </a:p>
      </dgm:t>
    </dgm:pt>
    <dgm:pt modelId="{B3739D7E-D696-4BA6-90DF-97F2B0C31AF5}" type="parTrans" cxnId="{D018DA17-24F5-4B13-97AA-8EB375E588F3}">
      <dgm:prSet/>
      <dgm:spPr/>
      <dgm:t>
        <a:bodyPr/>
        <a:lstStyle/>
        <a:p>
          <a:endParaRPr lang="en-US"/>
        </a:p>
      </dgm:t>
    </dgm:pt>
    <dgm:pt modelId="{E85FBA05-D7DA-498E-8B50-724D6FD726FB}" type="sibTrans" cxnId="{D018DA17-24F5-4B13-97AA-8EB375E588F3}">
      <dgm:prSet/>
      <dgm:spPr/>
      <dgm:t>
        <a:bodyPr/>
        <a:lstStyle/>
        <a:p>
          <a:endParaRPr lang="en-US"/>
        </a:p>
      </dgm:t>
    </dgm:pt>
    <dgm:pt modelId="{A8343710-BD30-47A1-A09E-04437C8F61C9}" type="pres">
      <dgm:prSet presAssocID="{5D22DE47-F8C4-47D5-BDBD-0121F64763AE}" presName="Name0" presStyleCnt="0">
        <dgm:presLayoutVars>
          <dgm:dir/>
          <dgm:animLvl val="lvl"/>
          <dgm:resizeHandles val="exact"/>
        </dgm:presLayoutVars>
      </dgm:prSet>
      <dgm:spPr/>
    </dgm:pt>
    <dgm:pt modelId="{234D514C-B444-402D-B026-B2DCDF02416C}" type="pres">
      <dgm:prSet presAssocID="{5D22DE47-F8C4-47D5-BDBD-0121F64763AE}" presName="tSp" presStyleCnt="0"/>
      <dgm:spPr/>
    </dgm:pt>
    <dgm:pt modelId="{63BE3D23-78C0-445E-80EC-89DCE0077139}" type="pres">
      <dgm:prSet presAssocID="{5D22DE47-F8C4-47D5-BDBD-0121F64763AE}" presName="bSp" presStyleCnt="0"/>
      <dgm:spPr/>
    </dgm:pt>
    <dgm:pt modelId="{E8C768A4-8C94-476C-A364-3D486F4F140A}" type="pres">
      <dgm:prSet presAssocID="{5D22DE47-F8C4-47D5-BDBD-0121F64763AE}" presName="process" presStyleCnt="0"/>
      <dgm:spPr/>
    </dgm:pt>
    <dgm:pt modelId="{813EC0EC-D095-4E4F-B989-137542B6BD62}" type="pres">
      <dgm:prSet presAssocID="{30EFCF9D-C5AA-47CA-AF80-BB56CB8D9662}" presName="composite1" presStyleCnt="0"/>
      <dgm:spPr/>
    </dgm:pt>
    <dgm:pt modelId="{CC0E88A9-19B8-4A56-955F-ECBD24E54638}" type="pres">
      <dgm:prSet presAssocID="{30EFCF9D-C5AA-47CA-AF80-BB56CB8D9662}" presName="dummyNode1" presStyleLbl="node1" presStyleIdx="0" presStyleCnt="4"/>
      <dgm:spPr/>
    </dgm:pt>
    <dgm:pt modelId="{9171EF73-C1B8-4FC8-A620-EEEEF7EB2B4A}" type="pres">
      <dgm:prSet presAssocID="{30EFCF9D-C5AA-47CA-AF80-BB56CB8D9662}" presName="childNode1" presStyleLbl="bgAcc1" presStyleIdx="0" presStyleCnt="4" custScaleY="153309">
        <dgm:presLayoutVars>
          <dgm:bulletEnabled val="1"/>
        </dgm:presLayoutVars>
      </dgm:prSet>
      <dgm:spPr/>
    </dgm:pt>
    <dgm:pt modelId="{1602129C-5FEB-492F-8860-8149104E67A0}" type="pres">
      <dgm:prSet presAssocID="{30EFCF9D-C5AA-47CA-AF80-BB56CB8D9662}" presName="childNode1tx" presStyleLbl="bgAcc1" presStyleIdx="0" presStyleCnt="4">
        <dgm:presLayoutVars>
          <dgm:bulletEnabled val="1"/>
        </dgm:presLayoutVars>
      </dgm:prSet>
      <dgm:spPr/>
    </dgm:pt>
    <dgm:pt modelId="{9C63D750-32E4-49E9-91F7-DC41169C3642}" type="pres">
      <dgm:prSet presAssocID="{30EFCF9D-C5AA-47CA-AF80-BB56CB8D9662}" presName="parentNode1" presStyleLbl="node1" presStyleIdx="0" presStyleCnt="4">
        <dgm:presLayoutVars>
          <dgm:chMax val="1"/>
          <dgm:bulletEnabled val="1"/>
        </dgm:presLayoutVars>
      </dgm:prSet>
      <dgm:spPr/>
    </dgm:pt>
    <dgm:pt modelId="{78DF2244-12E1-46FC-82C4-BEB901A65817}" type="pres">
      <dgm:prSet presAssocID="{30EFCF9D-C5AA-47CA-AF80-BB56CB8D9662}" presName="connSite1" presStyleCnt="0"/>
      <dgm:spPr/>
    </dgm:pt>
    <dgm:pt modelId="{132C3536-B9D2-4339-9AA9-40FB975F4712}" type="pres">
      <dgm:prSet presAssocID="{AF61CAC7-625C-4469-AC19-994078562DA5}" presName="Name9" presStyleLbl="sibTrans2D1" presStyleIdx="0" presStyleCnt="3"/>
      <dgm:spPr/>
    </dgm:pt>
    <dgm:pt modelId="{820B19D1-0CAF-4715-872F-6981E32218E7}" type="pres">
      <dgm:prSet presAssocID="{C28DDED0-2409-4AF5-A159-B0018228F6D0}" presName="composite2" presStyleCnt="0"/>
      <dgm:spPr/>
    </dgm:pt>
    <dgm:pt modelId="{A9434DBB-17EC-4903-AA62-9EE3CDF249D2}" type="pres">
      <dgm:prSet presAssocID="{C28DDED0-2409-4AF5-A159-B0018228F6D0}" presName="dummyNode2" presStyleLbl="node1" presStyleIdx="0" presStyleCnt="4"/>
      <dgm:spPr/>
    </dgm:pt>
    <dgm:pt modelId="{11E591AF-D8C2-4F44-B97D-DAA8F4682F8A}" type="pres">
      <dgm:prSet presAssocID="{C28DDED0-2409-4AF5-A159-B0018228F6D0}" presName="childNode2" presStyleLbl="bgAcc1" presStyleIdx="1" presStyleCnt="4">
        <dgm:presLayoutVars>
          <dgm:bulletEnabled val="1"/>
        </dgm:presLayoutVars>
      </dgm:prSet>
      <dgm:spPr/>
    </dgm:pt>
    <dgm:pt modelId="{11F151C2-1AA9-4450-8211-5C01FE0E67CE}" type="pres">
      <dgm:prSet presAssocID="{C28DDED0-2409-4AF5-A159-B0018228F6D0}" presName="childNode2tx" presStyleLbl="bgAcc1" presStyleIdx="1" presStyleCnt="4">
        <dgm:presLayoutVars>
          <dgm:bulletEnabled val="1"/>
        </dgm:presLayoutVars>
      </dgm:prSet>
      <dgm:spPr/>
    </dgm:pt>
    <dgm:pt modelId="{46CF28DC-0A95-44D3-8333-465D677AE730}" type="pres">
      <dgm:prSet presAssocID="{C28DDED0-2409-4AF5-A159-B0018228F6D0}" presName="parentNode2" presStyleLbl="node1" presStyleIdx="1" presStyleCnt="4">
        <dgm:presLayoutVars>
          <dgm:chMax val="0"/>
          <dgm:bulletEnabled val="1"/>
        </dgm:presLayoutVars>
      </dgm:prSet>
      <dgm:spPr/>
    </dgm:pt>
    <dgm:pt modelId="{32C4656D-5261-4A0A-B55C-6362347C9613}" type="pres">
      <dgm:prSet presAssocID="{C28DDED0-2409-4AF5-A159-B0018228F6D0}" presName="connSite2" presStyleCnt="0"/>
      <dgm:spPr/>
    </dgm:pt>
    <dgm:pt modelId="{64A66716-50A1-4B54-A094-23BA3928206B}" type="pres">
      <dgm:prSet presAssocID="{8838594E-2C7A-4896-884B-C719340C49FB}" presName="Name18" presStyleLbl="sibTrans2D1" presStyleIdx="1" presStyleCnt="3"/>
      <dgm:spPr/>
    </dgm:pt>
    <dgm:pt modelId="{723A9290-BB96-4936-8D4A-992CE0A3F42D}" type="pres">
      <dgm:prSet presAssocID="{CCCA19E3-F8A5-43CC-B2CD-DCFC23E5C703}" presName="composite1" presStyleCnt="0"/>
      <dgm:spPr/>
    </dgm:pt>
    <dgm:pt modelId="{BB327E68-700E-4CD6-A314-5F2526CCD789}" type="pres">
      <dgm:prSet presAssocID="{CCCA19E3-F8A5-43CC-B2CD-DCFC23E5C703}" presName="dummyNode1" presStyleLbl="node1" presStyleIdx="1" presStyleCnt="4"/>
      <dgm:spPr/>
    </dgm:pt>
    <dgm:pt modelId="{F28BBFD7-FE37-45CB-B22D-DDCC985D1A7A}" type="pres">
      <dgm:prSet presAssocID="{CCCA19E3-F8A5-43CC-B2CD-DCFC23E5C703}" presName="childNode1" presStyleLbl="bgAcc1" presStyleIdx="2" presStyleCnt="4">
        <dgm:presLayoutVars>
          <dgm:bulletEnabled val="1"/>
        </dgm:presLayoutVars>
      </dgm:prSet>
      <dgm:spPr/>
    </dgm:pt>
    <dgm:pt modelId="{8A8F72D5-80EA-4080-8465-26D4B5EBAC1F}" type="pres">
      <dgm:prSet presAssocID="{CCCA19E3-F8A5-43CC-B2CD-DCFC23E5C703}" presName="childNode1tx" presStyleLbl="bgAcc1" presStyleIdx="2" presStyleCnt="4">
        <dgm:presLayoutVars>
          <dgm:bulletEnabled val="1"/>
        </dgm:presLayoutVars>
      </dgm:prSet>
      <dgm:spPr/>
    </dgm:pt>
    <dgm:pt modelId="{B208EBA3-2FE3-41DF-BD77-A9D955869042}" type="pres">
      <dgm:prSet presAssocID="{CCCA19E3-F8A5-43CC-B2CD-DCFC23E5C703}" presName="parentNode1" presStyleLbl="node1" presStyleIdx="2" presStyleCnt="4">
        <dgm:presLayoutVars>
          <dgm:chMax val="1"/>
          <dgm:bulletEnabled val="1"/>
        </dgm:presLayoutVars>
      </dgm:prSet>
      <dgm:spPr/>
    </dgm:pt>
    <dgm:pt modelId="{F37F4A71-212D-484D-A36B-9B9CFB1AD810}" type="pres">
      <dgm:prSet presAssocID="{CCCA19E3-F8A5-43CC-B2CD-DCFC23E5C703}" presName="connSite1" presStyleCnt="0"/>
      <dgm:spPr/>
    </dgm:pt>
    <dgm:pt modelId="{A32C10B3-9C41-4949-83C2-DD02A94CDCB8}" type="pres">
      <dgm:prSet presAssocID="{12B45BC0-7793-4F6B-AAAB-265F9512AA44}" presName="Name9" presStyleLbl="sibTrans2D1" presStyleIdx="2" presStyleCnt="3"/>
      <dgm:spPr/>
    </dgm:pt>
    <dgm:pt modelId="{5B606E91-E13F-43F0-A3CD-B6BB3C78FE34}" type="pres">
      <dgm:prSet presAssocID="{1D8F650C-E5A3-44C7-BBD1-380A8D544A4A}" presName="composite2" presStyleCnt="0"/>
      <dgm:spPr/>
    </dgm:pt>
    <dgm:pt modelId="{40FDC3E6-A0A3-49E0-B83D-E9A2B90FAF8C}" type="pres">
      <dgm:prSet presAssocID="{1D8F650C-E5A3-44C7-BBD1-380A8D544A4A}" presName="dummyNode2" presStyleLbl="node1" presStyleIdx="2" presStyleCnt="4"/>
      <dgm:spPr/>
    </dgm:pt>
    <dgm:pt modelId="{66E09680-2F85-443D-BDD2-8B7317E5E5DF}" type="pres">
      <dgm:prSet presAssocID="{1D8F650C-E5A3-44C7-BBD1-380A8D544A4A}" presName="childNode2" presStyleLbl="bgAcc1" presStyleIdx="3" presStyleCnt="4">
        <dgm:presLayoutVars>
          <dgm:bulletEnabled val="1"/>
        </dgm:presLayoutVars>
      </dgm:prSet>
      <dgm:spPr/>
    </dgm:pt>
    <dgm:pt modelId="{D2F20534-A00D-4647-A6AD-81CF256FDA1A}" type="pres">
      <dgm:prSet presAssocID="{1D8F650C-E5A3-44C7-BBD1-380A8D544A4A}" presName="childNode2tx" presStyleLbl="bgAcc1" presStyleIdx="3" presStyleCnt="4">
        <dgm:presLayoutVars>
          <dgm:bulletEnabled val="1"/>
        </dgm:presLayoutVars>
      </dgm:prSet>
      <dgm:spPr/>
    </dgm:pt>
    <dgm:pt modelId="{88C33C51-42B5-450E-A500-79E1AD3D60C9}" type="pres">
      <dgm:prSet presAssocID="{1D8F650C-E5A3-44C7-BBD1-380A8D544A4A}" presName="parentNode2" presStyleLbl="node1" presStyleIdx="3" presStyleCnt="4">
        <dgm:presLayoutVars>
          <dgm:chMax val="0"/>
          <dgm:bulletEnabled val="1"/>
        </dgm:presLayoutVars>
      </dgm:prSet>
      <dgm:spPr/>
    </dgm:pt>
    <dgm:pt modelId="{739A7B04-A3C7-492B-816A-88B46D564B2A}" type="pres">
      <dgm:prSet presAssocID="{1D8F650C-E5A3-44C7-BBD1-380A8D544A4A}" presName="connSite2" presStyleCnt="0"/>
      <dgm:spPr/>
    </dgm:pt>
  </dgm:ptLst>
  <dgm:cxnLst>
    <dgm:cxn modelId="{51C85300-73C2-4288-87B1-BF6C7EB28443}" type="presOf" srcId="{DC305E5D-0523-4185-B83B-FAC9237D6F8E}" destId="{F28BBFD7-FE37-45CB-B22D-DDCC985D1A7A}" srcOrd="0" destOrd="0" presId="urn:microsoft.com/office/officeart/2005/8/layout/hProcess4"/>
    <dgm:cxn modelId="{3E832001-41EC-4F55-B42F-FA392FD43BB5}" type="presOf" srcId="{6318D349-17C4-4A1E-96A7-76160996641C}" destId="{9171EF73-C1B8-4FC8-A620-EEEEF7EB2B4A}" srcOrd="0" destOrd="1" presId="urn:microsoft.com/office/officeart/2005/8/layout/hProcess4"/>
    <dgm:cxn modelId="{6445FD07-A885-42F5-BEFE-418CD37DED94}" type="presOf" srcId="{6318D349-17C4-4A1E-96A7-76160996641C}" destId="{1602129C-5FEB-492F-8860-8149104E67A0}" srcOrd="1" destOrd="1" presId="urn:microsoft.com/office/officeart/2005/8/layout/hProcess4"/>
    <dgm:cxn modelId="{747C180B-8424-427F-9B9F-E581B2F4B150}" srcId="{30EFCF9D-C5AA-47CA-AF80-BB56CB8D9662}" destId="{3AD65404-8BAF-40C5-BC81-FABB64FD5973}" srcOrd="2" destOrd="0" parTransId="{E744EF96-AD10-4ED0-A796-04FF5C63926B}" sibTransId="{9E48736D-BB88-4540-A4D5-FF3D75A18D60}"/>
    <dgm:cxn modelId="{A0BA440C-E8FE-4797-B4AD-9D0B78FBB5C1}" srcId="{5D22DE47-F8C4-47D5-BDBD-0121F64763AE}" destId="{CCCA19E3-F8A5-43CC-B2CD-DCFC23E5C703}" srcOrd="2" destOrd="0" parTransId="{07F26F43-FBC7-4D2D-AED7-49DFBB9A9E9C}" sibTransId="{12B45BC0-7793-4F6B-AAAB-265F9512AA44}"/>
    <dgm:cxn modelId="{5529F410-E4B2-40B4-A3DB-9C8862C133E0}" srcId="{CCCA19E3-F8A5-43CC-B2CD-DCFC23E5C703}" destId="{DC305E5D-0523-4185-B83B-FAC9237D6F8E}" srcOrd="0" destOrd="0" parTransId="{93C569AF-96FD-4BBB-8B94-9A16B1EB4DBD}" sibTransId="{61AC2590-E5F3-48A6-BC4F-418A0205C218}"/>
    <dgm:cxn modelId="{D6E12F14-5D78-4E16-91EC-291A7E021AC7}" srcId="{5D22DE47-F8C4-47D5-BDBD-0121F64763AE}" destId="{C28DDED0-2409-4AF5-A159-B0018228F6D0}" srcOrd="1" destOrd="0" parTransId="{97A10DE8-5E79-4539-9AD5-CB1D5F0DF43F}" sibTransId="{8838594E-2C7A-4896-884B-C719340C49FB}"/>
    <dgm:cxn modelId="{D018DA17-24F5-4B13-97AA-8EB375E588F3}" srcId="{1D8F650C-E5A3-44C7-BBD1-380A8D544A4A}" destId="{C27AB737-ACD2-472C-BA20-707B7BB1D1E0}" srcOrd="0" destOrd="0" parTransId="{B3739D7E-D696-4BA6-90DF-97F2B0C31AF5}" sibTransId="{E85FBA05-D7DA-498E-8B50-724D6FD726FB}"/>
    <dgm:cxn modelId="{CD9D1B2E-3607-406D-ABF4-7C4DED653783}" type="presOf" srcId="{ED5F4D89-6BA2-4760-B0F5-78B084FC43E4}" destId="{11F151C2-1AA9-4450-8211-5C01FE0E67CE}" srcOrd="1" destOrd="0" presId="urn:microsoft.com/office/officeart/2005/8/layout/hProcess4"/>
    <dgm:cxn modelId="{C66ADF2F-74F3-4362-9C4B-20E4CB5FFA31}" type="presOf" srcId="{C27AB737-ACD2-472C-BA20-707B7BB1D1E0}" destId="{66E09680-2F85-443D-BDD2-8B7317E5E5DF}" srcOrd="0" destOrd="0" presId="urn:microsoft.com/office/officeart/2005/8/layout/hProcess4"/>
    <dgm:cxn modelId="{EA78FB5F-95F1-4ED9-BE4A-D82D9760913A}" type="presOf" srcId="{12B45BC0-7793-4F6B-AAAB-265F9512AA44}" destId="{A32C10B3-9C41-4949-83C2-DD02A94CDCB8}" srcOrd="0" destOrd="0" presId="urn:microsoft.com/office/officeart/2005/8/layout/hProcess4"/>
    <dgm:cxn modelId="{BC020567-8F83-472D-B005-DD14C4EEE0C3}" type="presOf" srcId="{8838594E-2C7A-4896-884B-C719340C49FB}" destId="{64A66716-50A1-4B54-A094-23BA3928206B}" srcOrd="0" destOrd="0" presId="urn:microsoft.com/office/officeart/2005/8/layout/hProcess4"/>
    <dgm:cxn modelId="{DB247E69-2624-4FAD-98CD-C0C2888C5002}" type="presOf" srcId="{0E7D8A4E-C679-4E5C-9B96-90188BF9098B}" destId="{9171EF73-C1B8-4FC8-A620-EEEEF7EB2B4A}" srcOrd="0" destOrd="0" presId="urn:microsoft.com/office/officeart/2005/8/layout/hProcess4"/>
    <dgm:cxn modelId="{D1D5D06B-04F2-446C-9BB4-D8D58BA799E5}" type="presOf" srcId="{DC305E5D-0523-4185-B83B-FAC9237D6F8E}" destId="{8A8F72D5-80EA-4080-8465-26D4B5EBAC1F}" srcOrd="1" destOrd="0" presId="urn:microsoft.com/office/officeart/2005/8/layout/hProcess4"/>
    <dgm:cxn modelId="{88C05F6C-82F8-40F8-9A0B-4D891576B7E6}" type="presOf" srcId="{ED5F4D89-6BA2-4760-B0F5-78B084FC43E4}" destId="{11E591AF-D8C2-4F44-B97D-DAA8F4682F8A}" srcOrd="0" destOrd="0" presId="urn:microsoft.com/office/officeart/2005/8/layout/hProcess4"/>
    <dgm:cxn modelId="{B23C9558-C055-47F6-A6DC-89C8D5D23D98}" type="presOf" srcId="{C27AB737-ACD2-472C-BA20-707B7BB1D1E0}" destId="{D2F20534-A00D-4647-A6AD-81CF256FDA1A}" srcOrd="1" destOrd="0" presId="urn:microsoft.com/office/officeart/2005/8/layout/hProcess4"/>
    <dgm:cxn modelId="{CC6F9B8E-6074-4B17-8D70-5E8477A92FA7}" type="presOf" srcId="{AF61CAC7-625C-4469-AC19-994078562DA5}" destId="{132C3536-B9D2-4339-9AA9-40FB975F4712}" srcOrd="0" destOrd="0" presId="urn:microsoft.com/office/officeart/2005/8/layout/hProcess4"/>
    <dgm:cxn modelId="{61246F97-3BB7-4C23-A578-1EDB59C644E4}" type="presOf" srcId="{5D22DE47-F8C4-47D5-BDBD-0121F64763AE}" destId="{A8343710-BD30-47A1-A09E-04437C8F61C9}" srcOrd="0" destOrd="0" presId="urn:microsoft.com/office/officeart/2005/8/layout/hProcess4"/>
    <dgm:cxn modelId="{C7B5A699-038F-4855-ACF2-7D4798C65DA0}" srcId="{5D22DE47-F8C4-47D5-BDBD-0121F64763AE}" destId="{1D8F650C-E5A3-44C7-BBD1-380A8D544A4A}" srcOrd="3" destOrd="0" parTransId="{CFD549F4-A2A3-43F2-9580-DC4A80802D38}" sibTransId="{3D6AAE64-85E8-4DEA-A89F-5F1858983C56}"/>
    <dgm:cxn modelId="{9363999B-4E57-476A-A2DA-B4E44E786ECF}" srcId="{30EFCF9D-C5AA-47CA-AF80-BB56CB8D9662}" destId="{6318D349-17C4-4A1E-96A7-76160996641C}" srcOrd="1" destOrd="0" parTransId="{4B1BD827-B8D8-45CA-BE46-67D0B68F4A82}" sibTransId="{00FF42E8-CD65-4017-8E11-AECE439F575A}"/>
    <dgm:cxn modelId="{72255CA0-9A9E-4BA3-B049-FC0C14404710}" type="presOf" srcId="{CCCA19E3-F8A5-43CC-B2CD-DCFC23E5C703}" destId="{B208EBA3-2FE3-41DF-BD77-A9D955869042}" srcOrd="0" destOrd="0" presId="urn:microsoft.com/office/officeart/2005/8/layout/hProcess4"/>
    <dgm:cxn modelId="{DAF186A4-8B59-4486-A0D4-23D18FDA29CA}" type="presOf" srcId="{3AD65404-8BAF-40C5-BC81-FABB64FD5973}" destId="{1602129C-5FEB-492F-8860-8149104E67A0}" srcOrd="1" destOrd="2" presId="urn:microsoft.com/office/officeart/2005/8/layout/hProcess4"/>
    <dgm:cxn modelId="{93095DA6-354F-42AC-8C3C-F6163403B230}" type="presOf" srcId="{3AD65404-8BAF-40C5-BC81-FABB64FD5973}" destId="{9171EF73-C1B8-4FC8-A620-EEEEF7EB2B4A}" srcOrd="0" destOrd="2" presId="urn:microsoft.com/office/officeart/2005/8/layout/hProcess4"/>
    <dgm:cxn modelId="{DD0B14B8-51B0-47DB-8956-5D5FFADF7CD1}" type="presOf" srcId="{0E7D8A4E-C679-4E5C-9B96-90188BF9098B}" destId="{1602129C-5FEB-492F-8860-8149104E67A0}" srcOrd="1" destOrd="0" presId="urn:microsoft.com/office/officeart/2005/8/layout/hProcess4"/>
    <dgm:cxn modelId="{C220EDBA-7E1A-4112-BB67-1EAF83C08868}" srcId="{30EFCF9D-C5AA-47CA-AF80-BB56CB8D9662}" destId="{0E7D8A4E-C679-4E5C-9B96-90188BF9098B}" srcOrd="0" destOrd="0" parTransId="{67E6116D-68CA-4C9B-9774-8468870A5E66}" sibTransId="{30EC7686-651B-45EF-BE1E-1CB72AA0BE32}"/>
    <dgm:cxn modelId="{E087C4CC-8C47-45DE-802D-42DA4FC2FE55}" srcId="{5D22DE47-F8C4-47D5-BDBD-0121F64763AE}" destId="{30EFCF9D-C5AA-47CA-AF80-BB56CB8D9662}" srcOrd="0" destOrd="0" parTransId="{49C8F770-57A1-4F27-9419-AA66F767EABF}" sibTransId="{AF61CAC7-625C-4469-AC19-994078562DA5}"/>
    <dgm:cxn modelId="{073C3BD1-6796-4E81-89FD-85D91E60BA8F}" srcId="{C28DDED0-2409-4AF5-A159-B0018228F6D0}" destId="{ED5F4D89-6BA2-4760-B0F5-78B084FC43E4}" srcOrd="0" destOrd="0" parTransId="{42988D90-AA91-45A5-904B-E7D4C8076FC1}" sibTransId="{C1116D48-0E67-451A-A66F-6D0C29720FD6}"/>
    <dgm:cxn modelId="{E9FEA9D2-5B48-464F-8BA3-BD8707AE6184}" type="presOf" srcId="{1D8F650C-E5A3-44C7-BBD1-380A8D544A4A}" destId="{88C33C51-42B5-450E-A500-79E1AD3D60C9}" srcOrd="0" destOrd="0" presId="urn:microsoft.com/office/officeart/2005/8/layout/hProcess4"/>
    <dgm:cxn modelId="{25A828E2-8794-4DA3-933B-47127CA68D16}" type="presOf" srcId="{C28DDED0-2409-4AF5-A159-B0018228F6D0}" destId="{46CF28DC-0A95-44D3-8333-465D677AE730}" srcOrd="0" destOrd="0" presId="urn:microsoft.com/office/officeart/2005/8/layout/hProcess4"/>
    <dgm:cxn modelId="{6B3E65EC-7A58-4405-9FEC-CFDEECDA5C01}" type="presOf" srcId="{30EFCF9D-C5AA-47CA-AF80-BB56CB8D9662}" destId="{9C63D750-32E4-49E9-91F7-DC41169C3642}" srcOrd="0" destOrd="0" presId="urn:microsoft.com/office/officeart/2005/8/layout/hProcess4"/>
    <dgm:cxn modelId="{3101DCCD-3666-409A-808C-9FB86D0DD220}" type="presParOf" srcId="{A8343710-BD30-47A1-A09E-04437C8F61C9}" destId="{234D514C-B444-402D-B026-B2DCDF02416C}" srcOrd="0" destOrd="0" presId="urn:microsoft.com/office/officeart/2005/8/layout/hProcess4"/>
    <dgm:cxn modelId="{FE9CA810-7711-47D1-8C7B-726A61893F5C}" type="presParOf" srcId="{A8343710-BD30-47A1-A09E-04437C8F61C9}" destId="{63BE3D23-78C0-445E-80EC-89DCE0077139}" srcOrd="1" destOrd="0" presId="urn:microsoft.com/office/officeart/2005/8/layout/hProcess4"/>
    <dgm:cxn modelId="{88F25B97-4777-4024-95B6-EADB178D5A6A}" type="presParOf" srcId="{A8343710-BD30-47A1-A09E-04437C8F61C9}" destId="{E8C768A4-8C94-476C-A364-3D486F4F140A}" srcOrd="2" destOrd="0" presId="urn:microsoft.com/office/officeart/2005/8/layout/hProcess4"/>
    <dgm:cxn modelId="{95BA4E44-B1FA-44E2-A4D4-CE93089F949D}" type="presParOf" srcId="{E8C768A4-8C94-476C-A364-3D486F4F140A}" destId="{813EC0EC-D095-4E4F-B989-137542B6BD62}" srcOrd="0" destOrd="0" presId="urn:microsoft.com/office/officeart/2005/8/layout/hProcess4"/>
    <dgm:cxn modelId="{4D103CBF-773A-4152-87F1-15EBC5344F49}" type="presParOf" srcId="{813EC0EC-D095-4E4F-B989-137542B6BD62}" destId="{CC0E88A9-19B8-4A56-955F-ECBD24E54638}" srcOrd="0" destOrd="0" presId="urn:microsoft.com/office/officeart/2005/8/layout/hProcess4"/>
    <dgm:cxn modelId="{55E2475E-3E41-4CFC-938E-5D281223E55D}" type="presParOf" srcId="{813EC0EC-D095-4E4F-B989-137542B6BD62}" destId="{9171EF73-C1B8-4FC8-A620-EEEEF7EB2B4A}" srcOrd="1" destOrd="0" presId="urn:microsoft.com/office/officeart/2005/8/layout/hProcess4"/>
    <dgm:cxn modelId="{23F51BBF-0161-4C1B-8EDF-00DFDFCB2143}" type="presParOf" srcId="{813EC0EC-D095-4E4F-B989-137542B6BD62}" destId="{1602129C-5FEB-492F-8860-8149104E67A0}" srcOrd="2" destOrd="0" presId="urn:microsoft.com/office/officeart/2005/8/layout/hProcess4"/>
    <dgm:cxn modelId="{9E4AB76D-0A56-4A74-B1C5-1F11901635BA}" type="presParOf" srcId="{813EC0EC-D095-4E4F-B989-137542B6BD62}" destId="{9C63D750-32E4-49E9-91F7-DC41169C3642}" srcOrd="3" destOrd="0" presId="urn:microsoft.com/office/officeart/2005/8/layout/hProcess4"/>
    <dgm:cxn modelId="{EBE293AB-766D-4673-855C-2E6FE11005E2}" type="presParOf" srcId="{813EC0EC-D095-4E4F-B989-137542B6BD62}" destId="{78DF2244-12E1-46FC-82C4-BEB901A65817}" srcOrd="4" destOrd="0" presId="urn:microsoft.com/office/officeart/2005/8/layout/hProcess4"/>
    <dgm:cxn modelId="{27D47E23-8375-4DDD-BCFC-50BE400272AA}" type="presParOf" srcId="{E8C768A4-8C94-476C-A364-3D486F4F140A}" destId="{132C3536-B9D2-4339-9AA9-40FB975F4712}" srcOrd="1" destOrd="0" presId="urn:microsoft.com/office/officeart/2005/8/layout/hProcess4"/>
    <dgm:cxn modelId="{C36EB86F-1B0C-4741-B8E2-1DD20AE3FF15}" type="presParOf" srcId="{E8C768A4-8C94-476C-A364-3D486F4F140A}" destId="{820B19D1-0CAF-4715-872F-6981E32218E7}" srcOrd="2" destOrd="0" presId="urn:microsoft.com/office/officeart/2005/8/layout/hProcess4"/>
    <dgm:cxn modelId="{A6F99388-9B68-477E-9DC0-0FFD9FF7E637}" type="presParOf" srcId="{820B19D1-0CAF-4715-872F-6981E32218E7}" destId="{A9434DBB-17EC-4903-AA62-9EE3CDF249D2}" srcOrd="0" destOrd="0" presId="urn:microsoft.com/office/officeart/2005/8/layout/hProcess4"/>
    <dgm:cxn modelId="{83B7C85D-4D31-416B-93C0-D81C368DA66A}" type="presParOf" srcId="{820B19D1-0CAF-4715-872F-6981E32218E7}" destId="{11E591AF-D8C2-4F44-B97D-DAA8F4682F8A}" srcOrd="1" destOrd="0" presId="urn:microsoft.com/office/officeart/2005/8/layout/hProcess4"/>
    <dgm:cxn modelId="{DF98B001-BC24-4F11-BA26-B03B6A41B6D9}" type="presParOf" srcId="{820B19D1-0CAF-4715-872F-6981E32218E7}" destId="{11F151C2-1AA9-4450-8211-5C01FE0E67CE}" srcOrd="2" destOrd="0" presId="urn:microsoft.com/office/officeart/2005/8/layout/hProcess4"/>
    <dgm:cxn modelId="{94BEBB8A-9950-4F39-8662-A19BB432D10B}" type="presParOf" srcId="{820B19D1-0CAF-4715-872F-6981E32218E7}" destId="{46CF28DC-0A95-44D3-8333-465D677AE730}" srcOrd="3" destOrd="0" presId="urn:microsoft.com/office/officeart/2005/8/layout/hProcess4"/>
    <dgm:cxn modelId="{2C30E586-3AEE-4A64-A057-7E496AAAE18A}" type="presParOf" srcId="{820B19D1-0CAF-4715-872F-6981E32218E7}" destId="{32C4656D-5261-4A0A-B55C-6362347C9613}" srcOrd="4" destOrd="0" presId="urn:microsoft.com/office/officeart/2005/8/layout/hProcess4"/>
    <dgm:cxn modelId="{01B21ED2-2955-430B-BEEA-8F6136DB170C}" type="presParOf" srcId="{E8C768A4-8C94-476C-A364-3D486F4F140A}" destId="{64A66716-50A1-4B54-A094-23BA3928206B}" srcOrd="3" destOrd="0" presId="urn:microsoft.com/office/officeart/2005/8/layout/hProcess4"/>
    <dgm:cxn modelId="{DC274BA5-F976-4791-80DA-9A32ED029190}" type="presParOf" srcId="{E8C768A4-8C94-476C-A364-3D486F4F140A}" destId="{723A9290-BB96-4936-8D4A-992CE0A3F42D}" srcOrd="4" destOrd="0" presId="urn:microsoft.com/office/officeart/2005/8/layout/hProcess4"/>
    <dgm:cxn modelId="{C7DA5155-F204-4578-A199-219A42F9D8FB}" type="presParOf" srcId="{723A9290-BB96-4936-8D4A-992CE0A3F42D}" destId="{BB327E68-700E-4CD6-A314-5F2526CCD789}" srcOrd="0" destOrd="0" presId="urn:microsoft.com/office/officeart/2005/8/layout/hProcess4"/>
    <dgm:cxn modelId="{06610518-97B6-4BF5-96FB-C2A24FC3CE3C}" type="presParOf" srcId="{723A9290-BB96-4936-8D4A-992CE0A3F42D}" destId="{F28BBFD7-FE37-45CB-B22D-DDCC985D1A7A}" srcOrd="1" destOrd="0" presId="urn:microsoft.com/office/officeart/2005/8/layout/hProcess4"/>
    <dgm:cxn modelId="{A9AFDCEC-2659-4AA9-BD29-D4523052C943}" type="presParOf" srcId="{723A9290-BB96-4936-8D4A-992CE0A3F42D}" destId="{8A8F72D5-80EA-4080-8465-26D4B5EBAC1F}" srcOrd="2" destOrd="0" presId="urn:microsoft.com/office/officeart/2005/8/layout/hProcess4"/>
    <dgm:cxn modelId="{BA1E8A59-2CD4-4E6F-82ED-CCDD28CD9EC0}" type="presParOf" srcId="{723A9290-BB96-4936-8D4A-992CE0A3F42D}" destId="{B208EBA3-2FE3-41DF-BD77-A9D955869042}" srcOrd="3" destOrd="0" presId="urn:microsoft.com/office/officeart/2005/8/layout/hProcess4"/>
    <dgm:cxn modelId="{8F792394-D8B3-415A-AD7C-D3913FC56577}" type="presParOf" srcId="{723A9290-BB96-4936-8D4A-992CE0A3F42D}" destId="{F37F4A71-212D-484D-A36B-9B9CFB1AD810}" srcOrd="4" destOrd="0" presId="urn:microsoft.com/office/officeart/2005/8/layout/hProcess4"/>
    <dgm:cxn modelId="{0FC902AC-E16B-483C-BDE9-64F6506459B9}" type="presParOf" srcId="{E8C768A4-8C94-476C-A364-3D486F4F140A}" destId="{A32C10B3-9C41-4949-83C2-DD02A94CDCB8}" srcOrd="5" destOrd="0" presId="urn:microsoft.com/office/officeart/2005/8/layout/hProcess4"/>
    <dgm:cxn modelId="{903EB295-EC69-4EB0-AC27-3C4E2A361443}" type="presParOf" srcId="{E8C768A4-8C94-476C-A364-3D486F4F140A}" destId="{5B606E91-E13F-43F0-A3CD-B6BB3C78FE34}" srcOrd="6" destOrd="0" presId="urn:microsoft.com/office/officeart/2005/8/layout/hProcess4"/>
    <dgm:cxn modelId="{7B0D2A15-A6E9-4EF5-A69C-0D71D9816AE4}" type="presParOf" srcId="{5B606E91-E13F-43F0-A3CD-B6BB3C78FE34}" destId="{40FDC3E6-A0A3-49E0-B83D-E9A2B90FAF8C}" srcOrd="0" destOrd="0" presId="urn:microsoft.com/office/officeart/2005/8/layout/hProcess4"/>
    <dgm:cxn modelId="{B360F025-AA83-4FA9-B036-3BEDC79DFAA1}" type="presParOf" srcId="{5B606E91-E13F-43F0-A3CD-B6BB3C78FE34}" destId="{66E09680-2F85-443D-BDD2-8B7317E5E5DF}" srcOrd="1" destOrd="0" presId="urn:microsoft.com/office/officeart/2005/8/layout/hProcess4"/>
    <dgm:cxn modelId="{F7AE7E5D-98A1-45B5-8274-331289305D10}" type="presParOf" srcId="{5B606E91-E13F-43F0-A3CD-B6BB3C78FE34}" destId="{D2F20534-A00D-4647-A6AD-81CF256FDA1A}" srcOrd="2" destOrd="0" presId="urn:microsoft.com/office/officeart/2005/8/layout/hProcess4"/>
    <dgm:cxn modelId="{B7449E0A-75BA-4167-993C-040559B0F91D}" type="presParOf" srcId="{5B606E91-E13F-43F0-A3CD-B6BB3C78FE34}" destId="{88C33C51-42B5-450E-A500-79E1AD3D60C9}" srcOrd="3" destOrd="0" presId="urn:microsoft.com/office/officeart/2005/8/layout/hProcess4"/>
    <dgm:cxn modelId="{1F5D1B71-E03D-4D41-A7E3-429C98C8493D}" type="presParOf" srcId="{5B606E91-E13F-43F0-A3CD-B6BB3C78FE34}" destId="{739A7B04-A3C7-492B-816A-88B46D564B2A}" srcOrd="4" destOrd="0" presId="urn:microsoft.com/office/officeart/2005/8/layout/h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71EF73-C1B8-4FC8-A620-EEEEF7EB2B4A}">
      <dsp:nvSpPr>
        <dsp:cNvPr id="0" name=""/>
        <dsp:cNvSpPr/>
      </dsp:nvSpPr>
      <dsp:spPr>
        <a:xfrm>
          <a:off x="6280" y="1377234"/>
          <a:ext cx="2252696" cy="2848486"/>
        </a:xfrm>
        <a:prstGeom prst="roundRect">
          <a:avLst>
            <a:gd name="adj" fmla="val 10000"/>
          </a:avLst>
        </a:prstGeom>
        <a:solidFill>
          <a:schemeClr val="accent5">
            <a:alpha val="90000"/>
            <a:tint val="4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57150" lvl="1" indent="-57150" algn="l" defTabSz="488950">
            <a:lnSpc>
              <a:spcPct val="90000"/>
            </a:lnSpc>
            <a:spcBef>
              <a:spcPct val="0"/>
            </a:spcBef>
            <a:spcAft>
              <a:spcPct val="15000"/>
            </a:spcAft>
            <a:buChar char="•"/>
          </a:pPr>
          <a:r>
            <a:rPr lang="en-US" sz="1100" kern="1200" dirty="0">
              <a:effectLst/>
              <a:latin typeface="Changa" panose="00000500000000000000" pitchFamily="2" charset="-78"/>
              <a:ea typeface="Times New Roman" panose="02020603050405020304" pitchFamily="18" charset="0"/>
              <a:cs typeface="Changa" panose="00000500000000000000" pitchFamily="2" charset="-78"/>
            </a:rPr>
            <a:t>Task Order received.</a:t>
          </a:r>
          <a:endParaRPr lang="en-US" sz="1100" kern="1200" dirty="0"/>
        </a:p>
        <a:p>
          <a:pPr marL="57150" lvl="1" indent="-57150" algn="l" defTabSz="488950">
            <a:lnSpc>
              <a:spcPct val="90000"/>
            </a:lnSpc>
            <a:spcBef>
              <a:spcPct val="0"/>
            </a:spcBef>
            <a:spcAft>
              <a:spcPct val="15000"/>
            </a:spcAft>
            <a:buChar char="•"/>
          </a:pPr>
          <a:r>
            <a:rPr lang="en-US" sz="1100" kern="1200" dirty="0">
              <a:effectLst/>
              <a:latin typeface="Changa" panose="00000500000000000000" pitchFamily="2" charset="-78"/>
              <a:ea typeface="Times New Roman" panose="02020603050405020304" pitchFamily="18" charset="0"/>
              <a:cs typeface="Changa" panose="00000500000000000000" pitchFamily="2" charset="-78"/>
            </a:rPr>
            <a:t>Programme agreed.</a:t>
          </a:r>
        </a:p>
        <a:p>
          <a:pPr marL="57150" lvl="1" indent="-57150" algn="l" defTabSz="488950">
            <a:lnSpc>
              <a:spcPct val="90000"/>
            </a:lnSpc>
            <a:spcBef>
              <a:spcPct val="0"/>
            </a:spcBef>
            <a:spcAft>
              <a:spcPct val="15000"/>
            </a:spcAft>
            <a:buChar char="•"/>
          </a:pPr>
          <a:r>
            <a:rPr lang="en-US" sz="1100" kern="1200" dirty="0">
              <a:effectLst/>
              <a:latin typeface="Changa" panose="00000500000000000000" pitchFamily="2" charset="-78"/>
              <a:ea typeface="Times New Roman" panose="02020603050405020304" pitchFamily="18" charset="0"/>
              <a:cs typeface="Changa" panose="00000500000000000000" pitchFamily="2" charset="-78"/>
            </a:rPr>
            <a:t>Team mobilized.</a:t>
          </a:r>
        </a:p>
      </dsp:txBody>
      <dsp:txXfrm>
        <a:off x="71832" y="1442786"/>
        <a:ext cx="2121592" cy="2106992"/>
      </dsp:txXfrm>
    </dsp:sp>
    <dsp:sp modelId="{132C3536-B9D2-4339-9AA9-40FB975F4712}">
      <dsp:nvSpPr>
        <dsp:cNvPr id="0" name=""/>
        <dsp:cNvSpPr/>
      </dsp:nvSpPr>
      <dsp:spPr>
        <a:xfrm>
          <a:off x="1270914" y="2310243"/>
          <a:ext cx="2491324" cy="2491324"/>
        </a:xfrm>
        <a:prstGeom prst="leftCircularArrow">
          <a:avLst>
            <a:gd name="adj1" fmla="val 3182"/>
            <a:gd name="adj2" fmla="val 391887"/>
            <a:gd name="adj3" fmla="val 2167397"/>
            <a:gd name="adj4" fmla="val 9024489"/>
            <a:gd name="adj5" fmla="val 3713"/>
          </a:avLst>
        </a:prstGeom>
        <a:gradFill rotWithShape="0">
          <a:gsLst>
            <a:gs pos="0">
              <a:schemeClr val="accent5">
                <a:tint val="60000"/>
                <a:hueOff val="0"/>
                <a:satOff val="0"/>
                <a:lumOff val="0"/>
                <a:alphaOff val="0"/>
                <a:satMod val="103000"/>
                <a:lumMod val="102000"/>
                <a:tint val="94000"/>
              </a:schemeClr>
            </a:gs>
            <a:gs pos="50000">
              <a:schemeClr val="accent5">
                <a:tint val="60000"/>
                <a:hueOff val="0"/>
                <a:satOff val="0"/>
                <a:lumOff val="0"/>
                <a:alphaOff val="0"/>
                <a:satMod val="110000"/>
                <a:lumMod val="100000"/>
                <a:shade val="100000"/>
              </a:schemeClr>
            </a:gs>
            <a:gs pos="100000">
              <a:schemeClr val="accent5">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9C63D750-32E4-49E9-91F7-DC41169C3642}">
      <dsp:nvSpPr>
        <dsp:cNvPr id="0" name=""/>
        <dsp:cNvSpPr/>
      </dsp:nvSpPr>
      <dsp:spPr>
        <a:xfrm>
          <a:off x="506879" y="3332335"/>
          <a:ext cx="2002396" cy="796287"/>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effectLst/>
              <a:latin typeface="Changa" panose="00000500000000000000" pitchFamily="2" charset="-78"/>
              <a:ea typeface="Times New Roman" panose="02020603050405020304" pitchFamily="18" charset="0"/>
              <a:cs typeface="Changa" panose="00000500000000000000" pitchFamily="2" charset="-78"/>
            </a:rPr>
            <a:t>Phase 1:</a:t>
          </a:r>
          <a:r>
            <a:rPr lang="en-US" sz="1200" kern="1200" dirty="0">
              <a:effectLst/>
              <a:latin typeface="Changa" panose="00000500000000000000" pitchFamily="2" charset="-78"/>
              <a:ea typeface="Times New Roman" panose="02020603050405020304" pitchFamily="18" charset="0"/>
              <a:cs typeface="Changa" panose="00000500000000000000" pitchFamily="2" charset="-78"/>
            </a:rPr>
            <a:t> </a:t>
          </a:r>
          <a:br>
            <a:rPr lang="en-US" sz="1200" kern="1200" dirty="0">
              <a:effectLst/>
              <a:latin typeface="Changa" panose="00000500000000000000" pitchFamily="2" charset="-78"/>
              <a:ea typeface="Times New Roman" panose="02020603050405020304" pitchFamily="18" charset="0"/>
              <a:cs typeface="Changa" panose="00000500000000000000" pitchFamily="2" charset="-78"/>
            </a:rPr>
          </a:br>
          <a:r>
            <a:rPr lang="en-US" sz="1200" b="1" kern="1200" dirty="0">
              <a:latin typeface="Changa" panose="00000500000000000000" pitchFamily="2" charset="-78"/>
              <a:ea typeface="Times New Roman" panose="02020603050405020304" pitchFamily="18" charset="0"/>
              <a:cs typeface="Changa" panose="00000500000000000000" pitchFamily="2" charset="-78"/>
            </a:rPr>
            <a:t>Initiation and Planning</a:t>
          </a:r>
          <a:r>
            <a:rPr lang="en-US" sz="1200" b="1" kern="1200" dirty="0">
              <a:effectLst/>
              <a:latin typeface="Changa" panose="00000500000000000000" pitchFamily="2" charset="-78"/>
              <a:ea typeface="Times New Roman" panose="02020603050405020304" pitchFamily="18" charset="0"/>
              <a:cs typeface="Changa" panose="00000500000000000000" pitchFamily="2" charset="-78"/>
            </a:rPr>
            <a:t>:</a:t>
          </a:r>
          <a:endParaRPr lang="en-US" sz="1200" kern="1200" dirty="0"/>
        </a:p>
      </dsp:txBody>
      <dsp:txXfrm>
        <a:off x="530201" y="3355657"/>
        <a:ext cx="1955752" cy="749643"/>
      </dsp:txXfrm>
    </dsp:sp>
    <dsp:sp modelId="{11E591AF-D8C2-4F44-B97D-DAA8F4682F8A}">
      <dsp:nvSpPr>
        <dsp:cNvPr id="0" name=""/>
        <dsp:cNvSpPr/>
      </dsp:nvSpPr>
      <dsp:spPr>
        <a:xfrm>
          <a:off x="2886810" y="1872475"/>
          <a:ext cx="2252696" cy="1858003"/>
        </a:xfrm>
        <a:prstGeom prst="roundRect">
          <a:avLst>
            <a:gd name="adj" fmla="val 10000"/>
          </a:avLst>
        </a:prstGeom>
        <a:solidFill>
          <a:schemeClr val="accent5">
            <a:alpha val="90000"/>
            <a:tint val="4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dirty="0">
              <a:latin typeface="Changa" panose="00000500000000000000" pitchFamily="2" charset="-78"/>
              <a:ea typeface="Times New Roman" panose="02020603050405020304" pitchFamily="18" charset="0"/>
              <a:cs typeface="Changa" panose="00000500000000000000" pitchFamily="2" charset="-78"/>
            </a:rPr>
            <a:t>Survey control, land and boundary survey, demarcation where instructed.</a:t>
          </a:r>
          <a:endParaRPr lang="en-US" sz="1200" kern="1200" dirty="0"/>
        </a:p>
      </dsp:txBody>
      <dsp:txXfrm>
        <a:off x="2929568" y="2313377"/>
        <a:ext cx="2167180" cy="1374343"/>
      </dsp:txXfrm>
    </dsp:sp>
    <dsp:sp modelId="{64A66716-50A1-4B54-A094-23BA3928206B}">
      <dsp:nvSpPr>
        <dsp:cNvPr id="0" name=""/>
        <dsp:cNvSpPr/>
      </dsp:nvSpPr>
      <dsp:spPr>
        <a:xfrm>
          <a:off x="4132672" y="728536"/>
          <a:ext cx="2779168" cy="2779168"/>
        </a:xfrm>
        <a:prstGeom prst="circularArrow">
          <a:avLst>
            <a:gd name="adj1" fmla="val 2853"/>
            <a:gd name="adj2" fmla="val 348585"/>
            <a:gd name="adj3" fmla="val 19475905"/>
            <a:gd name="adj4" fmla="val 12575511"/>
            <a:gd name="adj5" fmla="val 3328"/>
          </a:avLst>
        </a:prstGeom>
        <a:gradFill rotWithShape="0">
          <a:gsLst>
            <a:gs pos="0">
              <a:schemeClr val="accent5">
                <a:tint val="60000"/>
                <a:hueOff val="0"/>
                <a:satOff val="0"/>
                <a:lumOff val="0"/>
                <a:alphaOff val="0"/>
                <a:satMod val="103000"/>
                <a:lumMod val="102000"/>
                <a:tint val="94000"/>
              </a:schemeClr>
            </a:gs>
            <a:gs pos="50000">
              <a:schemeClr val="accent5">
                <a:tint val="60000"/>
                <a:hueOff val="0"/>
                <a:satOff val="0"/>
                <a:lumOff val="0"/>
                <a:alphaOff val="0"/>
                <a:satMod val="110000"/>
                <a:lumMod val="100000"/>
                <a:shade val="100000"/>
              </a:schemeClr>
            </a:gs>
            <a:gs pos="100000">
              <a:schemeClr val="accent5">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46CF28DC-0A95-44D3-8333-465D677AE730}">
      <dsp:nvSpPr>
        <dsp:cNvPr id="0" name=""/>
        <dsp:cNvSpPr/>
      </dsp:nvSpPr>
      <dsp:spPr>
        <a:xfrm>
          <a:off x="3387410" y="1474332"/>
          <a:ext cx="2002396" cy="796287"/>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effectLst/>
              <a:latin typeface="Changa" panose="00000500000000000000" pitchFamily="2" charset="-78"/>
              <a:ea typeface="Times New Roman" panose="02020603050405020304" pitchFamily="18" charset="0"/>
              <a:cs typeface="Changa" panose="00000500000000000000" pitchFamily="2" charset="-78"/>
            </a:rPr>
            <a:t>Phase 2:</a:t>
          </a:r>
          <a:r>
            <a:rPr lang="en-US" sz="1200" kern="1200" dirty="0">
              <a:effectLst/>
              <a:latin typeface="Changa" panose="00000500000000000000" pitchFamily="2" charset="-78"/>
              <a:ea typeface="Times New Roman" panose="02020603050405020304" pitchFamily="18" charset="0"/>
              <a:cs typeface="Changa" panose="00000500000000000000" pitchFamily="2" charset="-78"/>
            </a:rPr>
            <a:t> </a:t>
          </a:r>
          <a:br>
            <a:rPr lang="en-US" sz="1200" kern="1200" dirty="0">
              <a:effectLst/>
              <a:latin typeface="Changa" panose="00000500000000000000" pitchFamily="2" charset="-78"/>
              <a:ea typeface="Times New Roman" panose="02020603050405020304" pitchFamily="18" charset="0"/>
              <a:cs typeface="Changa" panose="00000500000000000000" pitchFamily="2" charset="-78"/>
            </a:rPr>
          </a:br>
          <a:r>
            <a:rPr lang="en-US" sz="1200" b="1" kern="1200" dirty="0">
              <a:effectLst/>
              <a:latin typeface="Changa" panose="00000500000000000000" pitchFamily="2" charset="-78"/>
              <a:ea typeface="Times New Roman" panose="02020603050405020304" pitchFamily="18" charset="0"/>
              <a:cs typeface="Changa" panose="00000500000000000000" pitchFamily="2" charset="-78"/>
            </a:rPr>
            <a:t>Field Survey:</a:t>
          </a:r>
          <a:endParaRPr lang="en-US" sz="1200" kern="1200" dirty="0"/>
        </a:p>
      </dsp:txBody>
      <dsp:txXfrm>
        <a:off x="3410732" y="1497654"/>
        <a:ext cx="1955752" cy="749643"/>
      </dsp:txXfrm>
    </dsp:sp>
    <dsp:sp modelId="{F28BBFD7-FE37-45CB-B22D-DDCC985D1A7A}">
      <dsp:nvSpPr>
        <dsp:cNvPr id="0" name=""/>
        <dsp:cNvSpPr/>
      </dsp:nvSpPr>
      <dsp:spPr>
        <a:xfrm>
          <a:off x="5767341" y="1872475"/>
          <a:ext cx="2252696" cy="1858003"/>
        </a:xfrm>
        <a:prstGeom prst="roundRect">
          <a:avLst>
            <a:gd name="adj" fmla="val 10000"/>
          </a:avLst>
        </a:prstGeom>
        <a:solidFill>
          <a:schemeClr val="accent5">
            <a:alpha val="90000"/>
            <a:tint val="4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dirty="0">
              <a:latin typeface="Changa" panose="00000500000000000000" pitchFamily="2" charset="-78"/>
              <a:ea typeface="Times New Roman" panose="02020603050405020304" pitchFamily="18" charset="0"/>
              <a:cs typeface="Changa" panose="00000500000000000000" pitchFamily="2" charset="-78"/>
            </a:rPr>
            <a:t>Field data processed; drawings and title deed documentation prepared.</a:t>
          </a:r>
          <a:endParaRPr lang="en-US" sz="1200" kern="1200" dirty="0"/>
        </a:p>
      </dsp:txBody>
      <dsp:txXfrm>
        <a:off x="5810099" y="1915233"/>
        <a:ext cx="2167180" cy="1374343"/>
      </dsp:txXfrm>
    </dsp:sp>
    <dsp:sp modelId="{A32C10B3-9C41-4949-83C2-DD02A94CDCB8}">
      <dsp:nvSpPr>
        <dsp:cNvPr id="0" name=""/>
        <dsp:cNvSpPr/>
      </dsp:nvSpPr>
      <dsp:spPr>
        <a:xfrm>
          <a:off x="7031974" y="2310243"/>
          <a:ext cx="2491324" cy="2491324"/>
        </a:xfrm>
        <a:prstGeom prst="leftCircularArrow">
          <a:avLst>
            <a:gd name="adj1" fmla="val 3182"/>
            <a:gd name="adj2" fmla="val 391887"/>
            <a:gd name="adj3" fmla="val 2167397"/>
            <a:gd name="adj4" fmla="val 9024489"/>
            <a:gd name="adj5" fmla="val 3713"/>
          </a:avLst>
        </a:prstGeom>
        <a:gradFill rotWithShape="0">
          <a:gsLst>
            <a:gs pos="0">
              <a:schemeClr val="accent5">
                <a:tint val="60000"/>
                <a:hueOff val="0"/>
                <a:satOff val="0"/>
                <a:lumOff val="0"/>
                <a:alphaOff val="0"/>
                <a:satMod val="103000"/>
                <a:lumMod val="102000"/>
                <a:tint val="94000"/>
              </a:schemeClr>
            </a:gs>
            <a:gs pos="50000">
              <a:schemeClr val="accent5">
                <a:tint val="60000"/>
                <a:hueOff val="0"/>
                <a:satOff val="0"/>
                <a:lumOff val="0"/>
                <a:alphaOff val="0"/>
                <a:satMod val="110000"/>
                <a:lumMod val="100000"/>
                <a:shade val="100000"/>
              </a:schemeClr>
            </a:gs>
            <a:gs pos="100000">
              <a:schemeClr val="accent5">
                <a:tint val="60000"/>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B208EBA3-2FE3-41DF-BD77-A9D955869042}">
      <dsp:nvSpPr>
        <dsp:cNvPr id="0" name=""/>
        <dsp:cNvSpPr/>
      </dsp:nvSpPr>
      <dsp:spPr>
        <a:xfrm>
          <a:off x="6267940" y="3332335"/>
          <a:ext cx="2002396" cy="796287"/>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hanga" panose="00000500000000000000" pitchFamily="2" charset="-78"/>
              <a:cs typeface="Changa" panose="00000500000000000000" pitchFamily="2" charset="-78"/>
            </a:rPr>
            <a:t>Phase 3: </a:t>
          </a:r>
          <a:br>
            <a:rPr lang="en-US" sz="1200" b="1" kern="1200" dirty="0">
              <a:latin typeface="Changa" panose="00000500000000000000" pitchFamily="2" charset="-78"/>
              <a:cs typeface="Changa" panose="00000500000000000000" pitchFamily="2" charset="-78"/>
            </a:rPr>
          </a:br>
          <a:r>
            <a:rPr lang="en-US" sz="1200" b="1" kern="1200" dirty="0">
              <a:latin typeface="Changa" panose="00000500000000000000" pitchFamily="2" charset="-78"/>
              <a:cs typeface="Changa" panose="00000500000000000000" pitchFamily="2" charset="-78"/>
            </a:rPr>
            <a:t>Processing and Deliverables </a:t>
          </a:r>
          <a:endParaRPr lang="en-US" sz="1200" kern="1200" dirty="0"/>
        </a:p>
      </dsp:txBody>
      <dsp:txXfrm>
        <a:off x="6291262" y="3355657"/>
        <a:ext cx="1955752" cy="749643"/>
      </dsp:txXfrm>
    </dsp:sp>
    <dsp:sp modelId="{66E09680-2F85-443D-BDD2-8B7317E5E5DF}">
      <dsp:nvSpPr>
        <dsp:cNvPr id="0" name=""/>
        <dsp:cNvSpPr/>
      </dsp:nvSpPr>
      <dsp:spPr>
        <a:xfrm>
          <a:off x="8647871" y="1872475"/>
          <a:ext cx="2252696" cy="1858003"/>
        </a:xfrm>
        <a:prstGeom prst="roundRect">
          <a:avLst>
            <a:gd name="adj" fmla="val 10000"/>
          </a:avLst>
        </a:prstGeom>
        <a:solidFill>
          <a:schemeClr val="accent5">
            <a:alpha val="90000"/>
            <a:tint val="4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123825" tIns="123825" rIns="123825" bIns="123825" numCol="1" spcCol="1270" anchor="t" anchorCtr="0">
          <a:noAutofit/>
        </a:bodyPr>
        <a:lstStyle/>
        <a:p>
          <a:pPr marL="114300" lvl="1" indent="-114300" algn="l" defTabSz="533400">
            <a:lnSpc>
              <a:spcPct val="90000"/>
            </a:lnSpc>
            <a:spcBef>
              <a:spcPct val="0"/>
            </a:spcBef>
            <a:spcAft>
              <a:spcPct val="15000"/>
            </a:spcAft>
            <a:buChar char="•"/>
          </a:pPr>
          <a:r>
            <a:rPr lang="en-US" sz="1200" kern="1200" dirty="0">
              <a:latin typeface="Changa" panose="00000500000000000000" pitchFamily="2" charset="-78"/>
              <a:ea typeface="Times New Roman" panose="02020603050405020304" pitchFamily="18" charset="0"/>
              <a:cs typeface="Changa" panose="00000500000000000000" pitchFamily="2" charset="-78"/>
            </a:rPr>
            <a:t>QA/QC, submission, comments, authority approval if applicable, close-out</a:t>
          </a:r>
          <a:r>
            <a:rPr lang="en-US" sz="1000" kern="1200" dirty="0">
              <a:latin typeface="Changa" panose="00000500000000000000" pitchFamily="2" charset="-78"/>
              <a:ea typeface="Times New Roman" panose="02020603050405020304" pitchFamily="18" charset="0"/>
              <a:cs typeface="Changa" panose="00000500000000000000" pitchFamily="2" charset="-78"/>
            </a:rPr>
            <a:t>.</a:t>
          </a:r>
          <a:endParaRPr lang="en-US" sz="1000" kern="1200" dirty="0"/>
        </a:p>
      </dsp:txBody>
      <dsp:txXfrm>
        <a:off x="8690629" y="2313377"/>
        <a:ext cx="2167180" cy="1374343"/>
      </dsp:txXfrm>
    </dsp:sp>
    <dsp:sp modelId="{88C33C51-42B5-450E-A500-79E1AD3D60C9}">
      <dsp:nvSpPr>
        <dsp:cNvPr id="0" name=""/>
        <dsp:cNvSpPr/>
      </dsp:nvSpPr>
      <dsp:spPr>
        <a:xfrm>
          <a:off x="9148470" y="1474332"/>
          <a:ext cx="2002396" cy="796287"/>
        </a:xfrm>
        <a:prstGeom prst="roundRect">
          <a:avLst>
            <a:gd name="adj" fmla="val 10000"/>
          </a:avLst>
        </a:prstGeom>
        <a:gradFill rotWithShape="0">
          <a:gsLst>
            <a:gs pos="0">
              <a:schemeClr val="lt1">
                <a:hueOff val="0"/>
                <a:satOff val="0"/>
                <a:lumOff val="0"/>
                <a:alphaOff val="0"/>
                <a:satMod val="103000"/>
                <a:lumMod val="102000"/>
                <a:tint val="94000"/>
              </a:schemeClr>
            </a:gs>
            <a:gs pos="50000">
              <a:schemeClr val="lt1">
                <a:hueOff val="0"/>
                <a:satOff val="0"/>
                <a:lumOff val="0"/>
                <a:alphaOff val="0"/>
                <a:satMod val="110000"/>
                <a:lumMod val="100000"/>
                <a:shade val="100000"/>
              </a:schemeClr>
            </a:gs>
            <a:gs pos="100000">
              <a:schemeClr val="l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2860" tIns="15240" rIns="22860" bIns="15240" numCol="1" spcCol="1270" anchor="ctr" anchorCtr="0">
          <a:noAutofit/>
        </a:bodyPr>
        <a:lstStyle/>
        <a:p>
          <a:pPr marL="0" lvl="0" indent="0" algn="ctr" defTabSz="533400">
            <a:lnSpc>
              <a:spcPct val="90000"/>
            </a:lnSpc>
            <a:spcBef>
              <a:spcPct val="0"/>
            </a:spcBef>
            <a:spcAft>
              <a:spcPct val="35000"/>
            </a:spcAft>
            <a:buNone/>
          </a:pPr>
          <a:r>
            <a:rPr lang="en-US" sz="1200" b="1" kern="1200" dirty="0">
              <a:latin typeface="Changa" panose="00000500000000000000" pitchFamily="2" charset="-78"/>
              <a:cs typeface="Changa" panose="00000500000000000000" pitchFamily="2" charset="-78"/>
            </a:rPr>
            <a:t>Phase 4: </a:t>
          </a:r>
          <a:br>
            <a:rPr lang="en-US" sz="1200" b="1" kern="1200" dirty="0">
              <a:latin typeface="Changa" panose="00000500000000000000" pitchFamily="2" charset="-78"/>
              <a:cs typeface="Changa" panose="00000500000000000000" pitchFamily="2" charset="-78"/>
            </a:rPr>
          </a:br>
          <a:r>
            <a:rPr lang="en-US" sz="1200" b="1" kern="1200" dirty="0">
              <a:latin typeface="Changa" panose="00000500000000000000" pitchFamily="2" charset="-78"/>
              <a:cs typeface="Changa" panose="00000500000000000000" pitchFamily="2" charset="-78"/>
            </a:rPr>
            <a:t>QA/QC and Close-Out</a:t>
          </a:r>
          <a:endParaRPr lang="en-US" sz="1200" kern="1200" dirty="0"/>
        </a:p>
      </dsp:txBody>
      <dsp:txXfrm>
        <a:off x="9171792" y="1497654"/>
        <a:ext cx="1955752" cy="749643"/>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48D31E-6570-4FD2-BAAB-5DFF62F6E017}" type="datetimeFigureOut">
              <a:rPr lang="en-US" smtClean="0"/>
              <a:t>11/3/2024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572C71-DE0A-4492-90EC-C60804CD0D82}" type="slidenum">
              <a:rPr lang="en-US" smtClean="0"/>
              <a:t>‹#›</a:t>
            </a:fld>
            <a:endParaRPr lang="en-US"/>
          </a:p>
        </p:txBody>
      </p:sp>
    </p:spTree>
    <p:extLst>
      <p:ext uri="{BB962C8B-B14F-4D97-AF65-F5344CB8AC3E}">
        <p14:creationId xmlns:p14="http://schemas.microsoft.com/office/powerpoint/2010/main" val="36893083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title, owner and consultant name from the signed Task Order (PR1913, p.1). Hero image is the DG1 GIS cover layout over Esri imagery; DG1 extent is indicative pending the official boundary.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Agenda kept identical to the Alqotr kick-off template.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objective and services: Task Order PR1913.pdf page 1 and Appendix 2 / T4; the table: PR1913 page 1 (client, Task Order no. 4500009743, place of performance DG 1 area Riyadh KSA, commencement 11 Oct 2026, completion 09 Nov 2029). IMAGES (satellite, not a base map): panel 1 is NASA Blue Marble satellite imagery with relief shading, with the Riyadh Region outline from the @svg-maps/saudi-arabia province map (a generalized outline: checked that Riyadh, Al-Kharj, Al-Majmaah, Dawadmi, Wadi ad-Dawasir, Layla and Afif fall inside it and Buraydah, Hail, Najran, Dammam, Al-Hofuf, Makkah, Madinah, Taif, Jeddah and Abha fall outside; its area is about 366,000 km2), a real 1-degree graticule and a 100 km scale bar, and city positions and the Diriyah frame (approximate points); panel 2 is the Esri imagery of the Alqotr GIS cover layout with an indicative DG1 outline traced by eye (not an official boundary); the gold frame in panel 1 marks the Diriyah position (approximate). LIMIT: no satellite imagery or boundary of the whole of Diriyah is available in the project files or offline, so panel 2 shows the DG1 area with its surroundings as available;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Client, Task Order no. 4500009743, service title, place of performance (DG1 area, Riyadh) and the period 11 Oct 2026 to 09 Nov 2029: Task Order PR1913.pdf, page 1 (checked in the uploaded file: Task Order No. 4500009743, Agreement C205-V3/4600001652, dated 06 Oct 2026, Place of Performance DG 1 area Riyadh KSA, commencement 11 Oct 2026, completion 09 Nov 2029; Appendix 1 names the DG1 Land Surveying Services Minor Task Order). AREA REMOVED from the map: the earlier figure (1,750,332.47 m2, attributed to T14) has no valid source, because T14 (Bidder Current Workload) is unrelated to DG1. It must be found in a project file before it is shown again. The DG1 = Diriyah 1 equivalence is also unverified. MAP (full screen): satellite imagery and DG1 outline come from the Alqotr GIS cover layout (Esri imagery). The three round magnifiers A, B and C show the area inside each marked circle on the map, magnified 2x, rendered from the same imagery with the same indicative outline, so each lens matches its location. The top-left locator shows Riyadh Region and a schematic of DG1. The outline is NOT an official boundary: it was traced by eye from that layout and is indicative. The coordinate system line was removed because it is not stated in any project file.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T8 Programme Management, section 8.2 Programme Stages and Activities: Stage 1 Task Order Initiation, Stage 2 Planning and Mobilization, Stage 3 Field Survey Execution, Stage 4 Data Processing and Deliverable Preparation, Stages 5-6 QA/QC, Submission, Review and Close-Out. Condensed into four phases; wording follows T8.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T15 Quality Management Systems and Procedures (descriptive data p.6, deed data p.7, CAD drawing p.8). Sample QC table: the "Check Site Data (QC)" slide of the Alqotr Wadi Safar demarcation deck provided as a reference, shown unchanged (it contains the data of that earlier project). Quality control at every step: T8 8.2 (Stage 1 confirmation of scope and deliverables; Stage 3 verification of survey control, field verification and completeness checks; Stage 4 survey computations and technical verification; Stage 5 internal technical review and QA/QC; Stage 6 client review and acceptance) and T6 6.1 (centralized technical control and QA/QC). IMAGE: the control point check screenshot (GCP table with imagery) is page 15 of the same T15 Alqotr quality control guide (an earlier Alqotr project, not Diriyah), shown as an example of checking control points.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T8 8.2 Stage 3 Field Survey Execution (verification / establishment of survey control where required; land and boundary survey as applicable; field data acquisition; field verification and completeness checks) and T4 (verification of survey control points / benchmarks; boundary survey based on available approved information). Photos: Alqotr library field photos (surveyor with total station, GNSS receivers, control monument), not from the Diriyah site. The drone and laser scanner (point cloud) photos of the template were removed because they are not part of this Task Order.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T4 and T8 8.2 Stage 3 (land demarcation, where instructed / applicable; verification of survey control). Step detail (stake-out with Total Station or RTK GNSS, boundary markers with unique reference, photo documentation, cross-check with approved data, demarcation report) follows Alqotr previous demarcation decks provided as references (Safar deck "Survey Activities" and "Prepare Survey and Demarcation Report"). IMAGES: the diagram is a generic schematic drawn for this deck, not the DG1 boundary. The three photos are generic Alqotr library photos (GNSS on a control monument, GNSS tripods in the field, a concrete boundary marker), not taken in Diriyah.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this slide merges the former workflow and schedule slides. Contract period and the 6 working day approval: signed Task Order PR1913.pdf (page 1 commencement 11 Oct 2026, completion 09 Nov 2029; Appendix 1 approval 2+2+2 working days). Stages and milestones: T8 8.2, 8.3 and 8.4 (M1 Task Order Receipt, M2 Programme Agreement, M3 Mobilization, M4 Field Survey Completion, M5 Draft Deliverable Completion, M6 QA/QC Completion, M7 Submission to Client, M8 Comments Resolution, M9 Final Submission, M10 Task Order Close-Out). Task differences from T4: land survey and boundary survey; land demarcation where instructed; title deed support documentation where applicable; statutory approval where applicable. Placing the milestones under the stages is Alqotr own grouping (M1-M3 under Plan, M4 between Survey and Demarcation, M5-M6 under Deliverables, M7-M10 under Close-out); confirm with the team. The duration of each task is not fixed in the contract: it is agreed per Minor Work Task Order (T8 8.3, RFP Programme for Services).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deliverable types: T8 8.2 Stage 4 (survey drawings and documentation; title deed-related survey documentation where applicable) and T4 (compilation and handover of final survey records); demarcation report follows the Alqotr previous demarcation deck (Safar) as a reference. IMAGES: both are existing pages taken unchanged from the Alqotr Wadi Safar demarcation deck provided as a reference: the Property ID Plan survey decision (slide 7) and a plot photo record. They show the real data of that earlier project. Confirm before presenting that the project was for Diriyah Company and that showing it is allowed. Formats for this Task Order are not fixed in the project files, so they are to be agreed with Diriyah.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T6 Organisation, Management and Resources: the reporting lines of the table in section 6.3 (Project Manager reports to the Project Director; Survey Manager, QA/QC Engineer and HSE Officer report to the Project Manager; Senior Survey Engineer reports to the Technical Manager / Survey Manager; Surveyor to the Senior Survey Engineer / Survey Manager; Survey Assistant to the Surveyor; CAD Draftsman and GIS Specialist to the Technical Manager / Survey Manager) and 6.5 Proposed Resources (deployment: core team, according to active Task Orders, as required; additional survey crews mobilized as required). The Technical Manager line is shown as the Survey Manager to keep the chart simple. No individual names are shown.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Standard Alqotr HSE text from the template. "DGDA" replaced by Diriyah Company; verb forms made consistent (Provide, Maintain, Promote, Monitor) and "safety functionalities" changed to "safety functions".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Contact slide unchanged.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Step 1 (proposal within 2 working days, Diriyah MP team review 2 working days, Commercial Team review 2 working days, 6 working days in total, then written authorisation to start): signed Task Order PR1913.pdf Appendix 1 and its Estimated Approval Timeline. Step 2: the activity sequence and responsibilities of T8 section 8.3 "Typical Minor Work Task Order Programme" (items 01-15: receipt, scope and data review, programme confirmation, survey planning and resource allocation, site access and mobilization, control verification, field survey / demarcation, data processing, drawings, internal review and QA/QC, submission, client review, comments resolution, authority approval if applicable, final submission and close-out), grouped into six cards. Responsibilities as in T8 (Al Qotr / Client / Relevant Authority). No durations are shown for Step 2 because the contract and T8 state that durations are agreed per Minor Work Task Order.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D55FB-530D-4654-AF96-58B77B87A8C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2C588E-9603-4705-9CFF-7904CFBE9F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4CEF28-E577-41A9-A8BF-A8089139C9DF}"/>
              </a:ext>
            </a:extLst>
          </p:cNvPr>
          <p:cNvSpPr>
            <a:spLocks noGrp="1"/>
          </p:cNvSpPr>
          <p:nvPr>
            <p:ph type="dt" sz="half" idx="10"/>
          </p:nvPr>
        </p:nvSpPr>
        <p:spPr/>
        <p:txBody>
          <a:bodyPr/>
          <a:lstStyle/>
          <a:p>
            <a:fld id="{64D3C689-675C-4788-A22C-FBCB01CD9FD6}" type="datetime1">
              <a:rPr lang="en-US" smtClean="0"/>
              <a:t>11/3/2024</a:t>
            </a:fld>
            <a:endParaRPr lang="en-US" dirty="0"/>
          </a:p>
        </p:txBody>
      </p:sp>
    </p:spTree>
    <p:extLst>
      <p:ext uri="{BB962C8B-B14F-4D97-AF65-F5344CB8AC3E}">
        <p14:creationId xmlns:p14="http://schemas.microsoft.com/office/powerpoint/2010/main" val="34284384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944B9-5CF7-4B17-9ED0-578303867F6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D48971-9E6F-4551-A4DB-C0642351AF4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BDA7A4-006F-47A1-81B7-D9762A5B01E3}"/>
              </a:ext>
            </a:extLst>
          </p:cNvPr>
          <p:cNvSpPr>
            <a:spLocks noGrp="1"/>
          </p:cNvSpPr>
          <p:nvPr>
            <p:ph type="dt" sz="half" idx="10"/>
          </p:nvPr>
        </p:nvSpPr>
        <p:spPr/>
        <p:txBody>
          <a:bodyPr/>
          <a:lstStyle/>
          <a:p>
            <a:fld id="{53CAE29D-AACC-4F96-AF67-29BF91C38A3E}" type="datetime1">
              <a:rPr lang="en-US" smtClean="0"/>
              <a:t>11/3/2024</a:t>
            </a:fld>
            <a:endParaRPr lang="en-US"/>
          </a:p>
        </p:txBody>
      </p:sp>
      <p:sp>
        <p:nvSpPr>
          <p:cNvPr id="5" name="Footer Placeholder 4">
            <a:extLst>
              <a:ext uri="{FF2B5EF4-FFF2-40B4-BE49-F238E27FC236}">
                <a16:creationId xmlns:a16="http://schemas.microsoft.com/office/drawing/2014/main" id="{46110E00-B2B2-46BE-A2EF-A71E67B846AF}"/>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370198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98A9E-087D-4405-A642-D75118A0EF2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35C8EB-5F4B-49DD-B4DE-A7F07C8E740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5EE3C0-B247-4179-91C9-E8D8D3619A70}"/>
              </a:ext>
            </a:extLst>
          </p:cNvPr>
          <p:cNvSpPr>
            <a:spLocks noGrp="1"/>
          </p:cNvSpPr>
          <p:nvPr>
            <p:ph type="dt" sz="half" idx="10"/>
          </p:nvPr>
        </p:nvSpPr>
        <p:spPr/>
        <p:txBody>
          <a:bodyPr/>
          <a:lstStyle/>
          <a:p>
            <a:fld id="{B78A17B7-521F-43C1-A498-AF1E8113363D}" type="datetime1">
              <a:rPr lang="en-US" smtClean="0"/>
              <a:t>11/3/2024</a:t>
            </a:fld>
            <a:endParaRPr lang="en-US"/>
          </a:p>
        </p:txBody>
      </p:sp>
      <p:sp>
        <p:nvSpPr>
          <p:cNvPr id="5" name="Footer Placeholder 4">
            <a:extLst>
              <a:ext uri="{FF2B5EF4-FFF2-40B4-BE49-F238E27FC236}">
                <a16:creationId xmlns:a16="http://schemas.microsoft.com/office/drawing/2014/main" id="{8ADFC5BE-5A24-40F9-8446-044A25E61203}"/>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75269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0A101-AC7B-4263-9823-BBD214CAE3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C9E418F-4370-4094-B9E8-79AEAF2812E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6007A0-9B3D-444F-A86F-94417F79F0F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1C92955-5F75-4599-8522-44C7D3EC624D}"/>
              </a:ext>
            </a:extLst>
          </p:cNvPr>
          <p:cNvSpPr>
            <a:spLocks noGrp="1"/>
          </p:cNvSpPr>
          <p:nvPr>
            <p:ph type="dt" sz="half" idx="10"/>
          </p:nvPr>
        </p:nvSpPr>
        <p:spPr/>
        <p:txBody>
          <a:bodyPr/>
          <a:lstStyle/>
          <a:p>
            <a:fld id="{07AC0864-0630-4061-A1AE-23291B62B221}" type="datetime1">
              <a:rPr lang="en-US" smtClean="0"/>
              <a:t>11/3/2024</a:t>
            </a:fld>
            <a:endParaRPr lang="en-US"/>
          </a:p>
        </p:txBody>
      </p:sp>
      <p:sp>
        <p:nvSpPr>
          <p:cNvPr id="6" name="Footer Placeholder 5">
            <a:extLst>
              <a:ext uri="{FF2B5EF4-FFF2-40B4-BE49-F238E27FC236}">
                <a16:creationId xmlns:a16="http://schemas.microsoft.com/office/drawing/2014/main" id="{1C9AB4A1-8F5F-4FA4-B6E0-48CB75804F9F}"/>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2116313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7F257-2A64-4642-BE24-A918430AAE2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EB32B6E-ECBF-4D74-9F9A-A8207E8CDE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9E69B6-65AA-4D3B-BC45-9D70F34794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8F07B56-3FF9-4AC7-9AA0-6A55564AE2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318EB3-245C-4885-8BF7-BD778EA753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B0D0663-64F4-469A-88B8-1E320A4FB49E}"/>
              </a:ext>
            </a:extLst>
          </p:cNvPr>
          <p:cNvSpPr>
            <a:spLocks noGrp="1"/>
          </p:cNvSpPr>
          <p:nvPr>
            <p:ph type="dt" sz="half" idx="10"/>
          </p:nvPr>
        </p:nvSpPr>
        <p:spPr/>
        <p:txBody>
          <a:bodyPr/>
          <a:lstStyle/>
          <a:p>
            <a:fld id="{F1E66660-2EE8-4F93-98BA-E46499D3A63D}" type="datetime1">
              <a:rPr lang="en-US" smtClean="0"/>
              <a:t>11/3/2024</a:t>
            </a:fld>
            <a:endParaRPr lang="en-US"/>
          </a:p>
        </p:txBody>
      </p:sp>
      <p:sp>
        <p:nvSpPr>
          <p:cNvPr id="8" name="Footer Placeholder 7">
            <a:extLst>
              <a:ext uri="{FF2B5EF4-FFF2-40B4-BE49-F238E27FC236}">
                <a16:creationId xmlns:a16="http://schemas.microsoft.com/office/drawing/2014/main" id="{3142890F-E386-4441-BBF3-3E9F85CC045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885506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B7FE1-E6CF-4545-9AA6-91333C6EE0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F8C6DC-5A69-4A1B-AF19-E6B1F99CF6E2}"/>
              </a:ext>
            </a:extLst>
          </p:cNvPr>
          <p:cNvSpPr>
            <a:spLocks noGrp="1"/>
          </p:cNvSpPr>
          <p:nvPr>
            <p:ph type="dt" sz="half" idx="10"/>
          </p:nvPr>
        </p:nvSpPr>
        <p:spPr/>
        <p:txBody>
          <a:bodyPr/>
          <a:lstStyle/>
          <a:p>
            <a:fld id="{A85A3738-F7C8-4061-8DD4-52FF3A67925A}" type="datetime1">
              <a:rPr lang="en-US" smtClean="0"/>
              <a:t>11/3/2024</a:t>
            </a:fld>
            <a:endParaRPr lang="en-US"/>
          </a:p>
        </p:txBody>
      </p:sp>
      <p:sp>
        <p:nvSpPr>
          <p:cNvPr id="4" name="Footer Placeholder 3">
            <a:extLst>
              <a:ext uri="{FF2B5EF4-FFF2-40B4-BE49-F238E27FC236}">
                <a16:creationId xmlns:a16="http://schemas.microsoft.com/office/drawing/2014/main" id="{31A81FCD-D82F-4599-9612-BDB53494193F}"/>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650655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A8FA93-E137-4766-9ADC-320EEE2A703B}"/>
              </a:ext>
            </a:extLst>
          </p:cNvPr>
          <p:cNvSpPr>
            <a:spLocks noGrp="1"/>
          </p:cNvSpPr>
          <p:nvPr>
            <p:ph type="dt" sz="half" idx="10"/>
          </p:nvPr>
        </p:nvSpPr>
        <p:spPr/>
        <p:txBody>
          <a:bodyPr/>
          <a:lstStyle/>
          <a:p>
            <a:fld id="{7B1F5B96-7DB6-4F1D-AFE3-A4399F6CB156}" type="datetime1">
              <a:rPr lang="en-US" smtClean="0"/>
              <a:t>11/3/2024</a:t>
            </a:fld>
            <a:endParaRPr lang="en-US"/>
          </a:p>
        </p:txBody>
      </p:sp>
      <p:sp>
        <p:nvSpPr>
          <p:cNvPr id="3" name="Footer Placeholder 2">
            <a:extLst>
              <a:ext uri="{FF2B5EF4-FFF2-40B4-BE49-F238E27FC236}">
                <a16:creationId xmlns:a16="http://schemas.microsoft.com/office/drawing/2014/main" id="{29DE328A-5837-4EFD-BD59-505FBCF00E55}"/>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182443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71536-EFD7-4D1B-9DE6-096295732B2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F9A7656-9F91-407E-ADD4-29B6C076AE2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E077DD4-5B3B-4061-B0E9-FF8F4AAE05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E7BD5F-0ACA-4BB1-9700-B12FAF9869CA}"/>
              </a:ext>
            </a:extLst>
          </p:cNvPr>
          <p:cNvSpPr>
            <a:spLocks noGrp="1"/>
          </p:cNvSpPr>
          <p:nvPr>
            <p:ph type="dt" sz="half" idx="10"/>
          </p:nvPr>
        </p:nvSpPr>
        <p:spPr/>
        <p:txBody>
          <a:bodyPr/>
          <a:lstStyle/>
          <a:p>
            <a:fld id="{AA824686-3712-4E92-A112-F9A2FD96DE89}" type="datetime1">
              <a:rPr lang="en-US" smtClean="0"/>
              <a:t>11/3/2024</a:t>
            </a:fld>
            <a:endParaRPr lang="en-US"/>
          </a:p>
        </p:txBody>
      </p:sp>
      <p:sp>
        <p:nvSpPr>
          <p:cNvPr id="6" name="Footer Placeholder 5">
            <a:extLst>
              <a:ext uri="{FF2B5EF4-FFF2-40B4-BE49-F238E27FC236}">
                <a16:creationId xmlns:a16="http://schemas.microsoft.com/office/drawing/2014/main" id="{4B45EFEC-C771-4892-B716-8FD493C7BE20}"/>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32109005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D7DAC6-AE1C-4D60-B02D-9DC98D3B819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5D2083F-5F1F-4F25-A6A5-5921C09E2D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ED64C8A-3E5E-49A9-94E0-6B2FFC556D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555A06-5E32-4D49-A9C1-F61720F67872}"/>
              </a:ext>
            </a:extLst>
          </p:cNvPr>
          <p:cNvSpPr>
            <a:spLocks noGrp="1"/>
          </p:cNvSpPr>
          <p:nvPr>
            <p:ph type="dt" sz="half" idx="10"/>
          </p:nvPr>
        </p:nvSpPr>
        <p:spPr/>
        <p:txBody>
          <a:bodyPr/>
          <a:lstStyle/>
          <a:p>
            <a:fld id="{C03E2306-02E7-4EDD-973E-BC15291D1F7D}" type="datetime1">
              <a:rPr lang="en-US" smtClean="0"/>
              <a:t>11/3/2024</a:t>
            </a:fld>
            <a:endParaRPr lang="en-US"/>
          </a:p>
        </p:txBody>
      </p:sp>
      <p:sp>
        <p:nvSpPr>
          <p:cNvPr id="6" name="Footer Placeholder 5">
            <a:extLst>
              <a:ext uri="{FF2B5EF4-FFF2-40B4-BE49-F238E27FC236}">
                <a16:creationId xmlns:a16="http://schemas.microsoft.com/office/drawing/2014/main" id="{B2C65B43-EC56-494A-8097-1465DFE61183}"/>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032087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0F9E-630B-4528-9B26-CDF7DCFCFF6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F3D7504-9EB9-4238-96D8-38780786BB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3D25DE-43BB-4CE1-9E28-B484E33FDFAB}"/>
              </a:ext>
            </a:extLst>
          </p:cNvPr>
          <p:cNvSpPr>
            <a:spLocks noGrp="1"/>
          </p:cNvSpPr>
          <p:nvPr>
            <p:ph type="dt" sz="half" idx="10"/>
          </p:nvPr>
        </p:nvSpPr>
        <p:spPr/>
        <p:txBody>
          <a:bodyPr/>
          <a:lstStyle/>
          <a:p>
            <a:fld id="{3CD5151F-A940-4526-A244-4037E25F47F1}" type="datetime1">
              <a:rPr lang="en-US" smtClean="0"/>
              <a:t>11/3/2024</a:t>
            </a:fld>
            <a:endParaRPr lang="en-US"/>
          </a:p>
        </p:txBody>
      </p:sp>
      <p:sp>
        <p:nvSpPr>
          <p:cNvPr id="5" name="Footer Placeholder 4">
            <a:extLst>
              <a:ext uri="{FF2B5EF4-FFF2-40B4-BE49-F238E27FC236}">
                <a16:creationId xmlns:a16="http://schemas.microsoft.com/office/drawing/2014/main" id="{4CF6230E-F20E-4AE5-B7BD-1F758872DCAB}"/>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41497884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614E4A-9285-45D0-823F-4114DCF3440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3504394-5124-42D6-98DA-2B82ACE941B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883FA4-01A9-4824-9994-7FB22028180D}"/>
              </a:ext>
            </a:extLst>
          </p:cNvPr>
          <p:cNvSpPr>
            <a:spLocks noGrp="1"/>
          </p:cNvSpPr>
          <p:nvPr>
            <p:ph type="dt" sz="half" idx="10"/>
          </p:nvPr>
        </p:nvSpPr>
        <p:spPr/>
        <p:txBody>
          <a:bodyPr/>
          <a:lstStyle/>
          <a:p>
            <a:fld id="{2FC513DA-4D3D-4DC8-867C-3FAB25C4B9D9}" type="datetime1">
              <a:rPr lang="en-US" smtClean="0"/>
              <a:t>11/3/2024</a:t>
            </a:fld>
            <a:endParaRPr lang="en-US"/>
          </a:p>
        </p:txBody>
      </p:sp>
    </p:spTree>
    <p:extLst>
      <p:ext uri="{BB962C8B-B14F-4D97-AF65-F5344CB8AC3E}">
        <p14:creationId xmlns:p14="http://schemas.microsoft.com/office/powerpoint/2010/main" val="100447181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png"/><Relationship Id="rId14" Type="http://schemas.openxmlformats.org/officeDocument/2006/relationships/image" Target="../media/image2.png"/><Relationship Id="rId15" Type="http://schemas.openxmlformats.org/officeDocument/2006/relationships/image" Target="../media/image3.svg"/><Relationship Id="rId16" Type="http://schemas.openxmlformats.org/officeDocument/2006/relationships/image" Target="../media/image4.png"/><Relationship Id="rId17" Type="http://schemas.openxmlformats.org/officeDocument/2006/relationships/image" Target="../media/image5.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6C4A3C9-9C80-45D1-88DF-A08A9F05D217}"/>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Rectangle 9">
            <a:extLst>
              <a:ext uri="{FF2B5EF4-FFF2-40B4-BE49-F238E27FC236}">
                <a16:creationId xmlns:a16="http://schemas.microsoft.com/office/drawing/2014/main" id="{44708078-AD85-4B9D-A357-8D1B0CE2E6EE}"/>
              </a:ext>
            </a:extLst>
          </p:cNvPr>
          <p:cNvSpPr/>
          <p:nvPr userDrawn="1"/>
        </p:nvSpPr>
        <p:spPr>
          <a:xfrm>
            <a:off x="0" y="6467683"/>
            <a:ext cx="11833986" cy="399189"/>
          </a:xfrm>
          <a:prstGeom prst="rect">
            <a:avLst/>
          </a:prstGeom>
          <a:solidFill>
            <a:srgbClr val="214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a:extLst>
              <a:ext uri="{FF2B5EF4-FFF2-40B4-BE49-F238E27FC236}">
                <a16:creationId xmlns:a16="http://schemas.microsoft.com/office/drawing/2014/main" id="{9E01C533-675C-47F4-8135-6E58D07EBC9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CC4DCD4-47E5-40F3-AF22-9A4E543A63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233253-21FB-4BB5-B4E5-A2177AA679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17C5AD-076A-4A4A-852A-FCD1419862DF}" type="datetime1">
              <a:rPr lang="en-US" smtClean="0"/>
              <a:t>11/3/2024</a:t>
            </a:fld>
            <a:endParaRPr lang="en-US"/>
          </a:p>
        </p:txBody>
      </p:sp>
      <p:sp>
        <p:nvSpPr>
          <p:cNvPr id="5" name="Footer Placeholder 4">
            <a:extLst>
              <a:ext uri="{FF2B5EF4-FFF2-40B4-BE49-F238E27FC236}">
                <a16:creationId xmlns:a16="http://schemas.microsoft.com/office/drawing/2014/main" id="{7794CF54-FFA6-4760-9DFA-B20ACCC6C8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pic>
        <p:nvPicPr>
          <p:cNvPr id="8" name="Graphic 7">
            <a:extLst>
              <a:ext uri="{FF2B5EF4-FFF2-40B4-BE49-F238E27FC236}">
                <a16:creationId xmlns:a16="http://schemas.microsoft.com/office/drawing/2014/main" id="{6F6AD15E-9F53-4540-B712-8FEDC5CCE681}"/>
              </a:ext>
            </a:extLst>
          </p:cNvPr>
          <p:cNvPicPr>
            <a:picLocks noChangeAspect="1"/>
          </p:cNvPicPr>
          <p:nvPr userDrawn="1"/>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rcRect/>
          <a:stretch/>
        </p:blipFill>
        <p:spPr>
          <a:xfrm>
            <a:off x="3789583" y="6565056"/>
            <a:ext cx="4612833" cy="233443"/>
          </a:xfrm>
          <a:prstGeom prst="rect">
            <a:avLst/>
          </a:prstGeom>
        </p:spPr>
      </p:pic>
      <p:sp>
        <p:nvSpPr>
          <p:cNvPr id="16" name="Slide Number Placeholder 1">
            <a:extLst>
              <a:ext uri="{FF2B5EF4-FFF2-40B4-BE49-F238E27FC236}">
                <a16:creationId xmlns:a16="http://schemas.microsoft.com/office/drawing/2014/main" id="{5DFE5620-5324-4AF4-8A9E-317EE3D9BD8E}"/>
              </a:ext>
            </a:extLst>
          </p:cNvPr>
          <p:cNvSpPr txBox="1">
            <a:spLocks/>
          </p:cNvSpPr>
          <p:nvPr userDrawn="1"/>
        </p:nvSpPr>
        <p:spPr>
          <a:xfrm>
            <a:off x="5808294" y="6570112"/>
            <a:ext cx="575412" cy="182901"/>
          </a:xfrm>
          <a:prstGeom prst="rect">
            <a:avLst/>
          </a:prstGeom>
        </p:spPr>
        <p:txBody>
          <a:bodyPr/>
          <a:lstStyle>
            <a:defPPr>
              <a:defRPr lang="en-US"/>
            </a:defPPr>
            <a:lvl1pPr marL="0" algn="r" defTabSz="914400" rtl="0" eaLnBrk="1" latinLnBrk="0" hangingPunct="1">
              <a:defRPr sz="1200" b="1" kern="1200">
                <a:solidFill>
                  <a:srgbClr val="F1AC22"/>
                </a:solidFill>
                <a:latin typeface="TheSans" panose="020B0503040302020203" pitchFamily="34" charset="-78"/>
                <a:ea typeface="+mn-ea"/>
                <a:cs typeface="TheSans" panose="020B0503040302020203" pitchFamily="34" charset="-78"/>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5937B6D9-1FDE-45B9-A842-C93FA9B49D69}" type="slidenum">
              <a:rPr lang="en-US" smtClean="0">
                <a:solidFill>
                  <a:srgbClr val="21456A"/>
                </a:solidFill>
              </a:rPr>
              <a:pPr algn="ctr"/>
              <a:t>‹#›</a:t>
            </a:fld>
            <a:endParaRPr lang="en-US" dirty="0">
              <a:solidFill>
                <a:srgbClr val="21456A"/>
              </a:solidFill>
            </a:endParaRPr>
          </a:p>
        </p:txBody>
      </p:sp>
      <p:sp>
        <p:nvSpPr>
          <p:cNvPr id="15" name="Rectangle: Single Corner Snipped 14">
            <a:extLst>
              <a:ext uri="{FF2B5EF4-FFF2-40B4-BE49-F238E27FC236}">
                <a16:creationId xmlns:a16="http://schemas.microsoft.com/office/drawing/2014/main" id="{75A760C8-9BAB-46B3-806F-8003C1B1340C}"/>
              </a:ext>
            </a:extLst>
          </p:cNvPr>
          <p:cNvSpPr/>
          <p:nvPr userDrawn="1"/>
        </p:nvSpPr>
        <p:spPr>
          <a:xfrm flipH="1">
            <a:off x="11879064" y="6466795"/>
            <a:ext cx="136516" cy="399189"/>
          </a:xfrm>
          <a:prstGeom prst="snip1Rect">
            <a:avLst>
              <a:gd name="adj" fmla="val 0"/>
            </a:avLst>
          </a:prstGeom>
          <a:solidFill>
            <a:srgbClr val="214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Single Corner Snipped 16">
            <a:extLst>
              <a:ext uri="{FF2B5EF4-FFF2-40B4-BE49-F238E27FC236}">
                <a16:creationId xmlns:a16="http://schemas.microsoft.com/office/drawing/2014/main" id="{9881DFCB-88F2-4E32-A404-33985CD75B14}"/>
              </a:ext>
            </a:extLst>
          </p:cNvPr>
          <p:cNvSpPr/>
          <p:nvPr userDrawn="1"/>
        </p:nvSpPr>
        <p:spPr>
          <a:xfrm flipH="1">
            <a:off x="11879063" y="6466795"/>
            <a:ext cx="136514" cy="399189"/>
          </a:xfrm>
          <a:prstGeom prst="snip1Rect">
            <a:avLst>
              <a:gd name="adj" fmla="val 0"/>
            </a:avLst>
          </a:prstGeom>
          <a:solidFill>
            <a:srgbClr val="EBB13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Single Corner Snipped 17">
            <a:extLst>
              <a:ext uri="{FF2B5EF4-FFF2-40B4-BE49-F238E27FC236}">
                <a16:creationId xmlns:a16="http://schemas.microsoft.com/office/drawing/2014/main" id="{10F1D2FD-3807-42F5-BB10-CDE7A0FB8DA6}"/>
              </a:ext>
            </a:extLst>
          </p:cNvPr>
          <p:cNvSpPr/>
          <p:nvPr userDrawn="1"/>
        </p:nvSpPr>
        <p:spPr>
          <a:xfrm flipH="1">
            <a:off x="12055485" y="6466795"/>
            <a:ext cx="136515" cy="399189"/>
          </a:xfrm>
          <a:prstGeom prst="snip1Rect">
            <a:avLst>
              <a:gd name="adj" fmla="val 0"/>
            </a:avLst>
          </a:prstGeom>
          <a:solidFill>
            <a:srgbClr val="2144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Graphic 18">
            <a:extLst>
              <a:ext uri="{FF2B5EF4-FFF2-40B4-BE49-F238E27FC236}">
                <a16:creationId xmlns:a16="http://schemas.microsoft.com/office/drawing/2014/main" id="{C98521BB-1516-4965-BD8F-C540D409928B}"/>
              </a:ext>
            </a:extLst>
          </p:cNvPr>
          <p:cNvPicPr>
            <a:picLocks noChangeAspect="1"/>
          </p:cNvPicPr>
          <p:nvPr userDrawn="1"/>
        </p:nvPicPr>
        <p:blipFill>
          <a:blip r:embed="rId16">
            <a:extLst>
              <a:ext uri="{96DAC541-7B7A-43D3-8B79-37D633B846F1}">
                <asvg:svgBlip xmlns:asvg="http://schemas.microsoft.com/office/drawing/2016/SVG/main" r:embed="rId17"/>
              </a:ext>
            </a:extLst>
          </a:blip>
          <a:stretch>
            <a:fillRect/>
          </a:stretch>
        </p:blipFill>
        <p:spPr>
          <a:xfrm>
            <a:off x="11080864" y="365125"/>
            <a:ext cx="804969" cy="343788"/>
          </a:xfrm>
          <a:prstGeom prst="rect">
            <a:avLst/>
          </a:prstGeom>
        </p:spPr>
      </p:pic>
    </p:spTree>
    <p:extLst>
      <p:ext uri="{BB962C8B-B14F-4D97-AF65-F5344CB8AC3E}">
        <p14:creationId xmlns:p14="http://schemas.microsoft.com/office/powerpoint/2010/main" val="3324225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7.png"/><Relationship Id="rId4" Type="http://schemas.openxmlformats.org/officeDocument/2006/relationships/image" Target="../media/image8.svg"/><Relationship Id="rId5" Type="http://schemas.openxmlformats.org/officeDocument/2006/relationships/image" Target="../media/image9.png"/><Relationship Id="rId6" Type="http://schemas.openxmlformats.org/officeDocument/2006/relationships/image" Target="../media/image10.jpeg"/><Relationship Id="rId7" Type="http://schemas.openxmlformats.org/officeDocument/2006/relationships/image" Target="../media/image32.jpg"/><Relationship Id="rId8" Type="http://schemas.openxmlformats.org/officeDocument/2006/relationships/image" Target="../media/image33.png"/><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6" Type="http://schemas.openxmlformats.org/officeDocument/2006/relationships/notesSlide" Target="../notesSlides/notesSlide3.xml"/><Relationship Id="rId7" Type="http://schemas.openxmlformats.org/officeDocument/2006/relationships/image" Target="../media/image4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4.jpeg"/><Relationship Id="rId5" Type="http://schemas.openxmlformats.org/officeDocument/2006/relationships/image" Target="../media/image15.png"/><Relationship Id="rId6" Type="http://schemas.openxmlformats.org/officeDocument/2006/relationships/image" Target="../media/image35.jpg"/><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7.png"/><Relationship Id="rId5" Type="http://schemas.openxmlformats.org/officeDocument/2006/relationships/notesSlide" Target="../notesSlides/notesSlide7.xml"/><Relationship Id="rId6" Type="http://schemas.openxmlformats.org/officeDocument/2006/relationships/image" Target="../media/image43.png"/><Relationship Id="rId7"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jpg"/><Relationship Id="rId8" Type="http://schemas.openxmlformats.org/officeDocument/2006/relationships/image" Target="../media/image36.jpg"/><Relationship Id="rId9" Type="http://schemas.openxmlformats.org/officeDocument/2006/relationships/image" Target="../media/image37.jpg"/><Relationship Id="rId10" Type="http://schemas.openxmlformats.org/officeDocument/2006/relationships/notesSlide" Target="../notesSlides/notesSlide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38.jpg"/><Relationship Id="rId8" Type="http://schemas.openxmlformats.org/officeDocument/2006/relationships/image" Target="../media/image36.jpg"/><Relationship Id="rId9" Type="http://schemas.openxmlformats.org/officeDocument/2006/relationships/image" Target="../media/image39.jpg"/><Relationship Id="rId10" Type="http://schemas.openxmlformats.org/officeDocument/2006/relationships/notesSlide" Target="../notesSlides/notesSlide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8" Type="http://schemas.openxmlformats.org/officeDocument/2006/relationships/notesSlide" Target="../notesSlides/notesSlide10.xml"/><Relationship Id="rId9" Type="http://schemas.openxmlformats.org/officeDocument/2006/relationships/image" Target="../media/image5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40.jpg"/><Relationship Id="rId7" Type="http://schemas.openxmlformats.org/officeDocument/2006/relationships/image" Target="../media/image41.png"/><Relationship Id="rId8" Type="http://schemas.openxmlformats.org/officeDocument/2006/relationships/image" Target="../media/image42.png"/><Relationship Id="rId9"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5" Type="http://schemas.openxmlformats.org/officeDocument/2006/relationships/notesSlide" Target="../notesSlides/notesSlide12.xml"/><Relationship Id="rId6" Type="http://schemas.openxmlformats.org/officeDocument/2006/relationships/image" Target="../media/image5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 Id="rId4" Type="http://schemas.openxmlformats.org/officeDocument/2006/relationships/image" Target="../media/image5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svg"/><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dg1_cover.jpg"/>
          <p:cNvPicPr>
            <a:picLocks noChangeAspect="1"/>
          </p:cNvPicPr>
          <p:nvPr/>
        </p:nvPicPr>
        <p:blipFill>
          <a:blip r:embed="rId7"/>
          <a:srcRect t="9" b="9"/>
          <a:stretch>
            <a:fillRect/>
          </a:stretch>
        </p:blipFill>
        <p:spPr>
          <a:xfrm>
            <a:off x="3611880" y="0"/>
            <a:ext cx="8579815" cy="6464808"/>
          </a:xfrm>
          <a:prstGeom prst="rect">
            <a:avLst/>
          </a:prstGeom>
        </p:spPr>
      </p:pic>
      <p:sp>
        <p:nvSpPr>
          <p:cNvPr id="6" name="Rectangle 5">
            <a:extLst>
              <a:ext uri="{FF2B5EF4-FFF2-40B4-BE49-F238E27FC236}">
                <a16:creationId xmlns:a16="http://schemas.microsoft.com/office/drawing/2014/main" id="{F47E1220-1B80-4E9C-A154-7A2EEB9EB1E7}"/>
              </a:ext>
            </a:extLst>
          </p:cNvPr>
          <p:cNvSpPr/>
          <p:nvPr/>
        </p:nvSpPr>
        <p:spPr>
          <a:xfrm>
            <a:off x="0" y="0"/>
            <a:ext cx="3609975" cy="6467475"/>
          </a:xfrm>
          <a:prstGeom prst="rect">
            <a:avLst/>
          </a:prstGeom>
          <a:solidFill>
            <a:srgbClr val="E7E8E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a:extLst>
              <a:ext uri="{FF2B5EF4-FFF2-40B4-BE49-F238E27FC236}">
                <a16:creationId xmlns:a16="http://schemas.microsoft.com/office/drawing/2014/main" id="{50089412-A995-42E6-8096-A15902E1CC1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88720" y="4663440"/>
            <a:ext cx="1236134" cy="513718"/>
          </a:xfrm>
          <a:prstGeom prst="rect">
            <a:avLst/>
          </a:prstGeom>
        </p:spPr>
      </p:pic>
      <p:sp>
        <p:nvSpPr>
          <p:cNvPr id="11" name="Rectangle 10">
            <a:extLst>
              <a:ext uri="{FF2B5EF4-FFF2-40B4-BE49-F238E27FC236}">
                <a16:creationId xmlns:a16="http://schemas.microsoft.com/office/drawing/2014/main" id="{E55DBBC4-97DC-488F-84F6-D46DC8372D98}"/>
              </a:ext>
            </a:extLst>
          </p:cNvPr>
          <p:cNvSpPr/>
          <p:nvPr/>
        </p:nvSpPr>
        <p:spPr>
          <a:xfrm>
            <a:off x="0" y="1763660"/>
            <a:ext cx="7126514" cy="1176465"/>
          </a:xfrm>
          <a:prstGeom prst="rect">
            <a:avLst/>
          </a:prstGeom>
          <a:solidFill>
            <a:srgbClr val="D1D2D4"/>
          </a:solidFill>
          <a:ln>
            <a:solidFill>
              <a:srgbClr val="D1D2D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8592559-853C-49D5-A9E7-22E8467BBDC2}"/>
              </a:ext>
            </a:extLst>
          </p:cNvPr>
          <p:cNvSpPr txBox="1"/>
          <p:nvPr/>
        </p:nvSpPr>
        <p:spPr>
          <a:xfrm>
            <a:off x="120152" y="1783080"/>
            <a:ext cx="6886209" cy="1097280"/>
          </a:xfrm>
          <a:prstGeom prst="rect">
            <a:avLst/>
          </a:prstGeom>
          <a:noFill/>
        </p:spPr>
        <p:txBody>
          <a:bodyPr wrap="square" rtlCol="0">
            <a:spAutoFit/>
          </a:bodyPr>
          <a:lstStyle/>
          <a:p>
            <a:r>
              <a:rPr lang="en-US" sz="2600" b="1" dirty="0" noProof="1">
                <a:solidFill>
                  <a:srgbClr val="21456A"/>
                </a:solidFill>
                <a:latin typeface="TheSans" panose="020B0503040302020203" pitchFamily="34" charset="-78"/>
                <a:cs typeface="TheSans" panose="020B0503040302020203" pitchFamily="34" charset="-78"/>
              </a:rPr>
              <a:t>DIRIYAH DG1</a:t>
            </a:r>
          </a:p>
          <a:p>
            <a:r>
              <a:rPr lang="en-US" sz="2600" b="1" dirty="0" noProof="1">
                <a:solidFill>
                  <a:srgbClr val="21456A"/>
                </a:solidFill>
                <a:latin typeface="TheSans" panose="020B0503040302020203" pitchFamily="34" charset="-78"/>
                <a:cs typeface="TheSans" panose="020B0503040302020203" pitchFamily="34" charset="-78"/>
              </a:rPr>
              <a:t>LAND SURVEYING SERVICES</a:t>
            </a:r>
          </a:p>
        </p:txBody>
      </p:sp>
      <p:sp>
        <p:nvSpPr>
          <p:cNvPr id="13" name="Rectangle 12">
            <a:extLst>
              <a:ext uri="{FF2B5EF4-FFF2-40B4-BE49-F238E27FC236}">
                <a16:creationId xmlns:a16="http://schemas.microsoft.com/office/drawing/2014/main" id="{A9A9A17E-5ED7-4687-9A55-BB9B3F5F2EBA}"/>
              </a:ext>
            </a:extLst>
          </p:cNvPr>
          <p:cNvSpPr/>
          <p:nvPr/>
        </p:nvSpPr>
        <p:spPr>
          <a:xfrm>
            <a:off x="2306919" y="2722157"/>
            <a:ext cx="4836545" cy="428432"/>
          </a:xfrm>
          <a:prstGeom prst="rect">
            <a:avLst/>
          </a:prstGeom>
          <a:solidFill>
            <a:srgbClr val="21456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5773FAC4-3763-469F-A460-1995931843CD}"/>
              </a:ext>
            </a:extLst>
          </p:cNvPr>
          <p:cNvSpPr txBox="1"/>
          <p:nvPr/>
        </p:nvSpPr>
        <p:spPr>
          <a:xfrm>
            <a:off x="2289969" y="2765435"/>
            <a:ext cx="4836545" cy="307777"/>
          </a:xfrm>
          <a:prstGeom prst="rect">
            <a:avLst/>
          </a:prstGeom>
          <a:noFill/>
        </p:spPr>
        <p:txBody>
          <a:bodyPr wrap="square" rtlCol="0">
            <a:spAutoFit/>
          </a:bodyPr>
          <a:lstStyle/>
          <a:p>
            <a:pPr algn="ctr"/>
            <a:r>
              <a:rPr lang="en-US" sz="1400" dirty="0" noProof="1">
                <a:solidFill>
                  <a:schemeClr val="bg1"/>
                </a:solidFill>
                <a:latin typeface="TheSans" panose="020B0503040302020203" pitchFamily="34" charset="-78"/>
                <a:cs typeface="TheSans" panose="020B0503040302020203" pitchFamily="34" charset="-78"/>
              </a:rPr>
              <a:t>Project Owner : Diriyah Company</a:t>
            </a:r>
          </a:p>
        </p:txBody>
      </p:sp>
      <p:sp>
        <p:nvSpPr>
          <p:cNvPr id="17" name="TextBox 16">
            <a:extLst>
              <a:ext uri="{FF2B5EF4-FFF2-40B4-BE49-F238E27FC236}">
                <a16:creationId xmlns:a16="http://schemas.microsoft.com/office/drawing/2014/main" id="{D744FC13-F3DA-48EA-9070-A2CFA8A03B44}"/>
              </a:ext>
            </a:extLst>
          </p:cNvPr>
          <p:cNvSpPr txBox="1"/>
          <p:nvPr/>
        </p:nvSpPr>
        <p:spPr>
          <a:xfrm>
            <a:off x="584200" y="5668973"/>
            <a:ext cx="2733981" cy="584775"/>
          </a:xfrm>
          <a:prstGeom prst="rect">
            <a:avLst/>
          </a:prstGeom>
          <a:noFill/>
        </p:spPr>
        <p:txBody>
          <a:bodyPr wrap="square" rtlCol="0">
            <a:spAutoFit/>
          </a:bodyPr>
          <a:lstStyle/>
          <a:p>
            <a:pPr algn="ctr"/>
            <a:r>
              <a:rPr lang="en-US" sz="1600" b="1" dirty="0" noProof="1">
                <a:solidFill>
                  <a:srgbClr val="F1AA1E"/>
                </a:solidFill>
                <a:cs typeface="TheSans" panose="020B0503040302020203" pitchFamily="34" charset="-78"/>
              </a:rPr>
              <a:t>Consultant</a:t>
            </a:r>
            <a:endParaRPr lang="ar-SA" sz="1600" b="1" dirty="0">
              <a:solidFill>
                <a:srgbClr val="F1AA1E"/>
              </a:solidFill>
              <a:cs typeface="TheSans" panose="020B0503040302020203" pitchFamily="34" charset="-78"/>
            </a:endParaRPr>
          </a:p>
          <a:p>
            <a:pPr algn="ctr"/>
            <a:r>
              <a:rPr lang="en-US" sz="1600" b="1" dirty="0" err="1" noProof="1">
                <a:solidFill>
                  <a:srgbClr val="21456A"/>
                </a:solidFill>
                <a:cs typeface="TheSans" panose="020B0503040302020203" pitchFamily="34" charset="-78"/>
              </a:rPr>
              <a:t>Al Qotr Professional Consulting Company</a:t>
            </a:r>
          </a:p>
        </p:txBody>
      </p:sp>
      <p:pic>
        <p:nvPicPr>
          <p:cNvPr id="19" name="Picture 18" descr="diriyah_logo.png"/>
          <p:cNvPicPr>
            <a:picLocks noChangeAspect="1"/>
          </p:cNvPicPr>
          <p:nvPr/>
        </p:nvPicPr>
        <p:blipFill>
          <a:blip r:embed="rId8"/>
          <a:stretch>
            <a:fillRect/>
          </a:stretch>
        </p:blipFill>
        <p:spPr>
          <a:xfrm>
            <a:off x="1188720" y="274320"/>
            <a:ext cx="1234440" cy="1234440"/>
          </a:xfrm>
          <a:prstGeom prst="rect">
            <a:avLst/>
          </a:prstGeom>
        </p:spPr>
      </p:pic>
      <p:sp>
        <p:nvSpPr>
          <p:cNvPr id="20" name="TextBox 19"/>
          <p:cNvSpPr txBox="1"/>
          <p:nvPr/>
        </p:nvSpPr>
        <p:spPr>
          <a:xfrm>
            <a:off x="137160" y="3310128"/>
            <a:ext cx="3383280" cy="365760"/>
          </a:xfrm>
          <a:prstGeom prst="rect">
            <a:avLst/>
          </a:prstGeom>
          <a:noFill/>
        </p:spPr>
        <p:txBody>
          <a:bodyPr wrap="square" lIns="45720" rIns="45720" tIns="18288" bIns="18288" anchor="t">
            <a:spAutoFit/>
          </a:bodyPr>
          <a:lstStyle/>
          <a:p>
            <a:pPr algn="l">
              <a:spcAft>
                <a:spcPts val="0"/>
              </a:spcAft>
            </a:pPr>
            <a:r>
              <a:rPr sz="1800" b="1" noProof="1">
                <a:solidFill>
                  <a:srgbClr val="21446A"/>
                </a:solidFill>
                <a:latin typeface="TheSans-Bold"/>
                <a:cs typeface="TheSans-Bold"/>
              </a:rPr>
              <a:t>Kick-off Meeting</a:t>
            </a:r>
          </a:p>
        </p:txBody>
      </p:sp>
      <p:sp>
        <p:nvSpPr>
          <p:cNvPr id="21" name="TextBox 20"/>
          <p:cNvSpPr txBox="1"/>
          <p:nvPr/>
        </p:nvSpPr>
        <p:spPr>
          <a:xfrm>
            <a:off x="137160" y="3703320"/>
            <a:ext cx="3383280" cy="274320"/>
          </a:xfrm>
          <a:prstGeom prst="rect">
            <a:avLst/>
          </a:prstGeom>
          <a:noFill/>
        </p:spPr>
        <p:txBody>
          <a:bodyPr wrap="square" lIns="45720" rIns="45720" tIns="18288" bIns="18288" anchor="t">
            <a:spAutoFit/>
          </a:bodyPr>
          <a:lstStyle/>
          <a:p>
            <a:pPr algn="l">
              <a:spcAft>
                <a:spcPts val="0"/>
              </a:spcAft>
            </a:pPr>
            <a:r>
              <a:rPr sz="1150" b="0" noProof="1">
                <a:solidFill>
                  <a:srgbClr val="404040"/>
                </a:solidFill>
                <a:latin typeface="TheSans"/>
                <a:cs typeface="TheSans"/>
              </a:rPr>
              <a:t>Task Order No. 4500009743</a:t>
            </a:r>
          </a:p>
        </p:txBody>
      </p:sp>
    </p:spTree>
    <p:extLst>
      <p:ext uri="{BB962C8B-B14F-4D97-AF65-F5344CB8AC3E}">
        <p14:creationId xmlns:p14="http://schemas.microsoft.com/office/powerpoint/2010/main" val="38389200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158E4ADA-ED8A-4B5C-9D08-2BB62A62AE93}"/>
              </a:ext>
            </a:extLst>
          </p:cNvPr>
          <p:cNvGrpSpPr/>
          <p:nvPr/>
        </p:nvGrpSpPr>
        <p:grpSpPr>
          <a:xfrm>
            <a:off x="862012" y="311307"/>
            <a:ext cx="3533775" cy="619125"/>
            <a:chOff x="1544040" y="223837"/>
            <a:chExt cx="3533775" cy="619125"/>
          </a:xfrm>
        </p:grpSpPr>
        <p:pic>
          <p:nvPicPr>
            <p:cNvPr id="2" name="Graphic 1">
              <a:extLst>
                <a:ext uri="{FF2B5EF4-FFF2-40B4-BE49-F238E27FC236}">
                  <a16:creationId xmlns:a16="http://schemas.microsoft.com/office/drawing/2014/main" id="{802D7DA0-FC50-4B45-A7C3-479E7616582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40" y="223837"/>
              <a:ext cx="3533775" cy="619125"/>
            </a:xfrm>
            <a:prstGeom prst="rect">
              <a:avLst/>
            </a:prstGeom>
          </p:spPr>
        </p:pic>
        <p:sp>
          <p:nvSpPr>
            <p:cNvPr id="3" name="TextBox 2">
              <a:extLst>
                <a:ext uri="{FF2B5EF4-FFF2-40B4-BE49-F238E27FC236}">
                  <a16:creationId xmlns:a16="http://schemas.microsoft.com/office/drawing/2014/main" id="{5648F40D-B0A3-4B9E-B1D5-385264642FB5}"/>
                </a:ext>
              </a:extLst>
            </p:cNvPr>
            <p:cNvSpPr txBox="1"/>
            <p:nvPr/>
          </p:nvSpPr>
          <p:spPr>
            <a:xfrm flipH="1">
              <a:off x="2929554" y="333344"/>
              <a:ext cx="1194771"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Content</a:t>
              </a:r>
              <a:endParaRPr lang="en-US" sz="2000" dirty="0">
                <a:solidFill>
                  <a:schemeClr val="bg1"/>
                </a:solidFill>
              </a:endParaRPr>
            </a:p>
          </p:txBody>
        </p:sp>
      </p:grpSp>
      <p:sp>
        <p:nvSpPr>
          <p:cNvPr id="8" name="Freeform: Shape 7">
            <a:extLst>
              <a:ext uri="{FF2B5EF4-FFF2-40B4-BE49-F238E27FC236}">
                <a16:creationId xmlns:a16="http://schemas.microsoft.com/office/drawing/2014/main" id="{A82A046E-B590-4F5F-B2BF-F00903A78005}"/>
              </a:ext>
            </a:extLst>
          </p:cNvPr>
          <p:cNvSpPr/>
          <p:nvPr/>
        </p:nvSpPr>
        <p:spPr>
          <a:xfrm rot="10800000" flipH="1">
            <a:off x="1432962" y="1486553"/>
            <a:ext cx="143587" cy="229962"/>
          </a:xfrm>
          <a:custGeom>
            <a:avLst/>
            <a:gdLst>
              <a:gd name="connsiteX0" fmla="*/ 624554 w 624649"/>
              <a:gd name="connsiteY0" fmla="*/ 500253 h 1000410"/>
              <a:gd name="connsiteX1" fmla="*/ 0 w 624649"/>
              <a:gd name="connsiteY1" fmla="*/ 0 h 1000410"/>
              <a:gd name="connsiteX2" fmla="*/ 0 w 624649"/>
              <a:gd name="connsiteY2" fmla="*/ 1000411 h 1000410"/>
              <a:gd name="connsiteX3" fmla="*/ 624650 w 624649"/>
              <a:gd name="connsiteY3" fmla="*/ 500158 h 1000410"/>
            </a:gdLst>
            <a:ahLst/>
            <a:cxnLst>
              <a:cxn ang="0">
                <a:pos x="connsiteX0" y="connsiteY0"/>
              </a:cxn>
              <a:cxn ang="0">
                <a:pos x="connsiteX1" y="connsiteY1"/>
              </a:cxn>
              <a:cxn ang="0">
                <a:pos x="connsiteX2" y="connsiteY2"/>
              </a:cxn>
              <a:cxn ang="0">
                <a:pos x="connsiteX3" y="connsiteY3"/>
              </a:cxn>
            </a:cxnLst>
            <a:rect l="l" t="t" r="r" b="b"/>
            <a:pathLst>
              <a:path w="624649" h="1000410">
                <a:moveTo>
                  <a:pt x="624554" y="500253"/>
                </a:moveTo>
                <a:lnTo>
                  <a:pt x="0" y="0"/>
                </a:lnTo>
                <a:lnTo>
                  <a:pt x="0" y="1000411"/>
                </a:lnTo>
                <a:lnTo>
                  <a:pt x="624650" y="500158"/>
                </a:lnTo>
                <a:close/>
              </a:path>
            </a:pathLst>
          </a:custGeom>
          <a:solidFill>
            <a:srgbClr val="EBB13D"/>
          </a:solidFill>
          <a:ln w="9525" cap="flat">
            <a:noFill/>
            <a:prstDash val="solid"/>
            <a:miter/>
          </a:ln>
        </p:spPr>
        <p:txBody>
          <a:bodyPr rtlCol="0" anchor="ctr"/>
          <a:lstStyle/>
          <a:p>
            <a:endParaRPr lang="en-US" dirty="0"/>
          </a:p>
        </p:txBody>
      </p:sp>
      <p:sp>
        <p:nvSpPr>
          <p:cNvPr id="28" name="TextBox 27">
            <a:extLst>
              <a:ext uri="{FF2B5EF4-FFF2-40B4-BE49-F238E27FC236}">
                <a16:creationId xmlns:a16="http://schemas.microsoft.com/office/drawing/2014/main" id="{E18CA4A5-95DD-4410-82F8-E85031F4D351}"/>
              </a:ext>
            </a:extLst>
          </p:cNvPr>
          <p:cNvSpPr txBox="1"/>
          <p:nvPr/>
        </p:nvSpPr>
        <p:spPr>
          <a:xfrm>
            <a:off x="1581150" y="1094678"/>
            <a:ext cx="8782050" cy="4835939"/>
          </a:xfrm>
          <a:prstGeom prst="rect">
            <a:avLst/>
          </a:prstGeom>
          <a:noFill/>
        </p:spPr>
        <p:txBody>
          <a:bodyPr wrap="square" rtlCol="0">
            <a:spAutoFit/>
          </a:bodyPr>
          <a:lstStyle/>
          <a:p>
            <a:pPr rtl="1">
              <a:lnSpc>
                <a:spcPct val="250000"/>
              </a:lnSpc>
            </a:pPr>
            <a:r>
              <a:rPr lang="en-US" b="1" dirty="0" noProof="1">
                <a:solidFill>
                  <a:schemeClr val="tx1">
                    <a:lumMod val="75000"/>
                    <a:lumOff val="25000"/>
                  </a:schemeClr>
                </a:solidFill>
                <a:latin typeface="TheSans" panose="020B0503040302020203" pitchFamily="34" charset="-78"/>
                <a:cs typeface="TheSans" panose="020B0503040302020203" pitchFamily="34" charset="-78"/>
              </a:rPr>
              <a:t>Introduction </a:t>
            </a:r>
          </a:p>
          <a:p>
            <a:pPr rtl="1">
              <a:lnSpc>
                <a:spcPct val="250000"/>
              </a:lnSpc>
            </a:pPr>
            <a:r>
              <a:rPr lang="en-US" b="1" dirty="0" noProof="1">
                <a:solidFill>
                  <a:schemeClr val="tx1">
                    <a:lumMod val="75000"/>
                    <a:lumOff val="25000"/>
                  </a:schemeClr>
                </a:solidFill>
                <a:latin typeface="TheSans" panose="020B0503040302020203" pitchFamily="34" charset="-78"/>
                <a:cs typeface="TheSans" panose="020B0503040302020203" pitchFamily="34" charset="-78"/>
              </a:rPr>
              <a:t>Detailed scope of work</a:t>
            </a:r>
          </a:p>
          <a:p>
            <a:pPr rtl="1">
              <a:lnSpc>
                <a:spcPct val="250000"/>
              </a:lnSpc>
            </a:pPr>
            <a:r>
              <a:rPr lang="en-US" b="1" dirty="0" noProof="1">
                <a:solidFill>
                  <a:schemeClr val="tx1">
                    <a:lumMod val="75000"/>
                    <a:lumOff val="25000"/>
                  </a:schemeClr>
                </a:solidFill>
                <a:latin typeface="TheSans" panose="020B0503040302020203" pitchFamily="34" charset="-78"/>
                <a:cs typeface="TheSans" panose="020B0503040302020203" pitchFamily="34" charset="-78"/>
              </a:rPr>
              <a:t>Methodology</a:t>
            </a:r>
          </a:p>
          <a:p>
            <a:pPr rtl="1">
              <a:lnSpc>
                <a:spcPct val="250000"/>
              </a:lnSpc>
            </a:pPr>
            <a:r>
              <a:rPr lang="en-US" b="1" dirty="0" noProof="1">
                <a:solidFill>
                  <a:schemeClr val="tx1">
                    <a:lumMod val="75000"/>
                    <a:lumOff val="25000"/>
                  </a:schemeClr>
                </a:solidFill>
                <a:latin typeface="TheSans" panose="020B0503040302020203" pitchFamily="34" charset="-78"/>
                <a:cs typeface="TheSans" panose="020B0503040302020203" pitchFamily="34" charset="-78"/>
              </a:rPr>
              <a:t>Deliverables and reporting</a:t>
            </a:r>
          </a:p>
          <a:p>
            <a:pPr rtl="1">
              <a:lnSpc>
                <a:spcPct val="250000"/>
              </a:lnSpc>
            </a:pPr>
            <a:r>
              <a:rPr lang="en-US" b="1" dirty="0" noProof="1">
                <a:solidFill>
                  <a:schemeClr val="tx1">
                    <a:lumMod val="75000"/>
                    <a:lumOff val="25000"/>
                  </a:schemeClr>
                </a:solidFill>
                <a:latin typeface="TheSans" panose="020B0503040302020203" pitchFamily="34" charset="-78"/>
                <a:cs typeface="TheSans" panose="020B0503040302020203" pitchFamily="34" charset="-78"/>
              </a:rPr>
              <a:t>Resource deployment</a:t>
            </a:r>
          </a:p>
          <a:p>
            <a:pPr rtl="1">
              <a:lnSpc>
                <a:spcPct val="250000"/>
              </a:lnSpc>
            </a:pPr>
            <a:r>
              <a:rPr lang="en-US" b="1" dirty="0" noProof="1">
                <a:solidFill>
                  <a:schemeClr val="tx1">
                    <a:lumMod val="75000"/>
                    <a:lumOff val="25000"/>
                  </a:schemeClr>
                </a:solidFill>
                <a:latin typeface="TheSans" panose="020B0503040302020203" pitchFamily="34" charset="-78"/>
                <a:cs typeface="TheSans" panose="020B0503040302020203" pitchFamily="34" charset="-78"/>
              </a:rPr>
              <a:t>Schedule for work completion</a:t>
            </a:r>
          </a:p>
          <a:p>
            <a:pPr rtl="1">
              <a:lnSpc>
                <a:spcPct val="250000"/>
              </a:lnSpc>
            </a:pPr>
            <a:r>
              <a:rPr lang="en-US" b="1" dirty="0" noProof="1">
                <a:solidFill>
                  <a:schemeClr val="tx1">
                    <a:lumMod val="75000"/>
                    <a:lumOff val="25000"/>
                  </a:schemeClr>
                </a:solidFill>
                <a:latin typeface="TheSans" panose="020B0503040302020203" pitchFamily="34" charset="-78"/>
                <a:cs typeface="TheSans" panose="020B0503040302020203" pitchFamily="34" charset="-78"/>
              </a:rPr>
              <a:t>HSE and Welfare Measures for the workmen during the Works</a:t>
            </a:r>
          </a:p>
        </p:txBody>
      </p:sp>
      <p:sp>
        <p:nvSpPr>
          <p:cNvPr id="34" name="Freeform: Shape 33">
            <a:extLst>
              <a:ext uri="{FF2B5EF4-FFF2-40B4-BE49-F238E27FC236}">
                <a16:creationId xmlns:a16="http://schemas.microsoft.com/office/drawing/2014/main" id="{1BDF2D3E-2F19-432C-8C34-73793AF4C973}"/>
              </a:ext>
            </a:extLst>
          </p:cNvPr>
          <p:cNvSpPr/>
          <p:nvPr/>
        </p:nvSpPr>
        <p:spPr>
          <a:xfrm rot="10800000" flipH="1">
            <a:off x="1432962" y="2142792"/>
            <a:ext cx="143587" cy="229962"/>
          </a:xfrm>
          <a:custGeom>
            <a:avLst/>
            <a:gdLst>
              <a:gd name="connsiteX0" fmla="*/ 624554 w 624649"/>
              <a:gd name="connsiteY0" fmla="*/ 500253 h 1000410"/>
              <a:gd name="connsiteX1" fmla="*/ 0 w 624649"/>
              <a:gd name="connsiteY1" fmla="*/ 0 h 1000410"/>
              <a:gd name="connsiteX2" fmla="*/ 0 w 624649"/>
              <a:gd name="connsiteY2" fmla="*/ 1000411 h 1000410"/>
              <a:gd name="connsiteX3" fmla="*/ 624650 w 624649"/>
              <a:gd name="connsiteY3" fmla="*/ 500158 h 1000410"/>
            </a:gdLst>
            <a:ahLst/>
            <a:cxnLst>
              <a:cxn ang="0">
                <a:pos x="connsiteX0" y="connsiteY0"/>
              </a:cxn>
              <a:cxn ang="0">
                <a:pos x="connsiteX1" y="connsiteY1"/>
              </a:cxn>
              <a:cxn ang="0">
                <a:pos x="connsiteX2" y="connsiteY2"/>
              </a:cxn>
              <a:cxn ang="0">
                <a:pos x="connsiteX3" y="connsiteY3"/>
              </a:cxn>
            </a:cxnLst>
            <a:rect l="l" t="t" r="r" b="b"/>
            <a:pathLst>
              <a:path w="624649" h="1000410">
                <a:moveTo>
                  <a:pt x="624554" y="500253"/>
                </a:moveTo>
                <a:lnTo>
                  <a:pt x="0" y="0"/>
                </a:lnTo>
                <a:lnTo>
                  <a:pt x="0" y="1000411"/>
                </a:lnTo>
                <a:lnTo>
                  <a:pt x="624650" y="500158"/>
                </a:lnTo>
                <a:close/>
              </a:path>
            </a:pathLst>
          </a:custGeom>
          <a:solidFill>
            <a:srgbClr val="EBB13D"/>
          </a:solidFill>
          <a:ln w="9525" cap="flat">
            <a:noFill/>
            <a:prstDash val="solid"/>
            <a:miter/>
          </a:ln>
        </p:spPr>
        <p:txBody>
          <a:bodyPr rtlCol="0" anchor="ctr"/>
          <a:lstStyle/>
          <a:p>
            <a:endParaRPr lang="en-US" dirty="0"/>
          </a:p>
        </p:txBody>
      </p:sp>
      <p:sp>
        <p:nvSpPr>
          <p:cNvPr id="35" name="Freeform: Shape 34">
            <a:extLst>
              <a:ext uri="{FF2B5EF4-FFF2-40B4-BE49-F238E27FC236}">
                <a16:creationId xmlns:a16="http://schemas.microsoft.com/office/drawing/2014/main" id="{79739497-FC9E-4472-8220-0995541F71F7}"/>
              </a:ext>
            </a:extLst>
          </p:cNvPr>
          <p:cNvSpPr/>
          <p:nvPr/>
        </p:nvSpPr>
        <p:spPr>
          <a:xfrm rot="10800000" flipH="1">
            <a:off x="1432962" y="2826046"/>
            <a:ext cx="143587" cy="229962"/>
          </a:xfrm>
          <a:custGeom>
            <a:avLst/>
            <a:gdLst>
              <a:gd name="connsiteX0" fmla="*/ 624554 w 624649"/>
              <a:gd name="connsiteY0" fmla="*/ 500253 h 1000410"/>
              <a:gd name="connsiteX1" fmla="*/ 0 w 624649"/>
              <a:gd name="connsiteY1" fmla="*/ 0 h 1000410"/>
              <a:gd name="connsiteX2" fmla="*/ 0 w 624649"/>
              <a:gd name="connsiteY2" fmla="*/ 1000411 h 1000410"/>
              <a:gd name="connsiteX3" fmla="*/ 624650 w 624649"/>
              <a:gd name="connsiteY3" fmla="*/ 500158 h 1000410"/>
            </a:gdLst>
            <a:ahLst/>
            <a:cxnLst>
              <a:cxn ang="0">
                <a:pos x="connsiteX0" y="connsiteY0"/>
              </a:cxn>
              <a:cxn ang="0">
                <a:pos x="connsiteX1" y="connsiteY1"/>
              </a:cxn>
              <a:cxn ang="0">
                <a:pos x="connsiteX2" y="connsiteY2"/>
              </a:cxn>
              <a:cxn ang="0">
                <a:pos x="connsiteX3" y="connsiteY3"/>
              </a:cxn>
            </a:cxnLst>
            <a:rect l="l" t="t" r="r" b="b"/>
            <a:pathLst>
              <a:path w="624649" h="1000410">
                <a:moveTo>
                  <a:pt x="624554" y="500253"/>
                </a:moveTo>
                <a:lnTo>
                  <a:pt x="0" y="0"/>
                </a:lnTo>
                <a:lnTo>
                  <a:pt x="0" y="1000411"/>
                </a:lnTo>
                <a:lnTo>
                  <a:pt x="624650" y="500158"/>
                </a:lnTo>
                <a:close/>
              </a:path>
            </a:pathLst>
          </a:custGeom>
          <a:solidFill>
            <a:srgbClr val="EBB13D"/>
          </a:solidFill>
          <a:ln w="9525" cap="flat">
            <a:noFill/>
            <a:prstDash val="solid"/>
            <a:miter/>
          </a:ln>
        </p:spPr>
        <p:txBody>
          <a:bodyPr rtlCol="0" anchor="ctr"/>
          <a:lstStyle/>
          <a:p>
            <a:endParaRPr lang="en-US" dirty="0"/>
          </a:p>
        </p:txBody>
      </p:sp>
      <p:sp>
        <p:nvSpPr>
          <p:cNvPr id="36" name="Freeform: Shape 35">
            <a:extLst>
              <a:ext uri="{FF2B5EF4-FFF2-40B4-BE49-F238E27FC236}">
                <a16:creationId xmlns:a16="http://schemas.microsoft.com/office/drawing/2014/main" id="{30A02CEE-B8F9-41B1-BF76-E21E87006476}"/>
              </a:ext>
            </a:extLst>
          </p:cNvPr>
          <p:cNvSpPr/>
          <p:nvPr/>
        </p:nvSpPr>
        <p:spPr>
          <a:xfrm rot="10800000" flipH="1">
            <a:off x="1432962" y="3509299"/>
            <a:ext cx="143586" cy="229962"/>
          </a:xfrm>
          <a:custGeom>
            <a:avLst/>
            <a:gdLst>
              <a:gd name="connsiteX0" fmla="*/ 624554 w 624649"/>
              <a:gd name="connsiteY0" fmla="*/ 500253 h 1000410"/>
              <a:gd name="connsiteX1" fmla="*/ 0 w 624649"/>
              <a:gd name="connsiteY1" fmla="*/ 0 h 1000410"/>
              <a:gd name="connsiteX2" fmla="*/ 0 w 624649"/>
              <a:gd name="connsiteY2" fmla="*/ 1000411 h 1000410"/>
              <a:gd name="connsiteX3" fmla="*/ 624650 w 624649"/>
              <a:gd name="connsiteY3" fmla="*/ 500158 h 1000410"/>
            </a:gdLst>
            <a:ahLst/>
            <a:cxnLst>
              <a:cxn ang="0">
                <a:pos x="connsiteX0" y="connsiteY0"/>
              </a:cxn>
              <a:cxn ang="0">
                <a:pos x="connsiteX1" y="connsiteY1"/>
              </a:cxn>
              <a:cxn ang="0">
                <a:pos x="connsiteX2" y="connsiteY2"/>
              </a:cxn>
              <a:cxn ang="0">
                <a:pos x="connsiteX3" y="connsiteY3"/>
              </a:cxn>
            </a:cxnLst>
            <a:rect l="l" t="t" r="r" b="b"/>
            <a:pathLst>
              <a:path w="624649" h="1000410">
                <a:moveTo>
                  <a:pt x="624554" y="500253"/>
                </a:moveTo>
                <a:lnTo>
                  <a:pt x="0" y="0"/>
                </a:lnTo>
                <a:lnTo>
                  <a:pt x="0" y="1000411"/>
                </a:lnTo>
                <a:lnTo>
                  <a:pt x="624650" y="500158"/>
                </a:lnTo>
                <a:close/>
              </a:path>
            </a:pathLst>
          </a:custGeom>
          <a:solidFill>
            <a:srgbClr val="EBB13D"/>
          </a:solidFill>
          <a:ln w="9525" cap="flat">
            <a:noFill/>
            <a:prstDash val="solid"/>
            <a:miter/>
          </a:ln>
        </p:spPr>
        <p:txBody>
          <a:bodyPr rtlCol="0" anchor="ctr"/>
          <a:lstStyle/>
          <a:p>
            <a:endParaRPr lang="en-US" dirty="0"/>
          </a:p>
        </p:txBody>
      </p:sp>
      <p:sp>
        <p:nvSpPr>
          <p:cNvPr id="37" name="Freeform: Shape 36">
            <a:extLst>
              <a:ext uri="{FF2B5EF4-FFF2-40B4-BE49-F238E27FC236}">
                <a16:creationId xmlns:a16="http://schemas.microsoft.com/office/drawing/2014/main" id="{D3D311FC-A11B-4675-95FD-875B7725F6CE}"/>
              </a:ext>
            </a:extLst>
          </p:cNvPr>
          <p:cNvSpPr/>
          <p:nvPr/>
        </p:nvSpPr>
        <p:spPr>
          <a:xfrm rot="10800000" flipH="1">
            <a:off x="1432962" y="4210339"/>
            <a:ext cx="143586" cy="229962"/>
          </a:xfrm>
          <a:custGeom>
            <a:avLst/>
            <a:gdLst>
              <a:gd name="connsiteX0" fmla="*/ 624554 w 624649"/>
              <a:gd name="connsiteY0" fmla="*/ 500253 h 1000410"/>
              <a:gd name="connsiteX1" fmla="*/ 0 w 624649"/>
              <a:gd name="connsiteY1" fmla="*/ 0 h 1000410"/>
              <a:gd name="connsiteX2" fmla="*/ 0 w 624649"/>
              <a:gd name="connsiteY2" fmla="*/ 1000411 h 1000410"/>
              <a:gd name="connsiteX3" fmla="*/ 624650 w 624649"/>
              <a:gd name="connsiteY3" fmla="*/ 500158 h 1000410"/>
            </a:gdLst>
            <a:ahLst/>
            <a:cxnLst>
              <a:cxn ang="0">
                <a:pos x="connsiteX0" y="connsiteY0"/>
              </a:cxn>
              <a:cxn ang="0">
                <a:pos x="connsiteX1" y="connsiteY1"/>
              </a:cxn>
              <a:cxn ang="0">
                <a:pos x="connsiteX2" y="connsiteY2"/>
              </a:cxn>
              <a:cxn ang="0">
                <a:pos x="connsiteX3" y="connsiteY3"/>
              </a:cxn>
            </a:cxnLst>
            <a:rect l="l" t="t" r="r" b="b"/>
            <a:pathLst>
              <a:path w="624649" h="1000410">
                <a:moveTo>
                  <a:pt x="624554" y="500253"/>
                </a:moveTo>
                <a:lnTo>
                  <a:pt x="0" y="0"/>
                </a:lnTo>
                <a:lnTo>
                  <a:pt x="0" y="1000411"/>
                </a:lnTo>
                <a:lnTo>
                  <a:pt x="624650" y="500158"/>
                </a:lnTo>
                <a:close/>
              </a:path>
            </a:pathLst>
          </a:custGeom>
          <a:solidFill>
            <a:srgbClr val="EBB13D"/>
          </a:solidFill>
          <a:ln w="9525" cap="flat">
            <a:noFill/>
            <a:prstDash val="solid"/>
            <a:miter/>
          </a:ln>
        </p:spPr>
        <p:txBody>
          <a:bodyPr rtlCol="0" anchor="ctr"/>
          <a:lstStyle/>
          <a:p>
            <a:endParaRPr lang="en-US" dirty="0"/>
          </a:p>
        </p:txBody>
      </p:sp>
      <p:sp>
        <p:nvSpPr>
          <p:cNvPr id="13" name="Freeform: Shape 12">
            <a:extLst>
              <a:ext uri="{FF2B5EF4-FFF2-40B4-BE49-F238E27FC236}">
                <a16:creationId xmlns:a16="http://schemas.microsoft.com/office/drawing/2014/main" id="{680CEF64-F9BF-42D4-80F4-A00B91830E80}"/>
              </a:ext>
            </a:extLst>
          </p:cNvPr>
          <p:cNvSpPr/>
          <p:nvPr/>
        </p:nvSpPr>
        <p:spPr>
          <a:xfrm rot="10800000" flipH="1">
            <a:off x="1428361" y="4173890"/>
            <a:ext cx="143587" cy="229962"/>
          </a:xfrm>
          <a:custGeom>
            <a:avLst/>
            <a:gdLst>
              <a:gd name="connsiteX0" fmla="*/ 624554 w 624649"/>
              <a:gd name="connsiteY0" fmla="*/ 500253 h 1000410"/>
              <a:gd name="connsiteX1" fmla="*/ 0 w 624649"/>
              <a:gd name="connsiteY1" fmla="*/ 0 h 1000410"/>
              <a:gd name="connsiteX2" fmla="*/ 0 w 624649"/>
              <a:gd name="connsiteY2" fmla="*/ 1000411 h 1000410"/>
              <a:gd name="connsiteX3" fmla="*/ 624650 w 624649"/>
              <a:gd name="connsiteY3" fmla="*/ 500158 h 1000410"/>
            </a:gdLst>
            <a:ahLst/>
            <a:cxnLst>
              <a:cxn ang="0">
                <a:pos x="connsiteX0" y="connsiteY0"/>
              </a:cxn>
              <a:cxn ang="0">
                <a:pos x="connsiteX1" y="connsiteY1"/>
              </a:cxn>
              <a:cxn ang="0">
                <a:pos x="connsiteX2" y="connsiteY2"/>
              </a:cxn>
              <a:cxn ang="0">
                <a:pos x="connsiteX3" y="connsiteY3"/>
              </a:cxn>
            </a:cxnLst>
            <a:rect l="l" t="t" r="r" b="b"/>
            <a:pathLst>
              <a:path w="624649" h="1000410">
                <a:moveTo>
                  <a:pt x="624554" y="500253"/>
                </a:moveTo>
                <a:lnTo>
                  <a:pt x="0" y="0"/>
                </a:lnTo>
                <a:lnTo>
                  <a:pt x="0" y="1000411"/>
                </a:lnTo>
                <a:lnTo>
                  <a:pt x="624650" y="500158"/>
                </a:lnTo>
                <a:close/>
              </a:path>
            </a:pathLst>
          </a:custGeom>
          <a:solidFill>
            <a:srgbClr val="EBB13D"/>
          </a:solidFill>
          <a:ln w="9525" cap="flat">
            <a:noFill/>
            <a:prstDash val="solid"/>
            <a:miter/>
          </a:ln>
        </p:spPr>
        <p:txBody>
          <a:bodyPr rtlCol="0" anchor="ctr"/>
          <a:lstStyle/>
          <a:p>
            <a:endParaRPr lang="en-US" dirty="0"/>
          </a:p>
        </p:txBody>
      </p:sp>
      <p:sp>
        <p:nvSpPr>
          <p:cNvPr id="14" name="Freeform: Shape 13">
            <a:extLst>
              <a:ext uri="{FF2B5EF4-FFF2-40B4-BE49-F238E27FC236}">
                <a16:creationId xmlns:a16="http://schemas.microsoft.com/office/drawing/2014/main" id="{930F949D-59B6-4771-889C-0160311D2722}"/>
              </a:ext>
            </a:extLst>
          </p:cNvPr>
          <p:cNvSpPr/>
          <p:nvPr/>
        </p:nvSpPr>
        <p:spPr>
          <a:xfrm rot="10800000" flipH="1">
            <a:off x="1428361" y="4857143"/>
            <a:ext cx="143586" cy="229962"/>
          </a:xfrm>
          <a:custGeom>
            <a:avLst/>
            <a:gdLst>
              <a:gd name="connsiteX0" fmla="*/ 624554 w 624649"/>
              <a:gd name="connsiteY0" fmla="*/ 500253 h 1000410"/>
              <a:gd name="connsiteX1" fmla="*/ 0 w 624649"/>
              <a:gd name="connsiteY1" fmla="*/ 0 h 1000410"/>
              <a:gd name="connsiteX2" fmla="*/ 0 w 624649"/>
              <a:gd name="connsiteY2" fmla="*/ 1000411 h 1000410"/>
              <a:gd name="connsiteX3" fmla="*/ 624650 w 624649"/>
              <a:gd name="connsiteY3" fmla="*/ 500158 h 1000410"/>
            </a:gdLst>
            <a:ahLst/>
            <a:cxnLst>
              <a:cxn ang="0">
                <a:pos x="connsiteX0" y="connsiteY0"/>
              </a:cxn>
              <a:cxn ang="0">
                <a:pos x="connsiteX1" y="connsiteY1"/>
              </a:cxn>
              <a:cxn ang="0">
                <a:pos x="connsiteX2" y="connsiteY2"/>
              </a:cxn>
              <a:cxn ang="0">
                <a:pos x="connsiteX3" y="connsiteY3"/>
              </a:cxn>
            </a:cxnLst>
            <a:rect l="l" t="t" r="r" b="b"/>
            <a:pathLst>
              <a:path w="624649" h="1000410">
                <a:moveTo>
                  <a:pt x="624554" y="500253"/>
                </a:moveTo>
                <a:lnTo>
                  <a:pt x="0" y="0"/>
                </a:lnTo>
                <a:lnTo>
                  <a:pt x="0" y="1000411"/>
                </a:lnTo>
                <a:lnTo>
                  <a:pt x="624650" y="500158"/>
                </a:lnTo>
                <a:close/>
              </a:path>
            </a:pathLst>
          </a:custGeom>
          <a:solidFill>
            <a:srgbClr val="EBB13D"/>
          </a:solidFill>
          <a:ln w="9525"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53863FC7-4BEE-4BA3-9CBB-309B11943ACA}"/>
              </a:ext>
            </a:extLst>
          </p:cNvPr>
          <p:cNvSpPr/>
          <p:nvPr/>
        </p:nvSpPr>
        <p:spPr>
          <a:xfrm rot="10800000" flipH="1">
            <a:off x="1428361" y="5558183"/>
            <a:ext cx="143586" cy="229962"/>
          </a:xfrm>
          <a:custGeom>
            <a:avLst/>
            <a:gdLst>
              <a:gd name="connsiteX0" fmla="*/ 624554 w 624649"/>
              <a:gd name="connsiteY0" fmla="*/ 500253 h 1000410"/>
              <a:gd name="connsiteX1" fmla="*/ 0 w 624649"/>
              <a:gd name="connsiteY1" fmla="*/ 0 h 1000410"/>
              <a:gd name="connsiteX2" fmla="*/ 0 w 624649"/>
              <a:gd name="connsiteY2" fmla="*/ 1000411 h 1000410"/>
              <a:gd name="connsiteX3" fmla="*/ 624650 w 624649"/>
              <a:gd name="connsiteY3" fmla="*/ 500158 h 1000410"/>
            </a:gdLst>
            <a:ahLst/>
            <a:cxnLst>
              <a:cxn ang="0">
                <a:pos x="connsiteX0" y="connsiteY0"/>
              </a:cxn>
              <a:cxn ang="0">
                <a:pos x="connsiteX1" y="connsiteY1"/>
              </a:cxn>
              <a:cxn ang="0">
                <a:pos x="connsiteX2" y="connsiteY2"/>
              </a:cxn>
              <a:cxn ang="0">
                <a:pos x="connsiteX3" y="connsiteY3"/>
              </a:cxn>
            </a:cxnLst>
            <a:rect l="l" t="t" r="r" b="b"/>
            <a:pathLst>
              <a:path w="624649" h="1000410">
                <a:moveTo>
                  <a:pt x="624554" y="500253"/>
                </a:moveTo>
                <a:lnTo>
                  <a:pt x="0" y="0"/>
                </a:lnTo>
                <a:lnTo>
                  <a:pt x="0" y="1000411"/>
                </a:lnTo>
                <a:lnTo>
                  <a:pt x="624650" y="500158"/>
                </a:lnTo>
                <a:close/>
              </a:path>
            </a:pathLst>
          </a:custGeom>
          <a:solidFill>
            <a:srgbClr val="EBB13D"/>
          </a:solidFill>
          <a:ln w="9525" cap="flat">
            <a:noFill/>
            <a:prstDash val="solid"/>
            <a:miter/>
          </a:ln>
        </p:spPr>
        <p:txBody>
          <a:bodyPr rtlCol="0" anchor="ctr"/>
          <a:lstStyle/>
          <a:p>
            <a:endParaRPr lang="en-US" dirty="0"/>
          </a:p>
        </p:txBody>
      </p:sp>
    </p:spTree>
    <p:extLst>
      <p:ext uri="{BB962C8B-B14F-4D97-AF65-F5344CB8AC3E}">
        <p14:creationId xmlns:p14="http://schemas.microsoft.com/office/powerpoint/2010/main" val="10913460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51E559D-81E9-43B8-B6BE-8EF6B39A4FF4}"/>
              </a:ext>
            </a:extLst>
          </p:cNvPr>
          <p:cNvSpPr txBox="1"/>
          <p:nvPr/>
        </p:nvSpPr>
        <p:spPr>
          <a:xfrm>
            <a:off x="586269" y="914400"/>
            <a:ext cx="11427621" cy="1554480"/>
          </a:xfrm>
          <a:prstGeom prst="rect">
            <a:avLst/>
          </a:prstGeom>
          <a:noFill/>
        </p:spPr>
        <p:txBody>
          <a:bodyPr wrap="square" rtlCol="0">
            <a:spAutoFit/>
          </a:bodyPr>
          <a:lstStyle/>
          <a:p>
            <a:pPr algn="just">
              <a:lnSpc>
                <a:spcPct val="130000"/>
              </a:lnSpc>
            </a:pPr>
            <a:r>
              <a:rPr lang="en-US" sz="1400" dirty="0" noProof="1">
                <a:solidFill>
                  <a:schemeClr val="tx1">
                    <a:lumMod val="75000"/>
                    <a:lumOff val="25000"/>
                  </a:schemeClr>
                </a:solidFill>
                <a:latin typeface="Changa" pitchFamily="2" charset="-78"/>
                <a:cs typeface="Changa" pitchFamily="2" charset="-78"/>
              </a:rPr>
              <a:t>The objective of this Task Order is to provide Diriyah Company with responsive and reliable land surveying support for its minor works in the DG1 area, Riyadh.</a:t>
            </a:r>
          </a:p>
          <a:p>
            <a:pPr algn="just">
              <a:lnSpc>
                <a:spcPct val="130000"/>
              </a:lnSpc>
            </a:pPr>
            <a:r>
              <a:rPr lang="en-US" sz="1400" dirty="0" noProof="1">
                <a:solidFill>
                  <a:schemeClr val="tx1">
                    <a:lumMod val="75000"/>
                    <a:lumOff val="25000"/>
                  </a:schemeClr>
                </a:solidFill>
                <a:latin typeface="Changa" pitchFamily="2" charset="-78"/>
                <a:cs typeface="Changa" pitchFamily="2" charset="-78"/>
              </a:rPr>
              <a:t>The services cover the issuance of new title deeds (Main, Phase, Sub-Phase and Block), title deeds for plots and units, land survey and land demarcation, each instructed as an individual Minor Work Task.</a:t>
            </a:r>
            <a:endParaRPr lang="ar-SA" sz="1400" dirty="0">
              <a:solidFill>
                <a:schemeClr val="tx1">
                  <a:lumMod val="75000"/>
                  <a:lumOff val="25000"/>
                </a:schemeClr>
              </a:solidFill>
              <a:latin typeface="Changa" pitchFamily="2" charset="-78"/>
              <a:cs typeface="Changa" pitchFamily="2" charset="-78"/>
            </a:endParaRPr>
          </a:p>
        </p:txBody>
      </p:sp>
      <p:grpSp>
        <p:nvGrpSpPr>
          <p:cNvPr id="9" name="Group 8">
            <a:extLst>
              <a:ext uri="{FF2B5EF4-FFF2-40B4-BE49-F238E27FC236}">
                <a16:creationId xmlns:a16="http://schemas.microsoft.com/office/drawing/2014/main" id="{BF0BD76B-811E-4EFD-804B-67A8E433E89C}"/>
              </a:ext>
            </a:extLst>
          </p:cNvPr>
          <p:cNvGrpSpPr/>
          <p:nvPr/>
        </p:nvGrpSpPr>
        <p:grpSpPr>
          <a:xfrm>
            <a:off x="532764" y="259722"/>
            <a:ext cx="3533775" cy="619125"/>
            <a:chOff x="1544040" y="223837"/>
            <a:chExt cx="3533775"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40" y="223837"/>
              <a:ext cx="3533775"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3" y="333344"/>
              <a:ext cx="1705349"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Introduction</a:t>
              </a:r>
              <a:endParaRPr lang="en-US" sz="2000" dirty="0">
                <a:solidFill>
                  <a:schemeClr val="bg1"/>
                </a:solidFill>
              </a:endParaRPr>
            </a:p>
          </p:txBody>
        </p:sp>
      </p:grpSp>
      <p:sp>
        <p:nvSpPr>
          <p:cNvPr id="14" name="Rectangle 13"/>
          <p:cNvSpPr/>
          <p:nvPr/>
        </p:nvSpPr>
        <p:spPr>
          <a:xfrm>
            <a:off x="7772400" y="2606040"/>
            <a:ext cx="1600200" cy="621792"/>
          </a:xfrm>
          <a:prstGeom prst="rect">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818120" y="2606040"/>
            <a:ext cx="1508760" cy="621792"/>
          </a:xfrm>
          <a:prstGeom prst="rect">
            <a:avLst/>
          </a:prstGeom>
          <a:noFill/>
        </p:spPr>
        <p:txBody>
          <a:bodyPr wrap="square" lIns="45720" rIns="45720" tIns="18288" bIns="18288" anchor="ctr">
            <a:spAutoFit/>
          </a:bodyPr>
          <a:lstStyle/>
          <a:p>
            <a:pPr algn="l">
              <a:spcAft>
                <a:spcPts val="0"/>
              </a:spcAft>
            </a:pPr>
            <a:r>
              <a:rPr sz="1200" b="1" noProof="1">
                <a:solidFill>
                  <a:srgbClr val="FFFFFF"/>
                </a:solidFill>
                <a:latin typeface="TheSans-Bold"/>
                <a:cs typeface="TheSans-Bold"/>
              </a:rPr>
              <a:t>Client</a:t>
            </a:r>
          </a:p>
        </p:txBody>
      </p:sp>
      <p:sp>
        <p:nvSpPr>
          <p:cNvPr id="16" name="Rectangle 15"/>
          <p:cNvSpPr/>
          <p:nvPr/>
        </p:nvSpPr>
        <p:spPr>
          <a:xfrm>
            <a:off x="9372600" y="2606040"/>
            <a:ext cx="2286000" cy="621792"/>
          </a:xfrm>
          <a:prstGeom prst="rect">
            <a:avLst/>
          </a:prstGeom>
          <a:solidFill>
            <a:srgbClr val="F1F5FA"/>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9445752" y="2606040"/>
            <a:ext cx="2176272" cy="621792"/>
          </a:xfrm>
          <a:prstGeom prst="rect">
            <a:avLst/>
          </a:prstGeom>
          <a:noFill/>
        </p:spPr>
        <p:txBody>
          <a:bodyPr wrap="square" lIns="45720" rIns="45720" tIns="18288" bIns="18288" anchor="ctr">
            <a:spAutoFit/>
          </a:bodyPr>
          <a:lstStyle/>
          <a:p>
            <a:pPr algn="l">
              <a:spcAft>
                <a:spcPts val="0"/>
              </a:spcAft>
            </a:pPr>
            <a:r>
              <a:rPr sz="1200" b="0" noProof="1">
                <a:solidFill>
                  <a:srgbClr val="404040"/>
                </a:solidFill>
                <a:latin typeface="TheSans"/>
                <a:cs typeface="TheSans"/>
              </a:rPr>
              <a:t>Diriyah Company</a:t>
            </a:r>
          </a:p>
        </p:txBody>
      </p:sp>
      <p:sp>
        <p:nvSpPr>
          <p:cNvPr id="18" name="Rectangle 17"/>
          <p:cNvSpPr/>
          <p:nvPr/>
        </p:nvSpPr>
        <p:spPr>
          <a:xfrm>
            <a:off x="7772400" y="3300984"/>
            <a:ext cx="1600200" cy="621792"/>
          </a:xfrm>
          <a:prstGeom prst="rect">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7818120" y="3300984"/>
            <a:ext cx="1508760" cy="621792"/>
          </a:xfrm>
          <a:prstGeom prst="rect">
            <a:avLst/>
          </a:prstGeom>
          <a:noFill/>
        </p:spPr>
        <p:txBody>
          <a:bodyPr wrap="square" lIns="45720" rIns="45720" tIns="18288" bIns="18288" anchor="ctr">
            <a:spAutoFit/>
          </a:bodyPr>
          <a:lstStyle/>
          <a:p>
            <a:pPr algn="l">
              <a:spcAft>
                <a:spcPts val="0"/>
              </a:spcAft>
            </a:pPr>
            <a:r>
              <a:rPr sz="1200" b="1" noProof="1">
                <a:solidFill>
                  <a:srgbClr val="FFFFFF"/>
                </a:solidFill>
                <a:latin typeface="TheSans-Bold"/>
                <a:cs typeface="TheSans-Bold"/>
              </a:rPr>
              <a:t>Task Order</a:t>
            </a:r>
          </a:p>
        </p:txBody>
      </p:sp>
      <p:sp>
        <p:nvSpPr>
          <p:cNvPr id="20" name="Rectangle 19"/>
          <p:cNvSpPr/>
          <p:nvPr/>
        </p:nvSpPr>
        <p:spPr>
          <a:xfrm>
            <a:off x="9372600" y="3300984"/>
            <a:ext cx="2286000" cy="621792"/>
          </a:xfrm>
          <a:prstGeom prst="rect">
            <a:avLst/>
          </a:prstGeom>
          <a:solidFill>
            <a:srgbClr val="F1F5FA"/>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445752" y="3300984"/>
            <a:ext cx="2176272" cy="621792"/>
          </a:xfrm>
          <a:prstGeom prst="rect">
            <a:avLst/>
          </a:prstGeom>
          <a:noFill/>
        </p:spPr>
        <p:txBody>
          <a:bodyPr wrap="square" lIns="45720" rIns="45720" tIns="18288" bIns="18288" anchor="ctr">
            <a:spAutoFit/>
          </a:bodyPr>
          <a:lstStyle/>
          <a:p>
            <a:pPr algn="l">
              <a:spcAft>
                <a:spcPts val="0"/>
              </a:spcAft>
            </a:pPr>
            <a:r>
              <a:rPr sz="1200" b="0" noProof="1">
                <a:solidFill>
                  <a:srgbClr val="404040"/>
                </a:solidFill>
                <a:latin typeface="TheSans"/>
                <a:cs typeface="TheSans"/>
              </a:rPr>
              <a:t>No. 4500009743</a:t>
            </a:r>
          </a:p>
        </p:txBody>
      </p:sp>
      <p:sp>
        <p:nvSpPr>
          <p:cNvPr id="22" name="Rectangle 21"/>
          <p:cNvSpPr/>
          <p:nvPr/>
        </p:nvSpPr>
        <p:spPr>
          <a:xfrm>
            <a:off x="7772400" y="3995928"/>
            <a:ext cx="1600200" cy="621792"/>
          </a:xfrm>
          <a:prstGeom prst="rect">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7818120" y="3995928"/>
            <a:ext cx="1508760" cy="621792"/>
          </a:xfrm>
          <a:prstGeom prst="rect">
            <a:avLst/>
          </a:prstGeom>
          <a:noFill/>
        </p:spPr>
        <p:txBody>
          <a:bodyPr wrap="square" lIns="45720" rIns="45720" tIns="18288" bIns="18288" anchor="ctr">
            <a:spAutoFit/>
          </a:bodyPr>
          <a:lstStyle/>
          <a:p>
            <a:pPr algn="l">
              <a:spcAft>
                <a:spcPts val="0"/>
              </a:spcAft>
            </a:pPr>
            <a:r>
              <a:rPr sz="1200" b="1" noProof="1">
                <a:solidFill>
                  <a:srgbClr val="FFFFFF"/>
                </a:solidFill>
                <a:latin typeface="TheSans-Bold"/>
                <a:cs typeface="TheSans-Bold"/>
              </a:rPr>
              <a:t>Place</a:t>
            </a:r>
          </a:p>
        </p:txBody>
      </p:sp>
      <p:sp>
        <p:nvSpPr>
          <p:cNvPr id="24" name="Rectangle 23"/>
          <p:cNvSpPr/>
          <p:nvPr/>
        </p:nvSpPr>
        <p:spPr>
          <a:xfrm>
            <a:off x="9372600" y="3995928"/>
            <a:ext cx="2286000" cy="621792"/>
          </a:xfrm>
          <a:prstGeom prst="rect">
            <a:avLst/>
          </a:prstGeom>
          <a:solidFill>
            <a:srgbClr val="F1F5FA"/>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445752" y="3995928"/>
            <a:ext cx="2176272" cy="621792"/>
          </a:xfrm>
          <a:prstGeom prst="rect">
            <a:avLst/>
          </a:prstGeom>
          <a:noFill/>
        </p:spPr>
        <p:txBody>
          <a:bodyPr wrap="square" lIns="45720" rIns="45720" tIns="18288" bIns="18288" anchor="ctr">
            <a:spAutoFit/>
          </a:bodyPr>
          <a:lstStyle/>
          <a:p>
            <a:pPr algn="l">
              <a:spcAft>
                <a:spcPts val="0"/>
              </a:spcAft>
            </a:pPr>
            <a:r>
              <a:rPr sz="1200" b="0" noProof="1">
                <a:solidFill>
                  <a:srgbClr val="404040"/>
                </a:solidFill>
                <a:latin typeface="TheSans"/>
                <a:cs typeface="TheSans"/>
              </a:rPr>
              <a:t>DG1 area, Riyadh</a:t>
            </a:r>
          </a:p>
        </p:txBody>
      </p:sp>
      <p:sp>
        <p:nvSpPr>
          <p:cNvPr id="26" name="Rectangle 25"/>
          <p:cNvSpPr/>
          <p:nvPr/>
        </p:nvSpPr>
        <p:spPr>
          <a:xfrm>
            <a:off x="7772400" y="4690872"/>
            <a:ext cx="1600200" cy="621792"/>
          </a:xfrm>
          <a:prstGeom prst="rect">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818120" y="4690872"/>
            <a:ext cx="1508760" cy="621792"/>
          </a:xfrm>
          <a:prstGeom prst="rect">
            <a:avLst/>
          </a:prstGeom>
          <a:noFill/>
        </p:spPr>
        <p:txBody>
          <a:bodyPr wrap="square" lIns="45720" rIns="45720" tIns="18288" bIns="18288" anchor="ctr">
            <a:spAutoFit/>
          </a:bodyPr>
          <a:lstStyle/>
          <a:p>
            <a:pPr algn="l">
              <a:spcAft>
                <a:spcPts val="0"/>
              </a:spcAft>
            </a:pPr>
            <a:r>
              <a:rPr sz="1200" b="1" noProof="1">
                <a:solidFill>
                  <a:srgbClr val="FFFFFF"/>
                </a:solidFill>
                <a:latin typeface="TheSans-Bold"/>
                <a:cs typeface="TheSans-Bold"/>
              </a:rPr>
              <a:t>Start</a:t>
            </a:r>
          </a:p>
        </p:txBody>
      </p:sp>
      <p:sp>
        <p:nvSpPr>
          <p:cNvPr id="28" name="Rectangle 27"/>
          <p:cNvSpPr/>
          <p:nvPr/>
        </p:nvSpPr>
        <p:spPr>
          <a:xfrm>
            <a:off x="9372600" y="4690872"/>
            <a:ext cx="2286000" cy="621792"/>
          </a:xfrm>
          <a:prstGeom prst="rect">
            <a:avLst/>
          </a:prstGeom>
          <a:solidFill>
            <a:srgbClr val="F1F5FA"/>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445752" y="4690872"/>
            <a:ext cx="2176272" cy="621792"/>
          </a:xfrm>
          <a:prstGeom prst="rect">
            <a:avLst/>
          </a:prstGeom>
          <a:noFill/>
        </p:spPr>
        <p:txBody>
          <a:bodyPr wrap="square" lIns="45720" rIns="45720" tIns="18288" bIns="18288" anchor="ctr">
            <a:spAutoFit/>
          </a:bodyPr>
          <a:lstStyle/>
          <a:p>
            <a:pPr algn="l">
              <a:spcAft>
                <a:spcPts val="0"/>
              </a:spcAft>
            </a:pPr>
            <a:r>
              <a:rPr sz="1200" b="0" noProof="1">
                <a:solidFill>
                  <a:srgbClr val="404040"/>
                </a:solidFill>
                <a:latin typeface="TheSans"/>
                <a:cs typeface="TheSans"/>
              </a:rPr>
              <a:t>11 October 2026</a:t>
            </a:r>
          </a:p>
        </p:txBody>
      </p:sp>
      <p:sp>
        <p:nvSpPr>
          <p:cNvPr id="30" name="Rectangle 29"/>
          <p:cNvSpPr/>
          <p:nvPr/>
        </p:nvSpPr>
        <p:spPr>
          <a:xfrm>
            <a:off x="7772400" y="5385816"/>
            <a:ext cx="1600200" cy="621792"/>
          </a:xfrm>
          <a:prstGeom prst="rect">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818120" y="5385816"/>
            <a:ext cx="1508760" cy="621792"/>
          </a:xfrm>
          <a:prstGeom prst="rect">
            <a:avLst/>
          </a:prstGeom>
          <a:noFill/>
        </p:spPr>
        <p:txBody>
          <a:bodyPr wrap="square" lIns="45720" rIns="45720" tIns="18288" bIns="18288" anchor="ctr">
            <a:spAutoFit/>
          </a:bodyPr>
          <a:lstStyle/>
          <a:p>
            <a:pPr algn="l">
              <a:spcAft>
                <a:spcPts val="0"/>
              </a:spcAft>
            </a:pPr>
            <a:r>
              <a:rPr sz="1200" b="1" noProof="1">
                <a:solidFill>
                  <a:srgbClr val="FFFFFF"/>
                </a:solidFill>
                <a:latin typeface="TheSans-Bold"/>
                <a:cs typeface="TheSans-Bold"/>
              </a:rPr>
              <a:t>Completion</a:t>
            </a:r>
          </a:p>
        </p:txBody>
      </p:sp>
      <p:sp>
        <p:nvSpPr>
          <p:cNvPr id="32" name="Rectangle 31"/>
          <p:cNvSpPr/>
          <p:nvPr/>
        </p:nvSpPr>
        <p:spPr>
          <a:xfrm>
            <a:off x="9372600" y="5385816"/>
            <a:ext cx="2286000" cy="621792"/>
          </a:xfrm>
          <a:prstGeom prst="rect">
            <a:avLst/>
          </a:prstGeom>
          <a:solidFill>
            <a:srgbClr val="F1F5FA"/>
          </a:solidFill>
          <a:ln w="9525">
            <a:solidFill>
              <a:srgbClr val="C9D3E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445752" y="5385816"/>
            <a:ext cx="2176272" cy="621792"/>
          </a:xfrm>
          <a:prstGeom prst="rect">
            <a:avLst/>
          </a:prstGeom>
          <a:noFill/>
        </p:spPr>
        <p:txBody>
          <a:bodyPr wrap="square" lIns="45720" rIns="45720" tIns="18288" bIns="18288" anchor="ctr">
            <a:spAutoFit/>
          </a:bodyPr>
          <a:lstStyle/>
          <a:p>
            <a:pPr algn="l">
              <a:spcAft>
                <a:spcPts val="0"/>
              </a:spcAft>
            </a:pPr>
            <a:r>
              <a:rPr sz="1200" b="0" noProof="1">
                <a:solidFill>
                  <a:srgbClr val="404040"/>
                </a:solidFill>
                <a:latin typeface="TheSans"/>
                <a:cs typeface="TheSans"/>
              </a:rPr>
              <a:t>09 November 2029</a:t>
            </a:r>
          </a:p>
        </p:txBody>
      </p:sp>
      <p:pic>
        <p:nvPicPr>
          <p:cNvPr id="34" name="Picture 33" descr="triptych_q.png"/>
          <p:cNvPicPr>
            <a:picLocks noChangeAspect="1"/>
          </p:cNvPicPr>
          <p:nvPr/>
        </p:nvPicPr>
        <p:blipFill>
          <a:blip r:embed="rId7"/>
          <a:srcRect l="20" r="20"/>
          <a:stretch>
            <a:fillRect/>
          </a:stretch>
        </p:blipFill>
        <p:spPr>
          <a:xfrm>
            <a:off x="548640" y="2560320"/>
            <a:ext cx="6858000" cy="3305060"/>
          </a:xfrm>
          <a:prstGeom prst="rect">
            <a:avLst/>
          </a:prstGeom>
        </p:spPr>
      </p:pic>
      <p:sp>
        <p:nvSpPr>
          <p:cNvPr id="35" name="TextBox 34"/>
          <p:cNvSpPr txBox="1"/>
          <p:nvPr/>
        </p:nvSpPr>
        <p:spPr>
          <a:xfrm>
            <a:off x="548640" y="5883668"/>
            <a:ext cx="6858000" cy="256032"/>
          </a:xfrm>
          <a:prstGeom prst="rect">
            <a:avLst/>
          </a:prstGeom>
          <a:noFill/>
        </p:spPr>
        <p:txBody>
          <a:bodyPr wrap="square" lIns="45720" rIns="45720" tIns="18288" bIns="18288" anchor="t">
            <a:spAutoFit/>
          </a:bodyPr>
          <a:lstStyle/>
          <a:p>
            <a:pPr algn="l">
              <a:spcAft>
                <a:spcPts val="0"/>
              </a:spcAft>
            </a:pPr>
            <a:r>
              <a:rPr sz="950" b="0" noProof="1">
                <a:solidFill>
                  <a:srgbClr val="7F8692"/>
                </a:solidFill>
                <a:latin typeface="TheSans"/>
                <a:cs typeface="TheSans"/>
              </a:rPr>
              <a:t>Satellite views: Riyadh Region (NASA Blue Marble) and DG1 with its surroundings (Esri). DG1 extent indicative.</a:t>
            </a:r>
          </a:p>
        </p:txBody>
      </p:sp>
    </p:spTree>
    <p:extLst>
      <p:ext uri="{BB962C8B-B14F-4D97-AF65-F5344CB8AC3E}">
        <p14:creationId xmlns:p14="http://schemas.microsoft.com/office/powerpoint/2010/main" val="19539873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dg1_fullscreen_map.jpg"/>
          <p:cNvPicPr>
            <a:picLocks noChangeAspect="1"/>
          </p:cNvPicPr>
          <p:nvPr/>
        </p:nvPicPr>
        <p:blipFill>
          <a:blip r:embed="rId6"/>
          <a:srcRect l="12" r="12"/>
          <a:stretch>
            <a:fillRect/>
          </a:stretch>
        </p:blipFill>
        <p:spPr>
          <a:xfrm>
            <a:off x="0" y="0"/>
            <a:ext cx="12191695" cy="6446520"/>
          </a:xfrm>
          <a:prstGeom prst="rect">
            <a:avLst/>
          </a:prstGeom>
        </p:spPr>
      </p:pic>
      <p:grpSp>
        <p:nvGrpSpPr>
          <p:cNvPr id="9" name="Group 8">
            <a:extLst>
              <a:ext uri="{FF2B5EF4-FFF2-40B4-BE49-F238E27FC236}">
                <a16:creationId xmlns:a16="http://schemas.microsoft.com/office/drawing/2014/main" id="{BF0BD76B-811E-4EFD-804B-67A8E433E89C}"/>
              </a:ext>
            </a:extLst>
          </p:cNvPr>
          <p:cNvGrpSpPr/>
          <p:nvPr/>
        </p:nvGrpSpPr>
        <p:grpSpPr>
          <a:xfrm>
            <a:off x="532764" y="259722"/>
            <a:ext cx="3533775" cy="619125"/>
            <a:chOff x="1544040" y="223837"/>
            <a:chExt cx="3533775"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40" y="223837"/>
              <a:ext cx="3533775"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3" y="333344"/>
              <a:ext cx="1705349"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Introduction</a:t>
              </a:r>
              <a:endParaRPr lang="en-US" sz="2000" dirty="0">
                <a:solidFill>
                  <a:schemeClr val="bg1"/>
                </a:solidFill>
              </a:endParaRPr>
            </a:p>
          </p:txBody>
        </p:sp>
      </p:grpSp>
    </p:spTree>
    <p:extLst>
      <p:ext uri="{BB962C8B-B14F-4D97-AF65-F5344CB8AC3E}">
        <p14:creationId xmlns:p14="http://schemas.microsoft.com/office/powerpoint/2010/main" val="1424164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0BD76B-811E-4EFD-804B-67A8E433E89C}"/>
              </a:ext>
            </a:extLst>
          </p:cNvPr>
          <p:cNvGrpSpPr/>
          <p:nvPr/>
        </p:nvGrpSpPr>
        <p:grpSpPr>
          <a:xfrm>
            <a:off x="567795" y="227737"/>
            <a:ext cx="4672014" cy="619125"/>
            <a:chOff x="1544039" y="223837"/>
            <a:chExt cx="4543427"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39" y="223837"/>
              <a:ext cx="4543426"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1" y="333344"/>
              <a:ext cx="3157915"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Methodology</a:t>
              </a:r>
            </a:p>
          </p:txBody>
        </p:sp>
      </p:grpSp>
      <p:graphicFrame>
        <p:nvGraphicFramePr>
          <p:cNvPr id="13" name="Diagram 12">
            <a:extLst>
              <a:ext uri="{FF2B5EF4-FFF2-40B4-BE49-F238E27FC236}">
                <a16:creationId xmlns:a16="http://schemas.microsoft.com/office/drawing/2014/main" id="{3EB03615-4DD9-4D79-AB77-5EE7C8BE36DE}"/>
              </a:ext>
            </a:extLst>
          </p:cNvPr>
          <p:cNvGraphicFramePr/>
          <p:nvPr>
            <p:extLst>
              <p:ext uri="{D42A27DB-BD31-4B8C-83A1-F6EECF244321}">
                <p14:modId xmlns:p14="http://schemas.microsoft.com/office/powerpoint/2010/main" val="1737720995"/>
              </p:ext>
            </p:extLst>
          </p:nvPr>
        </p:nvGraphicFramePr>
        <p:xfrm>
          <a:off x="477810" y="866509"/>
          <a:ext cx="11157148" cy="56029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4" name="Rectangle 13">
            <a:extLst>
              <a:ext uri="{FF2B5EF4-FFF2-40B4-BE49-F238E27FC236}">
                <a16:creationId xmlns:a16="http://schemas.microsoft.com/office/drawing/2014/main" id="{6002D453-7493-4D49-B4AC-26F8365DE6DC}"/>
              </a:ext>
            </a:extLst>
          </p:cNvPr>
          <p:cNvSpPr/>
          <p:nvPr/>
        </p:nvSpPr>
        <p:spPr>
          <a:xfrm>
            <a:off x="477810" y="937085"/>
            <a:ext cx="5945450" cy="425977"/>
          </a:xfrm>
          <a:prstGeom prst="rect">
            <a:avLst/>
          </a:prstGeom>
          <a:solidFill>
            <a:schemeClr val="accent1">
              <a:lumMod val="40000"/>
              <a:lumOff val="60000"/>
              <a:alpha val="4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20000"/>
              </a:lnSpc>
            </a:pPr>
            <a:r>
              <a:rPr lang="en-US" sz="1600" b="1" kern="400" spc="110" dirty="0" noProof="1">
                <a:solidFill>
                  <a:schemeClr val="tx1">
                    <a:lumMod val="65000"/>
                    <a:lumOff val="35000"/>
                  </a:schemeClr>
                </a:solidFill>
                <a:effectLst/>
                <a:latin typeface="Changa" pitchFamily="2" charset="-78"/>
                <a:ea typeface="+mn-ea"/>
                <a:cs typeface="Changa" pitchFamily="2" charset="-78"/>
              </a:rPr>
              <a:t>  </a:t>
            </a:r>
            <a:r>
              <a:rPr lang="en-US" sz="1600" b="1" kern="400" spc="110" dirty="0" err="1" noProof="1">
                <a:solidFill>
                  <a:schemeClr val="tx1">
                    <a:lumMod val="65000"/>
                    <a:lumOff val="35000"/>
                  </a:schemeClr>
                </a:solidFill>
                <a:effectLst/>
                <a:latin typeface="Changa" pitchFamily="2" charset="-78"/>
                <a:ea typeface="+mn-ea"/>
                <a:cs typeface="Changa" pitchFamily="2" charset="-78"/>
              </a:rPr>
              <a:t>Programme stages of each Task Order</a:t>
            </a:r>
          </a:p>
        </p:txBody>
      </p:sp>
    </p:spTree>
    <p:extLst>
      <p:ext uri="{BB962C8B-B14F-4D97-AF65-F5344CB8AC3E}">
        <p14:creationId xmlns:p14="http://schemas.microsoft.com/office/powerpoint/2010/main" val="24922877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0BD76B-811E-4EFD-804B-67A8E433E89C}"/>
              </a:ext>
            </a:extLst>
          </p:cNvPr>
          <p:cNvGrpSpPr/>
          <p:nvPr/>
        </p:nvGrpSpPr>
        <p:grpSpPr>
          <a:xfrm>
            <a:off x="567795" y="227737"/>
            <a:ext cx="4672014" cy="619125"/>
            <a:chOff x="1544039" y="223837"/>
            <a:chExt cx="4543427"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39" y="223837"/>
              <a:ext cx="4543426"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1" y="333344"/>
              <a:ext cx="3157915"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Methodology</a:t>
              </a:r>
            </a:p>
          </p:txBody>
        </p:sp>
      </p:grpSp>
      <p:sp>
        <p:nvSpPr>
          <p:cNvPr id="14" name="Rectangle 13">
            <a:extLst>
              <a:ext uri="{FF2B5EF4-FFF2-40B4-BE49-F238E27FC236}">
                <a16:creationId xmlns:a16="http://schemas.microsoft.com/office/drawing/2014/main" id="{6002D453-7493-4D49-B4AC-26F8365DE6DC}"/>
              </a:ext>
            </a:extLst>
          </p:cNvPr>
          <p:cNvSpPr/>
          <p:nvPr/>
        </p:nvSpPr>
        <p:spPr>
          <a:xfrm>
            <a:off x="477810" y="937085"/>
            <a:ext cx="5945450" cy="425977"/>
          </a:xfrm>
          <a:prstGeom prst="rect">
            <a:avLst/>
          </a:prstGeom>
          <a:solidFill>
            <a:schemeClr val="accent1">
              <a:lumMod val="40000"/>
              <a:lumOff val="60000"/>
              <a:alpha val="4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20000"/>
              </a:lnSpc>
            </a:pPr>
            <a:r>
              <a:rPr lang="en-US" sz="1600" b="1" kern="400" spc="110" dirty="0" noProof="1">
                <a:solidFill>
                  <a:schemeClr val="tx1">
                    <a:lumMod val="65000"/>
                    <a:lumOff val="35000"/>
                  </a:schemeClr>
                </a:solidFill>
                <a:effectLst/>
                <a:latin typeface="Changa" pitchFamily="2" charset="-78"/>
                <a:ea typeface="+mn-ea"/>
                <a:cs typeface="Changa" pitchFamily="2" charset="-78"/>
              </a:rPr>
              <a:t>Quality control of survey outputs:</a:t>
            </a:r>
          </a:p>
        </p:txBody>
      </p:sp>
      <p:cxnSp>
        <p:nvCxnSpPr>
          <p:cNvPr id="17" name="Straight Connector 16">
            <a:extLst>
              <a:ext uri="{FF2B5EF4-FFF2-40B4-BE49-F238E27FC236}">
                <a16:creationId xmlns:a16="http://schemas.microsoft.com/office/drawing/2014/main" id="{CF712617-4E93-403A-AE63-CE4F60AB7A9E}"/>
              </a:ext>
            </a:extLst>
          </p:cNvPr>
          <p:cNvCxnSpPr>
            <a:cxnSpLocks/>
          </p:cNvCxnSpPr>
          <p:nvPr/>
        </p:nvCxnSpPr>
        <p:spPr>
          <a:xfrm flipH="1" flipV="1">
            <a:off x="0" y="1714500"/>
            <a:ext cx="63500" cy="83430"/>
          </a:xfrm>
          <a:prstGeom prst="line">
            <a:avLst/>
          </a:prstGeom>
          <a:ln>
            <a:solidFill>
              <a:srgbClr val="DBCAA1"/>
            </a:solidFill>
          </a:ln>
        </p:spPr>
        <p:style>
          <a:lnRef idx="2">
            <a:schemeClr val="accent4"/>
          </a:lnRef>
          <a:fillRef idx="0">
            <a:schemeClr val="accent4"/>
          </a:fillRef>
          <a:effectRef idx="1">
            <a:schemeClr val="accent4"/>
          </a:effectRef>
          <a:fontRef idx="minor">
            <a:schemeClr val="tx1"/>
          </a:fontRef>
        </p:style>
      </p:cxnSp>
      <p:sp>
        <p:nvSpPr>
          <p:cNvPr id="18" name="Rounded Rectangle 17"/>
          <p:cNvSpPr/>
          <p:nvPr/>
        </p:nvSpPr>
        <p:spPr>
          <a:xfrm>
            <a:off x="548640" y="1554480"/>
            <a:ext cx="1920240" cy="2331720"/>
          </a:xfrm>
          <a:prstGeom prst="roundRect">
            <a:avLst>
              <a:gd name="adj" fmla="val 6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548640" y="1554480"/>
            <a:ext cx="1920240" cy="502920"/>
          </a:xfrm>
          <a:prstGeom prst="roundRect">
            <a:avLst>
              <a:gd name="adj" fmla="val 18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noProof="1">
                <a:solidFill>
                  <a:srgbClr val="FFFFFF"/>
                </a:solidFill>
                <a:latin typeface="TheSans-Bold"/>
                <a:cs typeface="TheSans-Bold"/>
              </a:rPr>
              <a:t>Descriptive data</a:t>
            </a:r>
          </a:p>
        </p:txBody>
      </p:sp>
      <p:sp>
        <p:nvSpPr>
          <p:cNvPr id="20" name="Rounded Rectangle 19"/>
          <p:cNvSpPr/>
          <p:nvPr/>
        </p:nvSpPr>
        <p:spPr>
          <a:xfrm>
            <a:off x="731520" y="2240280"/>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Boundaries</a:t>
            </a:r>
          </a:p>
        </p:txBody>
      </p:sp>
      <p:sp>
        <p:nvSpPr>
          <p:cNvPr id="21" name="Rounded Rectangle 20"/>
          <p:cNvSpPr/>
          <p:nvPr/>
        </p:nvSpPr>
        <p:spPr>
          <a:xfrm>
            <a:off x="731520" y="2770632"/>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Lengths</a:t>
            </a:r>
          </a:p>
        </p:txBody>
      </p:sp>
      <p:sp>
        <p:nvSpPr>
          <p:cNvPr id="22" name="Rounded Rectangle 21"/>
          <p:cNvSpPr/>
          <p:nvPr/>
        </p:nvSpPr>
        <p:spPr>
          <a:xfrm>
            <a:off x="731520" y="3300984"/>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Area</a:t>
            </a:r>
          </a:p>
        </p:txBody>
      </p:sp>
      <p:sp>
        <p:nvSpPr>
          <p:cNvPr id="23" name="Rounded Rectangle 22"/>
          <p:cNvSpPr/>
          <p:nvPr/>
        </p:nvSpPr>
        <p:spPr>
          <a:xfrm>
            <a:off x="2606040" y="1554480"/>
            <a:ext cx="1920240" cy="2331720"/>
          </a:xfrm>
          <a:prstGeom prst="roundRect">
            <a:avLst>
              <a:gd name="adj" fmla="val 6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2606040" y="1554480"/>
            <a:ext cx="1920240" cy="502920"/>
          </a:xfrm>
          <a:prstGeom prst="roundRect">
            <a:avLst>
              <a:gd name="adj" fmla="val 18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noProof="1">
                <a:solidFill>
                  <a:srgbClr val="FFFFFF"/>
                </a:solidFill>
                <a:latin typeface="TheSans-Bold"/>
                <a:cs typeface="TheSans-Bold"/>
              </a:rPr>
              <a:t>Deed data</a:t>
            </a:r>
          </a:p>
        </p:txBody>
      </p:sp>
      <p:sp>
        <p:nvSpPr>
          <p:cNvPr id="25" name="Rounded Rectangle 24"/>
          <p:cNvSpPr/>
          <p:nvPr/>
        </p:nvSpPr>
        <p:spPr>
          <a:xfrm>
            <a:off x="2788920" y="2240280"/>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Deed number</a:t>
            </a:r>
          </a:p>
        </p:txBody>
      </p:sp>
      <p:sp>
        <p:nvSpPr>
          <p:cNvPr id="26" name="Rounded Rectangle 25"/>
          <p:cNvSpPr/>
          <p:nvPr/>
        </p:nvSpPr>
        <p:spPr>
          <a:xfrm>
            <a:off x="2788920" y="2770632"/>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Owner</a:t>
            </a:r>
          </a:p>
        </p:txBody>
      </p:sp>
      <p:sp>
        <p:nvSpPr>
          <p:cNvPr id="27" name="Rounded Rectangle 26"/>
          <p:cNvSpPr/>
          <p:nvPr/>
        </p:nvSpPr>
        <p:spPr>
          <a:xfrm>
            <a:off x="2788920" y="3300984"/>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ID number</a:t>
            </a:r>
          </a:p>
        </p:txBody>
      </p:sp>
      <p:sp>
        <p:nvSpPr>
          <p:cNvPr id="28" name="Rounded Rectangle 27"/>
          <p:cNvSpPr/>
          <p:nvPr/>
        </p:nvSpPr>
        <p:spPr>
          <a:xfrm>
            <a:off x="4663440" y="1554480"/>
            <a:ext cx="1920240" cy="2331720"/>
          </a:xfrm>
          <a:prstGeom prst="roundRect">
            <a:avLst>
              <a:gd name="adj" fmla="val 6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4663440" y="1554480"/>
            <a:ext cx="1920240" cy="502920"/>
          </a:xfrm>
          <a:prstGeom prst="roundRect">
            <a:avLst>
              <a:gd name="adj" fmla="val 18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noProof="1">
                <a:solidFill>
                  <a:srgbClr val="FFFFFF"/>
                </a:solidFill>
                <a:latin typeface="TheSans-Bold"/>
                <a:cs typeface="TheSans-Bold"/>
              </a:rPr>
              <a:t>CAD drawing</a:t>
            </a:r>
          </a:p>
        </p:txBody>
      </p:sp>
      <p:sp>
        <p:nvSpPr>
          <p:cNvPr id="30" name="Rounded Rectangle 29"/>
          <p:cNvSpPr/>
          <p:nvPr/>
        </p:nvSpPr>
        <p:spPr>
          <a:xfrm>
            <a:off x="4846320" y="2240280"/>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Coordinates</a:t>
            </a:r>
          </a:p>
        </p:txBody>
      </p:sp>
      <p:sp>
        <p:nvSpPr>
          <p:cNvPr id="31" name="Rounded Rectangle 30"/>
          <p:cNvSpPr/>
          <p:nvPr/>
        </p:nvSpPr>
        <p:spPr>
          <a:xfrm>
            <a:off x="4846320" y="2770632"/>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Numbering</a:t>
            </a:r>
          </a:p>
        </p:txBody>
      </p:sp>
      <p:sp>
        <p:nvSpPr>
          <p:cNvPr id="32" name="Rounded Rectangle 31"/>
          <p:cNvSpPr/>
          <p:nvPr/>
        </p:nvSpPr>
        <p:spPr>
          <a:xfrm>
            <a:off x="4846320" y="3300984"/>
            <a:ext cx="1554480" cy="402336"/>
          </a:xfrm>
          <a:prstGeom prst="roundRect">
            <a:avLst>
              <a:gd name="adj" fmla="val 35000"/>
            </a:avLst>
          </a:prstGeom>
          <a:solidFill>
            <a:srgbClr val="FBEEC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Layout</a:t>
            </a:r>
          </a:p>
        </p:txBody>
      </p:sp>
      <p:sp>
        <p:nvSpPr>
          <p:cNvPr id="33" name="Rectangle 32"/>
          <p:cNvSpPr/>
          <p:nvPr/>
        </p:nvSpPr>
        <p:spPr>
          <a:xfrm>
            <a:off x="6812280" y="1554480"/>
            <a:ext cx="4846320" cy="384048"/>
          </a:xfrm>
          <a:prstGeom prst="rect">
            <a:avLst/>
          </a:prstGeom>
          <a:solidFill>
            <a:srgbClr val="DDE6F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400" b="1" noProof="1">
                <a:solidFill>
                  <a:srgbClr val="595959"/>
                </a:solidFill>
                <a:latin typeface="TheSans-Bold"/>
                <a:cs typeface="TheSans-Bold"/>
              </a:rPr>
              <a:t>Field data QC record</a:t>
            </a:r>
          </a:p>
        </p:txBody>
      </p:sp>
      <p:pic>
        <p:nvPicPr>
          <p:cNvPr id="50" name="Picture 49" descr="safar_qc_table.png"/>
          <p:cNvPicPr>
            <a:picLocks noChangeAspect="1"/>
          </p:cNvPicPr>
          <p:nvPr/>
        </p:nvPicPr>
        <p:blipFill>
          <a:blip r:embed="rId6"/>
          <a:srcRect t="8" b="8"/>
          <a:stretch>
            <a:fillRect/>
          </a:stretch>
        </p:blipFill>
        <p:spPr>
          <a:xfrm>
            <a:off x="7132320" y="2011680"/>
            <a:ext cx="4206240" cy="2325174"/>
          </a:xfrm>
          <a:prstGeom prst="rect">
            <a:avLst/>
          </a:prstGeom>
          <a:ln w="25400">
            <a:solidFill>
              <a:srgbClr val="FFFFFF"/>
            </a:solidFill>
          </a:ln>
          <a:effectLst>
            <a:outerShdw blurRad="101600" dist="25400" dir="5400000" algn="t" rotWithShape="0">
              <a:srgbClr val="000000">
                <a:alpha val="25000"/>
              </a:srgbClr>
            </a:outerShdw>
          </a:effectLst>
        </p:spPr>
      </p:pic>
      <p:sp>
        <p:nvSpPr>
          <p:cNvPr id="51" name="TextBox 50"/>
          <p:cNvSpPr txBox="1"/>
          <p:nvPr/>
        </p:nvSpPr>
        <p:spPr>
          <a:xfrm>
            <a:off x="7132320" y="4370832"/>
            <a:ext cx="4206240" cy="256032"/>
          </a:xfrm>
          <a:prstGeom prst="rect">
            <a:avLst/>
          </a:prstGeom>
          <a:noFill/>
        </p:spPr>
        <p:txBody>
          <a:bodyPr wrap="square" lIns="45720" rIns="45720" tIns="18288" bIns="18288" anchor="t">
            <a:spAutoFit/>
          </a:bodyPr>
          <a:lstStyle/>
          <a:p>
            <a:pPr algn="l">
              <a:spcAft>
                <a:spcPts val="0"/>
              </a:spcAft>
            </a:pPr>
            <a:r>
              <a:rPr sz="950" b="0" noProof="1">
                <a:solidFill>
                  <a:srgbClr val="7F8692"/>
                </a:solidFill>
                <a:latin typeface="TheSans"/>
                <a:cs typeface="TheSans"/>
              </a:rPr>
              <a:t>Sample QC table from previous Alqotr work</a:t>
            </a:r>
          </a:p>
        </p:txBody>
      </p:sp>
      <p:sp>
        <p:nvSpPr>
          <p:cNvPr id="52" name="TextBox 51"/>
          <p:cNvSpPr txBox="1"/>
          <p:nvPr/>
        </p:nvSpPr>
        <p:spPr>
          <a:xfrm>
            <a:off x="548640" y="4069080"/>
            <a:ext cx="6035040" cy="320040"/>
          </a:xfrm>
          <a:prstGeom prst="rect">
            <a:avLst/>
          </a:prstGeom>
          <a:noFill/>
        </p:spPr>
        <p:txBody>
          <a:bodyPr wrap="square" lIns="45720" rIns="45720" tIns="18288" bIns="18288" anchor="t">
            <a:spAutoFit/>
          </a:bodyPr>
          <a:lstStyle/>
          <a:p>
            <a:pPr algn="l">
              <a:spcAft>
                <a:spcPts val="0"/>
              </a:spcAft>
            </a:pPr>
            <a:r>
              <a:rPr sz="1400" b="1" noProof="1">
                <a:solidFill>
                  <a:srgbClr val="21446A"/>
                </a:solidFill>
                <a:latin typeface="TheSans-Bold"/>
                <a:cs typeface="TheSans-Bold"/>
              </a:rPr>
              <a:t>Quality control at every step</a:t>
            </a:r>
          </a:p>
        </p:txBody>
      </p:sp>
      <p:cxnSp>
        <p:nvCxnSpPr>
          <p:cNvPr id="53" name="Connector 52"/>
          <p:cNvCxnSpPr/>
          <p:nvPr/>
        </p:nvCxnSpPr>
        <p:spPr>
          <a:xfrm>
            <a:off x="1051560" y="5257800"/>
            <a:ext cx="5029199" cy="0"/>
          </a:xfrm>
          <a:prstGeom prst="line">
            <a:avLst/>
          </a:prstGeom>
          <a:ln w="31750">
            <a:solidFill>
              <a:srgbClr val="EBB13D"/>
            </a:solidFill>
          </a:ln>
        </p:spPr>
        <p:style>
          <a:lnRef idx="2">
            <a:schemeClr val="accent1"/>
          </a:lnRef>
          <a:fillRef idx="0">
            <a:schemeClr val="accent1"/>
          </a:fillRef>
          <a:effectRef idx="1">
            <a:schemeClr val="accent1"/>
          </a:effectRef>
          <a:fontRef idx="minor">
            <a:schemeClr val="tx1"/>
          </a:fontRef>
        </p:style>
      </p:cxnSp>
      <p:sp>
        <p:nvSpPr>
          <p:cNvPr id="54" name="Pentagon 53"/>
          <p:cNvSpPr/>
          <p:nvPr/>
        </p:nvSpPr>
        <p:spPr>
          <a:xfrm>
            <a:off x="548640" y="4480560"/>
            <a:ext cx="969263" cy="566928"/>
          </a:xfrm>
          <a:prstGeom prst="homePlate">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576072" y="4480560"/>
            <a:ext cx="749807" cy="566928"/>
          </a:xfrm>
          <a:prstGeom prst="rect">
            <a:avLst/>
          </a:prstGeom>
          <a:noFill/>
        </p:spPr>
        <p:txBody>
          <a:bodyPr wrap="square" lIns="0" rIns="0" tIns="18288" bIns="18288" anchor="ctr">
            <a:spAutoFit/>
          </a:bodyPr>
          <a:lstStyle/>
          <a:p>
            <a:pPr algn="ctr">
              <a:spcAft>
                <a:spcPts val="0"/>
              </a:spcAft>
            </a:pPr>
            <a:r>
              <a:rPr sz="850" b="1" noProof="1">
                <a:solidFill>
                  <a:srgbClr val="FFFFFF"/>
                </a:solidFill>
                <a:latin typeface="TheSans-Bold"/>
                <a:cs typeface="TheSans-Bold"/>
              </a:rPr>
              <a:t>Plan</a:t>
            </a:r>
          </a:p>
        </p:txBody>
      </p:sp>
      <p:sp>
        <p:nvSpPr>
          <p:cNvPr id="56" name="Oval 55"/>
          <p:cNvSpPr/>
          <p:nvPr/>
        </p:nvSpPr>
        <p:spPr>
          <a:xfrm>
            <a:off x="850392" y="5056632"/>
            <a:ext cx="402336" cy="402336"/>
          </a:xfrm>
          <a:prstGeom prst="ellipse">
            <a:avLst/>
          </a:prstGeom>
          <a:solidFill>
            <a:srgbClr val="EBB13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00" b="1" noProof="1">
                <a:solidFill>
                  <a:srgbClr val="21446A"/>
                </a:solidFill>
                <a:latin typeface="TheSans-Bold"/>
                <a:cs typeface="TheSans-Bold"/>
              </a:rPr>
              <a:t>QC</a:t>
            </a:r>
          </a:p>
        </p:txBody>
      </p:sp>
      <p:sp>
        <p:nvSpPr>
          <p:cNvPr id="57" name="TextBox 56"/>
          <p:cNvSpPr txBox="1"/>
          <p:nvPr/>
        </p:nvSpPr>
        <p:spPr>
          <a:xfrm>
            <a:off x="548640" y="5504688"/>
            <a:ext cx="969263" cy="457200"/>
          </a:xfrm>
          <a:prstGeom prst="rect">
            <a:avLst/>
          </a:prstGeom>
          <a:noFill/>
        </p:spPr>
        <p:txBody>
          <a:bodyPr wrap="square" lIns="18288" rIns="18288" tIns="18288" bIns="18288" anchor="t">
            <a:spAutoFit/>
          </a:bodyPr>
          <a:lstStyle/>
          <a:p>
            <a:pPr algn="ctr">
              <a:spcAft>
                <a:spcPts val="0"/>
              </a:spcAft>
            </a:pPr>
            <a:r>
              <a:rPr sz="850" b="0" noProof="1">
                <a:solidFill>
                  <a:srgbClr val="404040"/>
                </a:solidFill>
                <a:latin typeface="TheSans"/>
                <a:cs typeface="TheSans"/>
              </a:rPr>
              <a:t>Scope and data confirmed</a:t>
            </a:r>
          </a:p>
        </p:txBody>
      </p:sp>
      <p:sp>
        <p:nvSpPr>
          <p:cNvPr id="58" name="Pentagon 57"/>
          <p:cNvSpPr/>
          <p:nvPr/>
        </p:nvSpPr>
        <p:spPr>
          <a:xfrm>
            <a:off x="1554479" y="4480560"/>
            <a:ext cx="969263" cy="566928"/>
          </a:xfrm>
          <a:prstGeom prst="homePlate">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1581911" y="4480560"/>
            <a:ext cx="749807" cy="566928"/>
          </a:xfrm>
          <a:prstGeom prst="rect">
            <a:avLst/>
          </a:prstGeom>
          <a:noFill/>
        </p:spPr>
        <p:txBody>
          <a:bodyPr wrap="square" lIns="0" rIns="0" tIns="18288" bIns="18288" anchor="ctr">
            <a:spAutoFit/>
          </a:bodyPr>
          <a:lstStyle/>
          <a:p>
            <a:pPr algn="ctr">
              <a:spcAft>
                <a:spcPts val="0"/>
              </a:spcAft>
            </a:pPr>
            <a:r>
              <a:rPr sz="850" b="1" noProof="1">
                <a:solidFill>
                  <a:srgbClr val="FFFFFF"/>
                </a:solidFill>
                <a:latin typeface="TheSans-Bold"/>
                <a:cs typeface="TheSans-Bold"/>
              </a:rPr>
              <a:t>Control</a:t>
            </a:r>
          </a:p>
        </p:txBody>
      </p:sp>
      <p:sp>
        <p:nvSpPr>
          <p:cNvPr id="60" name="Oval 59"/>
          <p:cNvSpPr/>
          <p:nvPr/>
        </p:nvSpPr>
        <p:spPr>
          <a:xfrm>
            <a:off x="1856231" y="5056632"/>
            <a:ext cx="402336" cy="402336"/>
          </a:xfrm>
          <a:prstGeom prst="ellipse">
            <a:avLst/>
          </a:prstGeom>
          <a:solidFill>
            <a:srgbClr val="EBB13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00" b="1" noProof="1">
                <a:solidFill>
                  <a:srgbClr val="21446A"/>
                </a:solidFill>
                <a:latin typeface="TheSans-Bold"/>
                <a:cs typeface="TheSans-Bold"/>
              </a:rPr>
              <a:t>QC</a:t>
            </a:r>
          </a:p>
        </p:txBody>
      </p:sp>
      <p:sp>
        <p:nvSpPr>
          <p:cNvPr id="61" name="TextBox 60"/>
          <p:cNvSpPr txBox="1"/>
          <p:nvPr/>
        </p:nvSpPr>
        <p:spPr>
          <a:xfrm>
            <a:off x="1554479" y="5504688"/>
            <a:ext cx="969263" cy="457200"/>
          </a:xfrm>
          <a:prstGeom prst="rect">
            <a:avLst/>
          </a:prstGeom>
          <a:noFill/>
        </p:spPr>
        <p:txBody>
          <a:bodyPr wrap="square" lIns="18288" rIns="18288" tIns="18288" bIns="18288" anchor="t">
            <a:spAutoFit/>
          </a:bodyPr>
          <a:lstStyle/>
          <a:p>
            <a:pPr algn="ctr">
              <a:spcAft>
                <a:spcPts val="0"/>
              </a:spcAft>
            </a:pPr>
            <a:r>
              <a:rPr sz="850" b="0" noProof="1">
                <a:solidFill>
                  <a:srgbClr val="404040"/>
                </a:solidFill>
                <a:latin typeface="TheSans"/>
                <a:cs typeface="TheSans"/>
              </a:rPr>
              <a:t>Control verified</a:t>
            </a:r>
          </a:p>
        </p:txBody>
      </p:sp>
      <p:sp>
        <p:nvSpPr>
          <p:cNvPr id="62" name="Pentagon 61"/>
          <p:cNvSpPr/>
          <p:nvPr/>
        </p:nvSpPr>
        <p:spPr>
          <a:xfrm>
            <a:off x="2560320" y="4480560"/>
            <a:ext cx="969263" cy="566928"/>
          </a:xfrm>
          <a:prstGeom prst="homePlate">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2587751" y="4480560"/>
            <a:ext cx="749807" cy="566928"/>
          </a:xfrm>
          <a:prstGeom prst="rect">
            <a:avLst/>
          </a:prstGeom>
          <a:noFill/>
        </p:spPr>
        <p:txBody>
          <a:bodyPr wrap="square" lIns="0" rIns="0" tIns="18288" bIns="18288" anchor="ctr">
            <a:spAutoFit/>
          </a:bodyPr>
          <a:lstStyle/>
          <a:p>
            <a:pPr algn="ctr">
              <a:spcAft>
                <a:spcPts val="0"/>
              </a:spcAft>
            </a:pPr>
            <a:r>
              <a:rPr sz="850" b="1" noProof="1">
                <a:solidFill>
                  <a:srgbClr val="FFFFFF"/>
                </a:solidFill>
                <a:latin typeface="TheSans-Bold"/>
                <a:cs typeface="TheSans-Bold"/>
              </a:rPr>
              <a:t>Survey</a:t>
            </a:r>
          </a:p>
        </p:txBody>
      </p:sp>
      <p:sp>
        <p:nvSpPr>
          <p:cNvPr id="64" name="Oval 63"/>
          <p:cNvSpPr/>
          <p:nvPr/>
        </p:nvSpPr>
        <p:spPr>
          <a:xfrm>
            <a:off x="2862071" y="5056632"/>
            <a:ext cx="402336" cy="402336"/>
          </a:xfrm>
          <a:prstGeom prst="ellipse">
            <a:avLst/>
          </a:prstGeom>
          <a:solidFill>
            <a:srgbClr val="EBB13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00" b="1" noProof="1">
                <a:solidFill>
                  <a:srgbClr val="21446A"/>
                </a:solidFill>
                <a:latin typeface="TheSans-Bold"/>
                <a:cs typeface="TheSans-Bold"/>
              </a:rPr>
              <a:t>QC</a:t>
            </a:r>
          </a:p>
        </p:txBody>
      </p:sp>
      <p:sp>
        <p:nvSpPr>
          <p:cNvPr id="65" name="TextBox 64"/>
          <p:cNvSpPr txBox="1"/>
          <p:nvPr/>
        </p:nvSpPr>
        <p:spPr>
          <a:xfrm>
            <a:off x="2560320" y="5504688"/>
            <a:ext cx="969263" cy="457200"/>
          </a:xfrm>
          <a:prstGeom prst="rect">
            <a:avLst/>
          </a:prstGeom>
          <a:noFill/>
        </p:spPr>
        <p:txBody>
          <a:bodyPr wrap="square" lIns="18288" rIns="18288" tIns="18288" bIns="18288" anchor="t">
            <a:spAutoFit/>
          </a:bodyPr>
          <a:lstStyle/>
          <a:p>
            <a:pPr algn="ctr">
              <a:spcAft>
                <a:spcPts val="0"/>
              </a:spcAft>
            </a:pPr>
            <a:r>
              <a:rPr sz="850" b="0" noProof="1">
                <a:solidFill>
                  <a:srgbClr val="404040"/>
                </a:solidFill>
                <a:latin typeface="TheSans"/>
                <a:cs typeface="TheSans"/>
              </a:rPr>
              <a:t>Field completeness check</a:t>
            </a:r>
          </a:p>
        </p:txBody>
      </p:sp>
      <p:sp>
        <p:nvSpPr>
          <p:cNvPr id="66" name="Pentagon 65"/>
          <p:cNvSpPr/>
          <p:nvPr/>
        </p:nvSpPr>
        <p:spPr>
          <a:xfrm>
            <a:off x="3566160" y="4480560"/>
            <a:ext cx="969263" cy="566928"/>
          </a:xfrm>
          <a:prstGeom prst="homePlate">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3593591" y="4480560"/>
            <a:ext cx="749807" cy="566928"/>
          </a:xfrm>
          <a:prstGeom prst="rect">
            <a:avLst/>
          </a:prstGeom>
          <a:noFill/>
        </p:spPr>
        <p:txBody>
          <a:bodyPr wrap="square" lIns="0" rIns="0" tIns="18288" bIns="18288" anchor="ctr">
            <a:spAutoFit/>
          </a:bodyPr>
          <a:lstStyle/>
          <a:p>
            <a:pPr algn="ctr">
              <a:spcAft>
                <a:spcPts val="0"/>
              </a:spcAft>
            </a:pPr>
            <a:r>
              <a:rPr sz="850" b="1" noProof="1">
                <a:solidFill>
                  <a:srgbClr val="FFFFFF"/>
                </a:solidFill>
                <a:latin typeface="TheSans-Bold"/>
                <a:cs typeface="TheSans-Bold"/>
              </a:rPr>
              <a:t>Demarcation</a:t>
            </a:r>
          </a:p>
        </p:txBody>
      </p:sp>
      <p:sp>
        <p:nvSpPr>
          <p:cNvPr id="68" name="Oval 67"/>
          <p:cNvSpPr/>
          <p:nvPr/>
        </p:nvSpPr>
        <p:spPr>
          <a:xfrm>
            <a:off x="3867912" y="5056632"/>
            <a:ext cx="402336" cy="402336"/>
          </a:xfrm>
          <a:prstGeom prst="ellipse">
            <a:avLst/>
          </a:prstGeom>
          <a:solidFill>
            <a:srgbClr val="EBB13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00" b="1" noProof="1">
                <a:solidFill>
                  <a:srgbClr val="21446A"/>
                </a:solidFill>
                <a:latin typeface="TheSans-Bold"/>
                <a:cs typeface="TheSans-Bold"/>
              </a:rPr>
              <a:t>QC</a:t>
            </a:r>
          </a:p>
        </p:txBody>
      </p:sp>
      <p:sp>
        <p:nvSpPr>
          <p:cNvPr id="69" name="TextBox 68"/>
          <p:cNvSpPr txBox="1"/>
          <p:nvPr/>
        </p:nvSpPr>
        <p:spPr>
          <a:xfrm>
            <a:off x="3566160" y="5504688"/>
            <a:ext cx="969263" cy="457200"/>
          </a:xfrm>
          <a:prstGeom prst="rect">
            <a:avLst/>
          </a:prstGeom>
          <a:noFill/>
        </p:spPr>
        <p:txBody>
          <a:bodyPr wrap="square" lIns="18288" rIns="18288" tIns="18288" bIns="18288" anchor="t">
            <a:spAutoFit/>
          </a:bodyPr>
          <a:lstStyle/>
          <a:p>
            <a:pPr algn="ctr">
              <a:spcAft>
                <a:spcPts val="0"/>
              </a:spcAft>
            </a:pPr>
            <a:r>
              <a:rPr sz="850" b="0" noProof="1">
                <a:solidFill>
                  <a:srgbClr val="404040"/>
                </a:solidFill>
                <a:latin typeface="TheSans"/>
                <a:cs typeface="TheSans"/>
              </a:rPr>
              <a:t>Field verification</a:t>
            </a:r>
          </a:p>
        </p:txBody>
      </p:sp>
      <p:sp>
        <p:nvSpPr>
          <p:cNvPr id="70" name="Pentagon 69"/>
          <p:cNvSpPr/>
          <p:nvPr/>
        </p:nvSpPr>
        <p:spPr>
          <a:xfrm>
            <a:off x="4571999" y="4480560"/>
            <a:ext cx="969263" cy="566928"/>
          </a:xfrm>
          <a:prstGeom prst="homePlate">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extBox 70"/>
          <p:cNvSpPr txBox="1"/>
          <p:nvPr/>
        </p:nvSpPr>
        <p:spPr>
          <a:xfrm>
            <a:off x="4599431" y="4480560"/>
            <a:ext cx="749807" cy="566928"/>
          </a:xfrm>
          <a:prstGeom prst="rect">
            <a:avLst/>
          </a:prstGeom>
          <a:noFill/>
        </p:spPr>
        <p:txBody>
          <a:bodyPr wrap="square" lIns="0" rIns="0" tIns="18288" bIns="18288" anchor="ctr">
            <a:spAutoFit/>
          </a:bodyPr>
          <a:lstStyle/>
          <a:p>
            <a:pPr algn="ctr">
              <a:spcAft>
                <a:spcPts val="0"/>
              </a:spcAft>
            </a:pPr>
            <a:r>
              <a:rPr sz="850" b="1" noProof="1">
                <a:solidFill>
                  <a:srgbClr val="FFFFFF"/>
                </a:solidFill>
                <a:latin typeface="TheSans-Bold"/>
                <a:cs typeface="TheSans-Bold"/>
              </a:rPr>
              <a:t>Deliverables</a:t>
            </a:r>
          </a:p>
        </p:txBody>
      </p:sp>
      <p:sp>
        <p:nvSpPr>
          <p:cNvPr id="72" name="Oval 71"/>
          <p:cNvSpPr/>
          <p:nvPr/>
        </p:nvSpPr>
        <p:spPr>
          <a:xfrm>
            <a:off x="4873751" y="5056632"/>
            <a:ext cx="402336" cy="402336"/>
          </a:xfrm>
          <a:prstGeom prst="ellipse">
            <a:avLst/>
          </a:prstGeom>
          <a:solidFill>
            <a:srgbClr val="EBB13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00" b="1" noProof="1">
                <a:solidFill>
                  <a:srgbClr val="21446A"/>
                </a:solidFill>
                <a:latin typeface="TheSans-Bold"/>
                <a:cs typeface="TheSans-Bold"/>
              </a:rPr>
              <a:t>QC</a:t>
            </a:r>
          </a:p>
        </p:txBody>
      </p:sp>
      <p:sp>
        <p:nvSpPr>
          <p:cNvPr id="73" name="TextBox 72"/>
          <p:cNvSpPr txBox="1"/>
          <p:nvPr/>
        </p:nvSpPr>
        <p:spPr>
          <a:xfrm>
            <a:off x="4571999" y="5504688"/>
            <a:ext cx="969263" cy="457200"/>
          </a:xfrm>
          <a:prstGeom prst="rect">
            <a:avLst/>
          </a:prstGeom>
          <a:noFill/>
        </p:spPr>
        <p:txBody>
          <a:bodyPr wrap="square" lIns="18288" rIns="18288" tIns="18288" bIns="18288" anchor="t">
            <a:spAutoFit/>
          </a:bodyPr>
          <a:lstStyle/>
          <a:p>
            <a:pPr algn="ctr">
              <a:spcAft>
                <a:spcPts val="0"/>
              </a:spcAft>
            </a:pPr>
            <a:r>
              <a:rPr sz="850" b="0" noProof="1">
                <a:solidFill>
                  <a:srgbClr val="404040"/>
                </a:solidFill>
                <a:latin typeface="TheSans"/>
                <a:cs typeface="TheSans"/>
              </a:rPr>
              <a:t>Computations and drawings checked</a:t>
            </a:r>
          </a:p>
        </p:txBody>
      </p:sp>
      <p:sp>
        <p:nvSpPr>
          <p:cNvPr id="74" name="Pentagon 73"/>
          <p:cNvSpPr/>
          <p:nvPr/>
        </p:nvSpPr>
        <p:spPr>
          <a:xfrm>
            <a:off x="5577839" y="4480560"/>
            <a:ext cx="969263" cy="566928"/>
          </a:xfrm>
          <a:prstGeom prst="homePlate">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extBox 74"/>
          <p:cNvSpPr txBox="1"/>
          <p:nvPr/>
        </p:nvSpPr>
        <p:spPr>
          <a:xfrm>
            <a:off x="5605271" y="4480560"/>
            <a:ext cx="749807" cy="566928"/>
          </a:xfrm>
          <a:prstGeom prst="rect">
            <a:avLst/>
          </a:prstGeom>
          <a:noFill/>
        </p:spPr>
        <p:txBody>
          <a:bodyPr wrap="square" lIns="0" rIns="0" tIns="18288" bIns="18288" anchor="ctr">
            <a:spAutoFit/>
          </a:bodyPr>
          <a:lstStyle/>
          <a:p>
            <a:pPr algn="ctr">
              <a:spcAft>
                <a:spcPts val="0"/>
              </a:spcAft>
            </a:pPr>
            <a:r>
              <a:rPr sz="850" b="1" noProof="1">
                <a:solidFill>
                  <a:srgbClr val="FFFFFF"/>
                </a:solidFill>
                <a:latin typeface="TheSans-Bold"/>
                <a:cs typeface="TheSans-Bold"/>
              </a:rPr>
              <a:t>Close-out</a:t>
            </a:r>
          </a:p>
        </p:txBody>
      </p:sp>
      <p:sp>
        <p:nvSpPr>
          <p:cNvPr id="76" name="Oval 75"/>
          <p:cNvSpPr/>
          <p:nvPr/>
        </p:nvSpPr>
        <p:spPr>
          <a:xfrm>
            <a:off x="5879591" y="5056632"/>
            <a:ext cx="402336" cy="402336"/>
          </a:xfrm>
          <a:prstGeom prst="ellipse">
            <a:avLst/>
          </a:prstGeom>
          <a:solidFill>
            <a:srgbClr val="EBB13D"/>
          </a:solidFill>
          <a:ln w="254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00" b="1" noProof="1">
                <a:solidFill>
                  <a:srgbClr val="21446A"/>
                </a:solidFill>
                <a:latin typeface="TheSans-Bold"/>
                <a:cs typeface="TheSans-Bold"/>
              </a:rPr>
              <a:t>QC</a:t>
            </a:r>
          </a:p>
        </p:txBody>
      </p:sp>
      <p:sp>
        <p:nvSpPr>
          <p:cNvPr id="77" name="TextBox 76"/>
          <p:cNvSpPr txBox="1"/>
          <p:nvPr/>
        </p:nvSpPr>
        <p:spPr>
          <a:xfrm>
            <a:off x="5577839" y="5504688"/>
            <a:ext cx="969263" cy="457200"/>
          </a:xfrm>
          <a:prstGeom prst="rect">
            <a:avLst/>
          </a:prstGeom>
          <a:noFill/>
        </p:spPr>
        <p:txBody>
          <a:bodyPr wrap="square" lIns="18288" rIns="18288" tIns="18288" bIns="18288" anchor="t">
            <a:spAutoFit/>
          </a:bodyPr>
          <a:lstStyle/>
          <a:p>
            <a:pPr algn="ctr">
              <a:spcAft>
                <a:spcPts val="0"/>
              </a:spcAft>
            </a:pPr>
            <a:r>
              <a:rPr sz="850" b="0" noProof="1">
                <a:solidFill>
                  <a:srgbClr val="404040"/>
                </a:solidFill>
                <a:latin typeface="TheSans"/>
                <a:cs typeface="TheSans"/>
              </a:rPr>
              <a:t>Review and acceptance</a:t>
            </a:r>
          </a:p>
        </p:txBody>
      </p:sp>
      <p:sp>
        <p:nvSpPr>
          <p:cNvPr id="78" name="TextBox 77"/>
          <p:cNvSpPr txBox="1"/>
          <p:nvPr/>
        </p:nvSpPr>
        <p:spPr>
          <a:xfrm>
            <a:off x="548640" y="5989320"/>
            <a:ext cx="6035040" cy="274320"/>
          </a:xfrm>
          <a:prstGeom prst="rect">
            <a:avLst/>
          </a:prstGeom>
          <a:noFill/>
        </p:spPr>
        <p:txBody>
          <a:bodyPr wrap="square" lIns="45720" rIns="45720" tIns="18288" bIns="18288" anchor="t">
            <a:spAutoFit/>
          </a:bodyPr>
          <a:lstStyle/>
          <a:p>
            <a:pPr algn="l">
              <a:spcAft>
                <a:spcPts val="0"/>
              </a:spcAft>
            </a:pPr>
            <a:r>
              <a:rPr sz="1050" b="1" noProof="1">
                <a:solidFill>
                  <a:srgbClr val="21446A"/>
                </a:solidFill>
                <a:latin typeface="TheSans-Bold"/>
                <a:cs typeface="TheSans-Bold"/>
              </a:rPr>
              <a:t>Checks run during every step, not only at the end.</a:t>
            </a:r>
          </a:p>
        </p:txBody>
      </p:sp>
      <p:pic>
        <p:nvPicPr>
          <p:cNvPr id="79" name="Picture 78" descr="t15_control_check.png"/>
          <p:cNvPicPr>
            <a:picLocks noChangeAspect="1"/>
          </p:cNvPicPr>
          <p:nvPr/>
        </p:nvPicPr>
        <p:blipFill>
          <a:blip r:embed="rId7"/>
          <a:srcRect/>
          <a:stretch>
            <a:fillRect/>
          </a:stretch>
        </p:blipFill>
        <p:spPr>
          <a:xfrm>
            <a:off x="7543800" y="4681728"/>
            <a:ext cx="3383280" cy="1423424"/>
          </a:xfrm>
          <a:prstGeom prst="rect">
            <a:avLst/>
          </a:prstGeom>
          <a:ln w="25400">
            <a:solidFill>
              <a:srgbClr val="FFFFFF"/>
            </a:solidFill>
          </a:ln>
          <a:effectLst>
            <a:outerShdw blurRad="101600" dist="25400" dir="5400000" algn="t" rotWithShape="0">
              <a:srgbClr val="000000">
                <a:alpha val="25000"/>
              </a:srgbClr>
            </a:outerShdw>
          </a:effectLst>
        </p:spPr>
      </p:pic>
      <p:sp>
        <p:nvSpPr>
          <p:cNvPr id="80" name="TextBox 79"/>
          <p:cNvSpPr txBox="1"/>
          <p:nvPr/>
        </p:nvSpPr>
        <p:spPr>
          <a:xfrm>
            <a:off x="6812280" y="6132584"/>
            <a:ext cx="4846320" cy="237744"/>
          </a:xfrm>
          <a:prstGeom prst="rect">
            <a:avLst/>
          </a:prstGeom>
          <a:noFill/>
        </p:spPr>
        <p:txBody>
          <a:bodyPr wrap="square" lIns="45720" rIns="45720" tIns="18288" bIns="18288" anchor="t">
            <a:spAutoFit/>
          </a:bodyPr>
          <a:lstStyle/>
          <a:p>
            <a:pPr algn="ctr">
              <a:spcAft>
                <a:spcPts val="0"/>
              </a:spcAft>
            </a:pPr>
            <a:r>
              <a:rPr sz="900" b="0">
                <a:solidFill>
                  <a:srgbClr val="7F8692"/>
                </a:solidFill>
                <a:latin typeface="TheSans"/>
                <a:cs typeface="TheSans"/>
              </a:rPr>
              <a:t>Control point check: sample from the Alqotr quality guide</a:t>
            </a:r>
          </a:p>
        </p:txBody>
      </p:sp>
    </p:spTree>
    <p:extLst>
      <p:ext uri="{BB962C8B-B14F-4D97-AF65-F5344CB8AC3E}">
        <p14:creationId xmlns:p14="http://schemas.microsoft.com/office/powerpoint/2010/main" val="1496891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0BD76B-811E-4EFD-804B-67A8E433E89C}"/>
              </a:ext>
            </a:extLst>
          </p:cNvPr>
          <p:cNvGrpSpPr/>
          <p:nvPr/>
        </p:nvGrpSpPr>
        <p:grpSpPr>
          <a:xfrm>
            <a:off x="567795" y="227737"/>
            <a:ext cx="4672014" cy="619125"/>
            <a:chOff x="1544039" y="223837"/>
            <a:chExt cx="4543427"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39" y="223837"/>
              <a:ext cx="4543426"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1" y="333344"/>
              <a:ext cx="3157915"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Methodology</a:t>
              </a:r>
            </a:p>
          </p:txBody>
        </p:sp>
      </p:grpSp>
      <p:sp>
        <p:nvSpPr>
          <p:cNvPr id="14" name="Rectangle 13">
            <a:extLst>
              <a:ext uri="{FF2B5EF4-FFF2-40B4-BE49-F238E27FC236}">
                <a16:creationId xmlns:a16="http://schemas.microsoft.com/office/drawing/2014/main" id="{6002D453-7493-4D49-B4AC-26F8365DE6DC}"/>
              </a:ext>
            </a:extLst>
          </p:cNvPr>
          <p:cNvSpPr/>
          <p:nvPr/>
        </p:nvSpPr>
        <p:spPr>
          <a:xfrm>
            <a:off x="477810" y="937085"/>
            <a:ext cx="5945450" cy="425977"/>
          </a:xfrm>
          <a:prstGeom prst="rect">
            <a:avLst/>
          </a:prstGeom>
          <a:solidFill>
            <a:schemeClr val="accent1">
              <a:lumMod val="40000"/>
              <a:lumOff val="60000"/>
              <a:alpha val="4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20000"/>
              </a:lnSpc>
            </a:pPr>
            <a:r>
              <a:rPr lang="en-US" sz="1600" b="1" kern="400" spc="110" dirty="0" noProof="1">
                <a:solidFill>
                  <a:schemeClr val="tx1">
                    <a:lumMod val="65000"/>
                    <a:lumOff val="35000"/>
                  </a:schemeClr>
                </a:solidFill>
                <a:effectLst/>
                <a:latin typeface="Changa" pitchFamily="2" charset="-78"/>
                <a:ea typeface="+mn-ea"/>
                <a:cs typeface="Changa" pitchFamily="2" charset="-78"/>
              </a:rPr>
              <a:t>Survey :</a:t>
            </a:r>
          </a:p>
        </p:txBody>
      </p:sp>
      <p:cxnSp>
        <p:nvCxnSpPr>
          <p:cNvPr id="17" name="Straight Connector 16">
            <a:extLst>
              <a:ext uri="{FF2B5EF4-FFF2-40B4-BE49-F238E27FC236}">
                <a16:creationId xmlns:a16="http://schemas.microsoft.com/office/drawing/2014/main" id="{CF712617-4E93-403A-AE63-CE4F60AB7A9E}"/>
              </a:ext>
            </a:extLst>
          </p:cNvPr>
          <p:cNvCxnSpPr>
            <a:cxnSpLocks/>
          </p:cNvCxnSpPr>
          <p:nvPr/>
        </p:nvCxnSpPr>
        <p:spPr>
          <a:xfrm flipH="1" flipV="1">
            <a:off x="0" y="1714500"/>
            <a:ext cx="63500" cy="83430"/>
          </a:xfrm>
          <a:prstGeom prst="line">
            <a:avLst/>
          </a:prstGeom>
          <a:ln>
            <a:solidFill>
              <a:srgbClr val="DBCAA1"/>
            </a:solidFill>
          </a:ln>
        </p:spPr>
        <p:style>
          <a:lnRef idx="2">
            <a:schemeClr val="accent4"/>
          </a:lnRef>
          <a:fillRef idx="0">
            <a:schemeClr val="accent4"/>
          </a:fillRef>
          <a:effectRef idx="1">
            <a:schemeClr val="accent4"/>
          </a:effectRef>
          <a:fontRef idx="minor">
            <a:schemeClr val="tx1"/>
          </a:fontRef>
        </p:style>
      </p:cxnSp>
      <p:sp>
        <p:nvSpPr>
          <p:cNvPr id="8" name="TextBox 7">
            <a:extLst>
              <a:ext uri="{FF2B5EF4-FFF2-40B4-BE49-F238E27FC236}">
                <a16:creationId xmlns:a16="http://schemas.microsoft.com/office/drawing/2014/main" id="{1B23ADB5-69B6-44F2-832B-ADAEC68A4652}"/>
              </a:ext>
            </a:extLst>
          </p:cNvPr>
          <p:cNvSpPr txBox="1"/>
          <p:nvPr/>
        </p:nvSpPr>
        <p:spPr>
          <a:xfrm>
            <a:off x="552020" y="1714500"/>
            <a:ext cx="6132511" cy="1315938"/>
          </a:xfrm>
          <a:prstGeom prst="rect">
            <a:avLst/>
          </a:prstGeom>
          <a:noFill/>
        </p:spPr>
        <p:txBody>
          <a:bodyPr wrap="square">
            <a:spAutoFit/>
          </a:bodyPr>
          <a:lstStyle/>
          <a:p>
            <a:pPr marR="0" lvl="0">
              <a:lnSpc>
                <a:spcPct val="150000"/>
              </a:lnSpc>
              <a:spcBef>
                <a:spcPts val="0"/>
              </a:spcBef>
              <a:spcAft>
                <a:spcPts val="0"/>
              </a:spcAft>
            </a:pPr>
            <a:r>
              <a:rPr lang="en-GB" sz="1801" b="1" dirty="0" noProof="1">
                <a:solidFill>
                  <a:schemeClr val="accent1">
                    <a:lumMod val="75000"/>
                  </a:schemeClr>
                </a:solidFill>
                <a:latin typeface="Changa" pitchFamily="2" charset="-78"/>
                <a:cs typeface="Changa" pitchFamily="2" charset="-78"/>
              </a:rPr>
              <a:t>Survey control</a:t>
            </a:r>
            <a:endParaRPr lang="en-GB" sz="1050" dirty="0">
              <a:solidFill>
                <a:schemeClr val="accent1">
                  <a:lumMod val="75000"/>
                </a:schemeClr>
              </a:solidFill>
              <a:latin typeface="Changa" pitchFamily="2" charset="-78"/>
              <a:cs typeface="Changa" pitchFamily="2" charset="-78"/>
            </a:endParaRPr>
          </a:p>
          <a:p>
            <a:pPr marL="285750" marR="0" lvl="0" indent="-285750">
              <a:lnSpc>
                <a:spcPct val="200000"/>
              </a:lnSpc>
              <a:spcBef>
                <a:spcPts val="0"/>
              </a:spcBef>
              <a:spcAft>
                <a:spcPts val="0"/>
              </a:spcAft>
              <a:buFont typeface="Wingdings" panose="05000000000000000000" pitchFamily="2" charset="2"/>
              <a:buChar char="q"/>
            </a:pPr>
            <a:r>
              <a:rPr lang="en-GB" sz="1400" dirty="0" err="1" noProof="1">
                <a:solidFill>
                  <a:schemeClr val="accent1">
                    <a:lumMod val="75000"/>
                  </a:schemeClr>
                </a:solidFill>
                <a:latin typeface="Changa" pitchFamily="2" charset="-78"/>
                <a:cs typeface="Changa" pitchFamily="2" charset="-78"/>
              </a:rPr>
              <a:t>Survey control is verified or established where required, before any field survey starts.</a:t>
            </a:r>
          </a:p>
        </p:txBody>
      </p:sp>
      <p:sp>
        <p:nvSpPr>
          <p:cNvPr id="13" name="TextBox 12">
            <a:extLst>
              <a:ext uri="{FF2B5EF4-FFF2-40B4-BE49-F238E27FC236}">
                <a16:creationId xmlns:a16="http://schemas.microsoft.com/office/drawing/2014/main" id="{A7CA4B74-776B-4DC1-8CFB-825778E1EC10}"/>
              </a:ext>
            </a:extLst>
          </p:cNvPr>
          <p:cNvSpPr txBox="1"/>
          <p:nvPr/>
        </p:nvSpPr>
        <p:spPr>
          <a:xfrm>
            <a:off x="552020" y="3094110"/>
            <a:ext cx="5803542" cy="2301079"/>
          </a:xfrm>
          <a:prstGeom prst="rect">
            <a:avLst/>
          </a:prstGeom>
          <a:noFill/>
        </p:spPr>
        <p:txBody>
          <a:bodyPr wrap="square">
            <a:spAutoFit/>
          </a:bodyPr>
          <a:lstStyle/>
          <a:p>
            <a:pPr marR="0" lvl="0">
              <a:lnSpc>
                <a:spcPct val="150000"/>
              </a:lnSpc>
              <a:spcBef>
                <a:spcPts val="0"/>
              </a:spcBef>
              <a:spcAft>
                <a:spcPts val="0"/>
              </a:spcAft>
            </a:pPr>
            <a:r>
              <a:rPr lang="en-GB" sz="1801" b="1" dirty="0" noProof="1">
                <a:solidFill>
                  <a:schemeClr val="accent1">
                    <a:lumMod val="75000"/>
                  </a:schemeClr>
                </a:solidFill>
                <a:latin typeface="Changa" pitchFamily="2" charset="-78"/>
                <a:cs typeface="Changa" pitchFamily="2" charset="-78"/>
              </a:rPr>
              <a:t>Land and boundary survey</a:t>
            </a:r>
            <a:endParaRPr lang="en-GB" sz="900" b="1" u="sng" dirty="0">
              <a:solidFill>
                <a:schemeClr val="accent1">
                  <a:lumMod val="75000"/>
                </a:schemeClr>
              </a:solidFill>
              <a:latin typeface="Changa" pitchFamily="2" charset="-78"/>
              <a:cs typeface="Changa" pitchFamily="2" charset="-78"/>
            </a:endParaRPr>
          </a:p>
          <a:p>
            <a:pPr marL="285750" marR="0" lvl="0" indent="-285750">
              <a:lnSpc>
                <a:spcPct val="200000"/>
              </a:lnSpc>
              <a:spcBef>
                <a:spcPts val="0"/>
              </a:spcBef>
              <a:spcAft>
                <a:spcPts val="0"/>
              </a:spcAft>
              <a:buFont typeface="Wingdings" panose="05000000000000000000" pitchFamily="2" charset="2"/>
              <a:buChar char="q"/>
            </a:pPr>
            <a:r>
              <a:rPr lang="en-US" sz="1400" dirty="0" noProof="1">
                <a:solidFill>
                  <a:schemeClr val="accent1">
                    <a:lumMod val="75000"/>
                  </a:schemeClr>
                </a:solidFill>
                <a:latin typeface="Changa" pitchFamily="2" charset="-78"/>
                <a:cs typeface="Changa" pitchFamily="2" charset="-78"/>
              </a:rPr>
              <a:t>Field data is acquired for the instructed land, based on the available approved information.</a:t>
            </a:r>
          </a:p>
          <a:p>
            <a:pPr marR="0" lvl="0">
              <a:lnSpc>
                <a:spcPct val="200000"/>
              </a:lnSpc>
              <a:spcBef>
                <a:spcPts val="0"/>
              </a:spcBef>
              <a:spcAft>
                <a:spcPts val="0"/>
              </a:spcAft>
            </a:pPr>
            <a:r>
              <a:rPr lang="en-GB" sz="1801" b="1" dirty="0" noProof="1">
                <a:solidFill>
                  <a:schemeClr val="accent1">
                    <a:lumMod val="75000"/>
                  </a:schemeClr>
                </a:solidFill>
                <a:latin typeface="Changa" pitchFamily="2" charset="-78"/>
                <a:cs typeface="Changa" pitchFamily="2" charset="-78"/>
              </a:rPr>
              <a:t>Field verification</a:t>
            </a:r>
            <a:endParaRPr lang="en-GB" sz="1100" b="1" u="sng" dirty="0">
              <a:solidFill>
                <a:schemeClr val="accent1">
                  <a:lumMod val="75000"/>
                </a:schemeClr>
              </a:solidFill>
              <a:latin typeface="Changa" pitchFamily="2" charset="-78"/>
              <a:cs typeface="Changa" pitchFamily="2" charset="-78"/>
            </a:endParaRPr>
          </a:p>
          <a:p>
            <a:pPr marL="285750" marR="0" lvl="0" indent="-285750">
              <a:lnSpc>
                <a:spcPct val="200000"/>
              </a:lnSpc>
              <a:spcBef>
                <a:spcPts val="0"/>
              </a:spcBef>
              <a:spcAft>
                <a:spcPts val="0"/>
              </a:spcAft>
              <a:buFont typeface="Wingdings" panose="05000000000000000000" pitchFamily="2" charset="2"/>
              <a:buChar char="q"/>
            </a:pPr>
            <a:r>
              <a:rPr lang="en-US" sz="1400" dirty="0" err="1" noProof="1">
                <a:solidFill>
                  <a:schemeClr val="accent1">
                    <a:lumMod val="75000"/>
                  </a:schemeClr>
                </a:solidFill>
                <a:latin typeface="Changa" pitchFamily="2" charset="-78"/>
                <a:cs typeface="Changa" pitchFamily="2" charset="-78"/>
              </a:rPr>
              <a:t>Completeness checks are made in the field before data processing.</a:t>
            </a:r>
            <a:endParaRPr lang="en-GB" sz="1801" b="1" u="sng" dirty="0">
              <a:solidFill>
                <a:schemeClr val="accent1">
                  <a:lumMod val="75000"/>
                </a:schemeClr>
              </a:solidFill>
              <a:latin typeface="Changa" pitchFamily="2" charset="-78"/>
              <a:cs typeface="Changa" pitchFamily="2" charset="-78"/>
            </a:endParaRPr>
          </a:p>
        </p:txBody>
      </p:sp>
      <p:sp>
        <p:nvSpPr>
          <p:cNvPr id="18" name="Rectangle 17"/>
          <p:cNvSpPr/>
          <p:nvPr/>
        </p:nvSpPr>
        <p:spPr>
          <a:xfrm>
            <a:off x="6720840" y="1051560"/>
            <a:ext cx="5257800" cy="5257800"/>
          </a:xfrm>
          <a:prstGeom prst="rect">
            <a:avLst/>
          </a:prstGeom>
          <a:solidFill>
            <a:srgbClr val="DDE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9" name="Picture 18" descr="image.png"/>
          <p:cNvPicPr>
            <a:picLocks noChangeAspect="1"/>
          </p:cNvPicPr>
          <p:nvPr/>
        </p:nvPicPr>
        <p:blipFill>
          <a:blip r:embed="rId4"/>
          <a:srcRect t="8069" b="8069"/>
          <a:stretch>
            <a:fillRect/>
          </a:stretch>
        </p:blipFill>
        <p:spPr>
          <a:xfrm>
            <a:off x="6858000" y="1188720"/>
            <a:ext cx="2468880" cy="2468880"/>
          </a:xfrm>
          <a:prstGeom prst="rect">
            <a:avLst/>
          </a:prstGeom>
          <a:ln w="38100">
            <a:solidFill>
              <a:srgbClr val="FFFFFF"/>
            </a:solidFill>
          </a:ln>
          <a:effectLst>
            <a:outerShdw blurRad="101600" dist="25400" dir="5400000" algn="t" rotWithShape="0">
              <a:srgbClr val="000000">
                <a:alpha val="25000"/>
              </a:srgbClr>
            </a:outerShdw>
          </a:effectLst>
        </p:spPr>
      </p:pic>
      <p:pic>
        <p:nvPicPr>
          <p:cNvPr id="20" name="Picture 19" descr="image.jpg"/>
          <p:cNvPicPr>
            <a:picLocks noChangeAspect="1"/>
          </p:cNvPicPr>
          <p:nvPr/>
        </p:nvPicPr>
        <p:blipFill>
          <a:blip r:embed="rId7"/>
          <a:srcRect/>
          <a:stretch>
            <a:fillRect/>
          </a:stretch>
        </p:blipFill>
        <p:spPr>
          <a:xfrm>
            <a:off x="9418320" y="1188720"/>
            <a:ext cx="2468880" cy="2468880"/>
          </a:xfrm>
          <a:prstGeom prst="rect">
            <a:avLst/>
          </a:prstGeom>
          <a:ln w="38100">
            <a:solidFill>
              <a:srgbClr val="FFFFFF"/>
            </a:solidFill>
          </a:ln>
          <a:effectLst>
            <a:outerShdw blurRad="101600" dist="25400" dir="5400000" algn="t" rotWithShape="0">
              <a:srgbClr val="000000">
                <a:alpha val="25000"/>
              </a:srgbClr>
            </a:outerShdw>
          </a:effectLst>
        </p:spPr>
      </p:pic>
      <p:pic>
        <p:nvPicPr>
          <p:cNvPr id="21" name="Picture 20" descr="ph_gnss_desert.jpg"/>
          <p:cNvPicPr>
            <a:picLocks noChangeAspect="1"/>
          </p:cNvPicPr>
          <p:nvPr/>
        </p:nvPicPr>
        <p:blipFill>
          <a:blip r:embed="rId8"/>
          <a:srcRect l="21872" r="21872"/>
          <a:stretch>
            <a:fillRect/>
          </a:stretch>
        </p:blipFill>
        <p:spPr>
          <a:xfrm>
            <a:off x="6858000" y="3749039"/>
            <a:ext cx="2468880" cy="2468880"/>
          </a:xfrm>
          <a:prstGeom prst="rect">
            <a:avLst/>
          </a:prstGeom>
          <a:ln w="38100">
            <a:solidFill>
              <a:srgbClr val="FFFFFF"/>
            </a:solidFill>
          </a:ln>
          <a:effectLst>
            <a:outerShdw blurRad="101600" dist="25400" dir="5400000" algn="t" rotWithShape="0">
              <a:srgbClr val="000000">
                <a:alpha val="25000"/>
              </a:srgbClr>
            </a:outerShdw>
          </a:effectLst>
        </p:spPr>
      </p:pic>
      <p:pic>
        <p:nvPicPr>
          <p:cNvPr id="22" name="Picture 21" descr="ph_monument2.jpg"/>
          <p:cNvPicPr>
            <a:picLocks noChangeAspect="1"/>
          </p:cNvPicPr>
          <p:nvPr/>
        </p:nvPicPr>
        <p:blipFill>
          <a:blip r:embed="rId9"/>
          <a:srcRect l="12515" r="12515"/>
          <a:stretch>
            <a:fillRect/>
          </a:stretch>
        </p:blipFill>
        <p:spPr>
          <a:xfrm>
            <a:off x="9418320" y="3749039"/>
            <a:ext cx="2468880" cy="2468880"/>
          </a:xfrm>
          <a:prstGeom prst="rect">
            <a:avLst/>
          </a:prstGeom>
          <a:ln w="38100">
            <a:solidFill>
              <a:srgbClr val="FFFFFF"/>
            </a:solidFill>
          </a:ln>
          <a:effectLst>
            <a:outerShdw blurRad="101600" dist="25400" dir="5400000" algn="t" rotWithShape="0">
              <a:srgbClr val="000000">
                <a:alpha val="25000"/>
              </a:srgbClr>
            </a:outerShdw>
          </a:effectLst>
        </p:spPr>
      </p:pic>
    </p:spTree>
    <p:extLst>
      <p:ext uri="{BB962C8B-B14F-4D97-AF65-F5344CB8AC3E}">
        <p14:creationId xmlns:p14="http://schemas.microsoft.com/office/powerpoint/2010/main" val="4231799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0BD76B-811E-4EFD-804B-67A8E433E89C}"/>
              </a:ext>
            </a:extLst>
          </p:cNvPr>
          <p:cNvGrpSpPr/>
          <p:nvPr/>
        </p:nvGrpSpPr>
        <p:grpSpPr>
          <a:xfrm>
            <a:off x="567795" y="227737"/>
            <a:ext cx="4672014" cy="619125"/>
            <a:chOff x="1544039" y="223837"/>
            <a:chExt cx="4543427"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39" y="223837"/>
              <a:ext cx="4543426"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1" y="333344"/>
              <a:ext cx="3157915"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Methodology</a:t>
              </a:r>
            </a:p>
          </p:txBody>
        </p:sp>
      </p:grpSp>
      <p:sp>
        <p:nvSpPr>
          <p:cNvPr id="14" name="Rectangle 13">
            <a:extLst>
              <a:ext uri="{FF2B5EF4-FFF2-40B4-BE49-F238E27FC236}">
                <a16:creationId xmlns:a16="http://schemas.microsoft.com/office/drawing/2014/main" id="{6002D453-7493-4D49-B4AC-26F8365DE6DC}"/>
              </a:ext>
            </a:extLst>
          </p:cNvPr>
          <p:cNvSpPr/>
          <p:nvPr/>
        </p:nvSpPr>
        <p:spPr>
          <a:xfrm>
            <a:off x="477810" y="937085"/>
            <a:ext cx="5945450" cy="425977"/>
          </a:xfrm>
          <a:prstGeom prst="rect">
            <a:avLst/>
          </a:prstGeom>
          <a:solidFill>
            <a:schemeClr val="accent1">
              <a:lumMod val="40000"/>
              <a:lumOff val="60000"/>
              <a:alpha val="4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20000"/>
              </a:lnSpc>
            </a:pPr>
            <a:r>
              <a:rPr lang="en-US" sz="1600" b="1" kern="400" spc="110" dirty="0" noProof="1">
                <a:solidFill>
                  <a:schemeClr val="tx1">
                    <a:lumMod val="65000"/>
                    <a:lumOff val="35000"/>
                  </a:schemeClr>
                </a:solidFill>
                <a:effectLst/>
                <a:latin typeface="Changa" pitchFamily="2" charset="-78"/>
                <a:ea typeface="+mn-ea"/>
                <a:cs typeface="Changa" pitchFamily="2" charset="-78"/>
              </a:rPr>
              <a:t>Land Demarcation:</a:t>
            </a:r>
          </a:p>
        </p:txBody>
      </p:sp>
      <p:cxnSp>
        <p:nvCxnSpPr>
          <p:cNvPr id="17" name="Straight Connector 16">
            <a:extLst>
              <a:ext uri="{FF2B5EF4-FFF2-40B4-BE49-F238E27FC236}">
                <a16:creationId xmlns:a16="http://schemas.microsoft.com/office/drawing/2014/main" id="{CF712617-4E93-403A-AE63-CE4F60AB7A9E}"/>
              </a:ext>
            </a:extLst>
          </p:cNvPr>
          <p:cNvCxnSpPr>
            <a:cxnSpLocks/>
          </p:cNvCxnSpPr>
          <p:nvPr/>
        </p:nvCxnSpPr>
        <p:spPr>
          <a:xfrm flipH="1" flipV="1">
            <a:off x="0" y="1714500"/>
            <a:ext cx="63500" cy="83430"/>
          </a:xfrm>
          <a:prstGeom prst="line">
            <a:avLst/>
          </a:prstGeom>
          <a:ln>
            <a:solidFill>
              <a:srgbClr val="DBCAA1"/>
            </a:solidFill>
          </a:ln>
        </p:spPr>
        <p:style>
          <a:lnRef idx="2">
            <a:schemeClr val="accent4"/>
          </a:lnRef>
          <a:fillRef idx="0">
            <a:schemeClr val="accent4"/>
          </a:fillRef>
          <a:effectRef idx="1">
            <a:schemeClr val="accent4"/>
          </a:effectRef>
          <a:fontRef idx="minor">
            <a:schemeClr val="tx1"/>
          </a:fontRef>
        </p:style>
      </p:cxnSp>
      <p:sp>
        <p:nvSpPr>
          <p:cNvPr id="23" name="TextBox 22">
            <a:extLst>
              <a:ext uri="{FF2B5EF4-FFF2-40B4-BE49-F238E27FC236}">
                <a16:creationId xmlns:a16="http://schemas.microsoft.com/office/drawing/2014/main" id="{BE5B5C63-4C63-4769-BE7B-CB70C82A9601}"/>
              </a:ext>
            </a:extLst>
          </p:cNvPr>
          <p:cNvSpPr txBox="1"/>
          <p:nvPr/>
        </p:nvSpPr>
        <p:spPr>
          <a:xfrm>
            <a:off x="557035" y="1371600"/>
            <a:ext cx="5943687" cy="4846320"/>
          </a:xfrm>
          <a:prstGeom prst="rect">
            <a:avLst/>
          </a:prstGeom>
          <a:noFill/>
        </p:spPr>
        <p:txBody>
          <a:bodyPr wrap="square">
            <a:spAutoFit/>
          </a:bodyPr>
          <a:lstStyle/>
          <a:p>
            <a:pPr>
              <a:lnSpc>
                <a:spcPct val="200000"/>
              </a:lnSpc>
            </a:pPr>
            <a:r>
              <a:rPr lang="en-GB" sz="1400" dirty="0" noProof="1">
                <a:solidFill>
                  <a:schemeClr val="accent1">
                    <a:lumMod val="75000"/>
                  </a:schemeClr>
                </a:solidFill>
                <a:latin typeface="Changa" pitchFamily="2" charset="-78"/>
                <a:cs typeface="Changa" pitchFamily="2" charset="-78"/>
              </a:rPr>
              <a:t>Land demarcation is carried out where instructed in the Task Order.</a:t>
            </a:r>
          </a:p>
          <a:p>
            <a:pPr marL="742957" lvl="1" indent="-285757">
              <a:lnSpc>
                <a:spcPct val="20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Verify survey control points and benchmarks</a:t>
            </a:r>
          </a:p>
          <a:p>
            <a:pPr marL="742957" lvl="1" indent="-285757">
              <a:lnSpc>
                <a:spcPct val="20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Stake out plot corners with Total Station or RTK GNSS</a:t>
            </a:r>
          </a:p>
          <a:p>
            <a:pPr marL="742957" lvl="1" indent="-285757">
              <a:lnSpc>
                <a:spcPct val="20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Fix boundary markers and reference them with IDs</a:t>
            </a:r>
          </a:p>
          <a:p>
            <a:pPr marL="742957" lvl="1" indent="-285757">
              <a:lnSpc>
                <a:spcPct val="20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Photograph each corner and marker</a:t>
            </a:r>
          </a:p>
          <a:p>
            <a:pPr marL="742957" lvl="1" indent="-285757">
              <a:lnSpc>
                <a:spcPct val="20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Cross-check with the available approved information</a:t>
            </a:r>
          </a:p>
          <a:p>
            <a:pPr marL="742957" lvl="1" indent="-285757">
              <a:lnSpc>
                <a:spcPct val="15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Corner coordinates</a:t>
            </a:r>
          </a:p>
          <a:p>
            <a:pPr marL="742957" lvl="1" indent="-285757">
              <a:lnSpc>
                <a:spcPct val="15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Marker IDs</a:t>
            </a:r>
          </a:p>
          <a:p>
            <a:pPr marL="742957" lvl="1" indent="-285757">
              <a:lnSpc>
                <a:spcPct val="15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Photo record</a:t>
            </a:r>
          </a:p>
          <a:p>
            <a:pPr marL="742957" lvl="1" indent="-285757">
              <a:lnSpc>
                <a:spcPct val="150000"/>
              </a:lnSpc>
              <a:buFont typeface="Wingdings" panose="05000000000000000000" pitchFamily="2" charset="2"/>
              <a:buChar char="q"/>
            </a:pPr>
            <a:r>
              <a:rPr lang="en-GB" sz="1400" dirty="0" noProof="1">
                <a:solidFill>
                  <a:schemeClr val="accent1">
                    <a:lumMod val="75000"/>
                  </a:schemeClr>
                </a:solidFill>
                <a:latin typeface="Changa" pitchFamily="2" charset="-78"/>
                <a:cs typeface="Changa" pitchFamily="2" charset="-78"/>
              </a:rPr>
              <a:t>Demarcation report</a:t>
            </a:r>
          </a:p>
          <a:p>
            <a:pPr marL="285757" indent="-285757">
              <a:lnSpc>
                <a:spcPct val="200000"/>
              </a:lnSpc>
              <a:buFont typeface="Arial" panose="020B0604020202020204" pitchFamily="34" charset="0"/>
              <a:buChar char="•"/>
            </a:pPr>
            <a:endParaRPr lang="en-GB" sz="1400" dirty="0">
              <a:solidFill>
                <a:schemeClr val="accent1">
                  <a:lumMod val="75000"/>
                </a:schemeClr>
              </a:solidFill>
              <a:latin typeface="Changa" pitchFamily="2" charset="-78"/>
              <a:cs typeface="Changa" pitchFamily="2" charset="-78"/>
            </a:endParaRPr>
          </a:p>
        </p:txBody>
      </p:sp>
      <p:sp>
        <p:nvSpPr>
          <p:cNvPr id="24" name="Rounded Rectangle 23"/>
          <p:cNvSpPr/>
          <p:nvPr/>
        </p:nvSpPr>
        <p:spPr>
          <a:xfrm>
            <a:off x="6812280" y="1097280"/>
            <a:ext cx="4937760" cy="2331720"/>
          </a:xfrm>
          <a:prstGeom prst="roundRect">
            <a:avLst>
              <a:gd name="adj" fmla="val 4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 name="Freeform 1"/>
          <p:cNvSpPr/>
          <p:nvPr/>
        </p:nvSpPr>
        <p:spPr>
          <a:xfrm>
            <a:off x="7562088" y="1448409"/>
            <a:ext cx="3352190" cy="1355141"/>
          </a:xfrm>
          <a:custGeom>
            <a:avLst/>
            <a:gdLst/>
            <a:ahLst/>
            <a:cxnLst/>
            <a:rect l="l" t="t" r="r" b="b"/>
            <a:pathLst>
              <a:path w="3352190" h="1355141">
                <a:moveTo>
                  <a:pt x="257860" y="178308"/>
                </a:moveTo>
                <a:lnTo>
                  <a:pt x="3008376" y="0"/>
                </a:lnTo>
                <a:lnTo>
                  <a:pt x="3352190" y="1176833"/>
                </a:lnTo>
                <a:lnTo>
                  <a:pt x="0" y="1355141"/>
                </a:lnTo>
                <a:close/>
              </a:path>
            </a:pathLst>
          </a:custGeom>
          <a:solidFill>
            <a:srgbClr val="FBEECC"/>
          </a:solidFill>
          <a:ln w="22225">
            <a:solidFill>
              <a:srgbClr val="21446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iamond 24"/>
          <p:cNvSpPr/>
          <p:nvPr/>
        </p:nvSpPr>
        <p:spPr>
          <a:xfrm>
            <a:off x="7701076" y="1507845"/>
            <a:ext cx="237744" cy="237744"/>
          </a:xfrm>
          <a:prstGeom prst="diamond">
            <a:avLst/>
          </a:prstGeom>
          <a:solidFill>
            <a:srgbClr val="EBB13D"/>
          </a:solidFill>
          <a:ln w="15875">
            <a:solidFill>
              <a:srgbClr val="2144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408468" y="1306677"/>
            <a:ext cx="320040" cy="228600"/>
          </a:xfrm>
          <a:prstGeom prst="rect">
            <a:avLst/>
          </a:prstGeom>
          <a:noFill/>
        </p:spPr>
        <p:txBody>
          <a:bodyPr wrap="square" lIns="45720" rIns="45720" tIns="18288" bIns="18288" anchor="t">
            <a:spAutoFit/>
          </a:bodyPr>
          <a:lstStyle/>
          <a:p>
            <a:pPr algn="l">
              <a:spcAft>
                <a:spcPts val="0"/>
              </a:spcAft>
            </a:pPr>
            <a:r>
              <a:rPr sz="1000" b="1" noProof="1">
                <a:solidFill>
                  <a:srgbClr val="21446A"/>
                </a:solidFill>
                <a:latin typeface="TheSans-Bold"/>
                <a:cs typeface="TheSans-Bold"/>
              </a:rPr>
              <a:t>1</a:t>
            </a:r>
          </a:p>
        </p:txBody>
      </p:sp>
      <p:sp>
        <p:nvSpPr>
          <p:cNvPr id="27" name="Diamond 26"/>
          <p:cNvSpPr/>
          <p:nvPr/>
        </p:nvSpPr>
        <p:spPr>
          <a:xfrm>
            <a:off x="10451592" y="1329537"/>
            <a:ext cx="237744" cy="237744"/>
          </a:xfrm>
          <a:prstGeom prst="diamond">
            <a:avLst/>
          </a:prstGeom>
          <a:solidFill>
            <a:srgbClr val="EBB13D"/>
          </a:solidFill>
          <a:ln w="15875">
            <a:solidFill>
              <a:srgbClr val="2144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10707624" y="1128369"/>
            <a:ext cx="320040" cy="228600"/>
          </a:xfrm>
          <a:prstGeom prst="rect">
            <a:avLst/>
          </a:prstGeom>
          <a:noFill/>
        </p:spPr>
        <p:txBody>
          <a:bodyPr wrap="square" lIns="45720" rIns="45720" tIns="18288" bIns="18288" anchor="t">
            <a:spAutoFit/>
          </a:bodyPr>
          <a:lstStyle/>
          <a:p>
            <a:pPr algn="l">
              <a:spcAft>
                <a:spcPts val="0"/>
              </a:spcAft>
            </a:pPr>
            <a:r>
              <a:rPr sz="1000" b="1" noProof="1">
                <a:solidFill>
                  <a:srgbClr val="21446A"/>
                </a:solidFill>
                <a:latin typeface="TheSans-Bold"/>
                <a:cs typeface="TheSans-Bold"/>
              </a:rPr>
              <a:t>2</a:t>
            </a:r>
          </a:p>
        </p:txBody>
      </p:sp>
      <p:sp>
        <p:nvSpPr>
          <p:cNvPr id="29" name="Diamond 28"/>
          <p:cNvSpPr/>
          <p:nvPr/>
        </p:nvSpPr>
        <p:spPr>
          <a:xfrm>
            <a:off x="10795406" y="2506370"/>
            <a:ext cx="237744" cy="237744"/>
          </a:xfrm>
          <a:prstGeom prst="diamond">
            <a:avLst/>
          </a:prstGeom>
          <a:solidFill>
            <a:srgbClr val="EBB13D"/>
          </a:solidFill>
          <a:ln w="15875">
            <a:solidFill>
              <a:srgbClr val="2144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1051438" y="2698394"/>
            <a:ext cx="320040" cy="228600"/>
          </a:xfrm>
          <a:prstGeom prst="rect">
            <a:avLst/>
          </a:prstGeom>
          <a:noFill/>
        </p:spPr>
        <p:txBody>
          <a:bodyPr wrap="square" lIns="45720" rIns="45720" tIns="18288" bIns="18288" anchor="t">
            <a:spAutoFit/>
          </a:bodyPr>
          <a:lstStyle/>
          <a:p>
            <a:pPr algn="l">
              <a:spcAft>
                <a:spcPts val="0"/>
              </a:spcAft>
            </a:pPr>
            <a:r>
              <a:rPr sz="1000" b="1" noProof="1">
                <a:solidFill>
                  <a:srgbClr val="21446A"/>
                </a:solidFill>
                <a:latin typeface="TheSans-Bold"/>
                <a:cs typeface="TheSans-Bold"/>
              </a:rPr>
              <a:t>3</a:t>
            </a:r>
          </a:p>
        </p:txBody>
      </p:sp>
      <p:sp>
        <p:nvSpPr>
          <p:cNvPr id="31" name="Diamond 30"/>
          <p:cNvSpPr/>
          <p:nvPr/>
        </p:nvSpPr>
        <p:spPr>
          <a:xfrm>
            <a:off x="7443215" y="2684678"/>
            <a:ext cx="237744" cy="237744"/>
          </a:xfrm>
          <a:prstGeom prst="diamond">
            <a:avLst/>
          </a:prstGeom>
          <a:solidFill>
            <a:srgbClr val="EBB13D"/>
          </a:solidFill>
          <a:ln w="15875">
            <a:solidFill>
              <a:srgbClr val="21446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150607" y="2876702"/>
            <a:ext cx="320040" cy="228600"/>
          </a:xfrm>
          <a:prstGeom prst="rect">
            <a:avLst/>
          </a:prstGeom>
          <a:noFill/>
        </p:spPr>
        <p:txBody>
          <a:bodyPr wrap="square" lIns="45720" rIns="45720" tIns="18288" bIns="18288" anchor="t">
            <a:spAutoFit/>
          </a:bodyPr>
          <a:lstStyle/>
          <a:p>
            <a:pPr algn="l">
              <a:spcAft>
                <a:spcPts val="0"/>
              </a:spcAft>
            </a:pPr>
            <a:r>
              <a:rPr sz="1000" b="1" noProof="1">
                <a:solidFill>
                  <a:srgbClr val="21446A"/>
                </a:solidFill>
                <a:latin typeface="TheSans-Bold"/>
                <a:cs typeface="TheSans-Bold"/>
              </a:rPr>
              <a:t>4</a:t>
            </a:r>
          </a:p>
        </p:txBody>
      </p:sp>
      <p:sp>
        <p:nvSpPr>
          <p:cNvPr id="33" name="Isosceles Triangle 32"/>
          <p:cNvSpPr/>
          <p:nvPr/>
        </p:nvSpPr>
        <p:spPr>
          <a:xfrm>
            <a:off x="8956548" y="1124712"/>
            <a:ext cx="219456" cy="219456"/>
          </a:xfrm>
          <a:prstGeom prst="triangle">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212580" y="1124712"/>
            <a:ext cx="548640" cy="228600"/>
          </a:xfrm>
          <a:prstGeom prst="rect">
            <a:avLst/>
          </a:prstGeom>
          <a:noFill/>
        </p:spPr>
        <p:txBody>
          <a:bodyPr wrap="square" lIns="45720" rIns="45720" tIns="18288" bIns="18288" anchor="t">
            <a:spAutoFit/>
          </a:bodyPr>
          <a:lstStyle/>
          <a:p>
            <a:pPr algn="l">
              <a:spcAft>
                <a:spcPts val="0"/>
              </a:spcAft>
            </a:pPr>
            <a:r>
              <a:rPr sz="900" b="0" noProof="1">
                <a:solidFill>
                  <a:srgbClr val="21446A"/>
                </a:solidFill>
                <a:latin typeface="TheSans"/>
                <a:cs typeface="TheSans"/>
              </a:rPr>
              <a:t>CP1</a:t>
            </a:r>
          </a:p>
        </p:txBody>
      </p:sp>
      <p:sp>
        <p:nvSpPr>
          <p:cNvPr id="35" name="Isosceles Triangle 34"/>
          <p:cNvSpPr/>
          <p:nvPr/>
        </p:nvSpPr>
        <p:spPr>
          <a:xfrm>
            <a:off x="11320272" y="1927098"/>
            <a:ext cx="219456" cy="219456"/>
          </a:xfrm>
          <a:prstGeom prst="triangle">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11576304" y="1927098"/>
            <a:ext cx="548640" cy="228600"/>
          </a:xfrm>
          <a:prstGeom prst="rect">
            <a:avLst/>
          </a:prstGeom>
          <a:noFill/>
        </p:spPr>
        <p:txBody>
          <a:bodyPr wrap="square" lIns="45720" rIns="45720" tIns="18288" bIns="18288" anchor="t">
            <a:spAutoFit/>
          </a:bodyPr>
          <a:lstStyle/>
          <a:p>
            <a:pPr algn="l">
              <a:spcAft>
                <a:spcPts val="0"/>
              </a:spcAft>
            </a:pPr>
            <a:r>
              <a:rPr sz="900" b="0" noProof="1">
                <a:solidFill>
                  <a:srgbClr val="21446A"/>
                </a:solidFill>
                <a:latin typeface="TheSans"/>
                <a:cs typeface="TheSans"/>
              </a:rPr>
              <a:t>CP2</a:t>
            </a:r>
          </a:p>
        </p:txBody>
      </p:sp>
      <p:cxnSp>
        <p:nvCxnSpPr>
          <p:cNvPr id="37" name="Connector 36"/>
          <p:cNvCxnSpPr/>
          <p:nvPr/>
        </p:nvCxnSpPr>
        <p:spPr>
          <a:xfrm flipH="1">
            <a:off x="7819948" y="1325880"/>
            <a:ext cx="1246328" cy="163677"/>
          </a:xfrm>
          <a:prstGeom prst="line">
            <a:avLst/>
          </a:prstGeom>
          <a:ln w="12700">
            <a:solidFill>
              <a:srgbClr val="21446A"/>
            </a:solidFill>
            <a:prstDash val="dash"/>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949440" y="3127248"/>
            <a:ext cx="4663440" cy="256032"/>
          </a:xfrm>
          <a:prstGeom prst="rect">
            <a:avLst/>
          </a:prstGeom>
          <a:noFill/>
        </p:spPr>
        <p:txBody>
          <a:bodyPr wrap="square" lIns="45720" rIns="45720" tIns="18288" bIns="18288" anchor="t">
            <a:spAutoFit/>
          </a:bodyPr>
          <a:lstStyle/>
          <a:p>
            <a:pPr algn="l">
              <a:spcAft>
                <a:spcPts val="0"/>
              </a:spcAft>
            </a:pPr>
            <a:r>
              <a:rPr sz="1000" b="0" noProof="1">
                <a:solidFill>
                  <a:srgbClr val="7F8692"/>
                </a:solidFill>
                <a:latin typeface="TheSans"/>
                <a:cs typeface="TheSans"/>
              </a:rPr>
              <a:t>Schematic only. Control point (triangle), corner marker (diamond).</a:t>
            </a:r>
          </a:p>
        </p:txBody>
      </p:sp>
      <p:pic>
        <p:nvPicPr>
          <p:cNvPr id="39" name="Picture 38" descr="ph_monument.jpg"/>
          <p:cNvPicPr>
            <a:picLocks noChangeAspect="1"/>
          </p:cNvPicPr>
          <p:nvPr/>
        </p:nvPicPr>
        <p:blipFill>
          <a:blip r:embed="rId7"/>
          <a:srcRect t="6033" b="6033"/>
          <a:stretch>
            <a:fillRect/>
          </a:stretch>
        </p:blipFill>
        <p:spPr>
          <a:xfrm>
            <a:off x="6812280" y="3611880"/>
            <a:ext cx="1554480" cy="2423160"/>
          </a:xfrm>
          <a:prstGeom prst="rect">
            <a:avLst/>
          </a:prstGeom>
          <a:ln w="38100">
            <a:solidFill>
              <a:srgbClr val="FFFFFF"/>
            </a:solidFill>
          </a:ln>
          <a:effectLst>
            <a:outerShdw blurRad="101600" dist="25400" dir="5400000" algn="t" rotWithShape="0">
              <a:srgbClr val="000000">
                <a:alpha val="25000"/>
              </a:srgbClr>
            </a:outerShdw>
          </a:effectLst>
        </p:spPr>
      </p:pic>
      <p:sp>
        <p:nvSpPr>
          <p:cNvPr id="40" name="Oval 39"/>
          <p:cNvSpPr/>
          <p:nvPr/>
        </p:nvSpPr>
        <p:spPr>
          <a:xfrm>
            <a:off x="6885432" y="3685032"/>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noProof="1">
                <a:solidFill>
                  <a:srgbClr val="21446A"/>
                </a:solidFill>
                <a:latin typeface="TheSans-Bold"/>
                <a:cs typeface="TheSans-Bold"/>
              </a:rPr>
              <a:t>1</a:t>
            </a:r>
          </a:p>
        </p:txBody>
      </p:sp>
      <p:sp>
        <p:nvSpPr>
          <p:cNvPr id="41" name="Rounded Rectangle 40"/>
          <p:cNvSpPr/>
          <p:nvPr/>
        </p:nvSpPr>
        <p:spPr>
          <a:xfrm>
            <a:off x="6903720" y="5623560"/>
            <a:ext cx="1371600" cy="329184"/>
          </a:xfrm>
          <a:prstGeom prst="roundRect">
            <a:avLst>
              <a:gd name="adj" fmla="val 35000"/>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noProof="1">
                <a:solidFill>
                  <a:srgbClr val="21446A"/>
                </a:solidFill>
                <a:latin typeface="TheSans-Bold"/>
                <a:cs typeface="TheSans-Bold"/>
              </a:rPr>
              <a:t>Control point</a:t>
            </a:r>
          </a:p>
        </p:txBody>
      </p:sp>
      <p:pic>
        <p:nvPicPr>
          <p:cNvPr id="42" name="Picture 41" descr="ph_gnss_desert.jpg"/>
          <p:cNvPicPr>
            <a:picLocks noChangeAspect="1"/>
          </p:cNvPicPr>
          <p:nvPr/>
        </p:nvPicPr>
        <p:blipFill>
          <a:blip r:embed="rId8"/>
          <a:srcRect l="31955" r="31955"/>
          <a:stretch>
            <a:fillRect/>
          </a:stretch>
        </p:blipFill>
        <p:spPr>
          <a:xfrm>
            <a:off x="8503920" y="3611880"/>
            <a:ext cx="1554480" cy="2423160"/>
          </a:xfrm>
          <a:prstGeom prst="rect">
            <a:avLst/>
          </a:prstGeom>
          <a:ln w="38100">
            <a:solidFill>
              <a:srgbClr val="FFFFFF"/>
            </a:solidFill>
          </a:ln>
          <a:effectLst>
            <a:outerShdw blurRad="101600" dist="25400" dir="5400000" algn="t" rotWithShape="0">
              <a:srgbClr val="000000">
                <a:alpha val="25000"/>
              </a:srgbClr>
            </a:outerShdw>
          </a:effectLst>
        </p:spPr>
      </p:pic>
      <p:sp>
        <p:nvSpPr>
          <p:cNvPr id="43" name="Oval 42"/>
          <p:cNvSpPr/>
          <p:nvPr/>
        </p:nvSpPr>
        <p:spPr>
          <a:xfrm>
            <a:off x="8577072" y="3685032"/>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noProof="1">
                <a:solidFill>
                  <a:srgbClr val="21446A"/>
                </a:solidFill>
                <a:latin typeface="TheSans-Bold"/>
                <a:cs typeface="TheSans-Bold"/>
              </a:rPr>
              <a:t>2</a:t>
            </a:r>
          </a:p>
        </p:txBody>
      </p:sp>
      <p:sp>
        <p:nvSpPr>
          <p:cNvPr id="44" name="Rounded Rectangle 43"/>
          <p:cNvSpPr/>
          <p:nvPr/>
        </p:nvSpPr>
        <p:spPr>
          <a:xfrm>
            <a:off x="8595360" y="5623560"/>
            <a:ext cx="1371600" cy="329184"/>
          </a:xfrm>
          <a:prstGeom prst="roundRect">
            <a:avLst>
              <a:gd name="adj" fmla="val 35000"/>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noProof="1">
                <a:solidFill>
                  <a:srgbClr val="21446A"/>
                </a:solidFill>
                <a:latin typeface="TheSans-Bold"/>
                <a:cs typeface="TheSans-Bold"/>
              </a:rPr>
              <a:t>Stake-out</a:t>
            </a:r>
          </a:p>
        </p:txBody>
      </p:sp>
      <p:pic>
        <p:nvPicPr>
          <p:cNvPr id="45" name="Picture 44" descr="ph_marker.jpg"/>
          <p:cNvPicPr>
            <a:picLocks noChangeAspect="1"/>
          </p:cNvPicPr>
          <p:nvPr/>
        </p:nvPicPr>
        <p:blipFill>
          <a:blip r:embed="rId9"/>
          <a:srcRect t="1751" b="1751"/>
          <a:stretch>
            <a:fillRect/>
          </a:stretch>
        </p:blipFill>
        <p:spPr>
          <a:xfrm>
            <a:off x="10195560" y="3611880"/>
            <a:ext cx="1554480" cy="2423160"/>
          </a:xfrm>
          <a:prstGeom prst="rect">
            <a:avLst/>
          </a:prstGeom>
          <a:ln w="38100">
            <a:solidFill>
              <a:srgbClr val="FFFFFF"/>
            </a:solidFill>
          </a:ln>
          <a:effectLst>
            <a:outerShdw blurRad="101600" dist="25400" dir="5400000" algn="t" rotWithShape="0">
              <a:srgbClr val="000000">
                <a:alpha val="25000"/>
              </a:srgbClr>
            </a:outerShdw>
          </a:effectLst>
        </p:spPr>
      </p:pic>
      <p:sp>
        <p:nvSpPr>
          <p:cNvPr id="46" name="Oval 45"/>
          <p:cNvSpPr/>
          <p:nvPr/>
        </p:nvSpPr>
        <p:spPr>
          <a:xfrm>
            <a:off x="10268712" y="3685032"/>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200" b="1" noProof="1">
                <a:solidFill>
                  <a:srgbClr val="21446A"/>
                </a:solidFill>
                <a:latin typeface="TheSans-Bold"/>
                <a:cs typeface="TheSans-Bold"/>
              </a:rPr>
              <a:t>3</a:t>
            </a:r>
          </a:p>
        </p:txBody>
      </p:sp>
      <p:sp>
        <p:nvSpPr>
          <p:cNvPr id="47" name="Rounded Rectangle 46"/>
          <p:cNvSpPr/>
          <p:nvPr/>
        </p:nvSpPr>
        <p:spPr>
          <a:xfrm>
            <a:off x="10287000" y="5623560"/>
            <a:ext cx="1371600" cy="329184"/>
          </a:xfrm>
          <a:prstGeom prst="roundRect">
            <a:avLst>
              <a:gd name="adj" fmla="val 35000"/>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noProof="1">
                <a:solidFill>
                  <a:srgbClr val="21446A"/>
                </a:solidFill>
                <a:latin typeface="TheSans-Bold"/>
                <a:cs typeface="TheSans-Bold"/>
              </a:rPr>
              <a:t>Boundary marker</a:t>
            </a:r>
          </a:p>
        </p:txBody>
      </p:sp>
    </p:spTree>
    <p:extLst>
      <p:ext uri="{BB962C8B-B14F-4D97-AF65-F5344CB8AC3E}">
        <p14:creationId xmlns:p14="http://schemas.microsoft.com/office/powerpoint/2010/main" val="10211104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bg1.jpg"/>
          <p:cNvPicPr>
            <a:picLocks noChangeAspect="1"/>
          </p:cNvPicPr>
          <p:nvPr/>
        </p:nvPicPr>
        <p:blipFill>
          <a:blip r:embed="rId9"/>
          <a:srcRect l="357" r="357"/>
          <a:stretch>
            <a:fillRect/>
          </a:stretch>
        </p:blipFill>
        <p:spPr>
          <a:xfrm>
            <a:off x="0" y="1078992"/>
            <a:ext cx="12191695" cy="5257800"/>
          </a:xfrm>
          <a:prstGeom prst="rect">
            <a:avLst/>
          </a:prstGeom>
        </p:spPr>
      </p:pic>
      <p:grpSp>
        <p:nvGrpSpPr>
          <p:cNvPr id="9" name="Group 8">
            <a:extLst>
              <a:ext uri="{FF2B5EF4-FFF2-40B4-BE49-F238E27FC236}">
                <a16:creationId xmlns:a16="http://schemas.microsoft.com/office/drawing/2014/main" id="{BF0BD76B-811E-4EFD-804B-67A8E433E89C}"/>
              </a:ext>
            </a:extLst>
          </p:cNvPr>
          <p:cNvGrpSpPr/>
          <p:nvPr/>
        </p:nvGrpSpPr>
        <p:grpSpPr>
          <a:xfrm>
            <a:off x="567795" y="227737"/>
            <a:ext cx="4672014" cy="619125"/>
            <a:chOff x="1544039" y="223837"/>
            <a:chExt cx="4543427"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39" y="223837"/>
              <a:ext cx="4543426"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1" y="333344"/>
              <a:ext cx="3157915"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Methodology</a:t>
              </a:r>
            </a:p>
          </p:txBody>
        </p:sp>
      </p:grpSp>
      <p:sp>
        <p:nvSpPr>
          <p:cNvPr id="14" name="Rectangle 13">
            <a:extLst>
              <a:ext uri="{FF2B5EF4-FFF2-40B4-BE49-F238E27FC236}">
                <a16:creationId xmlns:a16="http://schemas.microsoft.com/office/drawing/2014/main" id="{6002D453-7493-4D49-B4AC-26F8365DE6DC}"/>
              </a:ext>
            </a:extLst>
          </p:cNvPr>
          <p:cNvSpPr/>
          <p:nvPr/>
        </p:nvSpPr>
        <p:spPr>
          <a:xfrm>
            <a:off x="477810" y="937085"/>
            <a:ext cx="5945450" cy="425977"/>
          </a:xfrm>
          <a:prstGeom prst="rect">
            <a:avLst/>
          </a:prstGeom>
          <a:solidFill>
            <a:schemeClr val="accent1">
              <a:lumMod val="40000"/>
              <a:lumOff val="60000"/>
              <a:alpha val="4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nSpc>
                <a:spcPct val="120000"/>
              </a:lnSpc>
            </a:pPr>
            <a:r>
              <a:rPr lang="en-US" sz="1600" b="1" kern="400" spc="110" dirty="0" noProof="1">
                <a:solidFill>
                  <a:schemeClr val="tx1">
                    <a:lumMod val="65000"/>
                    <a:lumOff val="35000"/>
                  </a:schemeClr>
                </a:solidFill>
                <a:effectLst/>
                <a:latin typeface="Changa" pitchFamily="2" charset="-78"/>
                <a:ea typeface="+mn-ea"/>
                <a:cs typeface="Changa" pitchFamily="2" charset="-78"/>
              </a:rPr>
              <a:t>Workflow and schedule:</a:t>
            </a:r>
          </a:p>
        </p:txBody>
      </p:sp>
      <p:cxnSp>
        <p:nvCxnSpPr>
          <p:cNvPr id="17" name="Straight Connector 16">
            <a:extLst>
              <a:ext uri="{FF2B5EF4-FFF2-40B4-BE49-F238E27FC236}">
                <a16:creationId xmlns:a16="http://schemas.microsoft.com/office/drawing/2014/main" id="{CF712617-4E93-403A-AE63-CE4F60AB7A9E}"/>
              </a:ext>
            </a:extLst>
          </p:cNvPr>
          <p:cNvCxnSpPr>
            <a:cxnSpLocks/>
          </p:cNvCxnSpPr>
          <p:nvPr/>
        </p:nvCxnSpPr>
        <p:spPr>
          <a:xfrm flipH="1" flipV="1">
            <a:off x="0" y="1714500"/>
            <a:ext cx="63500" cy="83430"/>
          </a:xfrm>
          <a:prstGeom prst="line">
            <a:avLst/>
          </a:prstGeom>
          <a:ln>
            <a:solidFill>
              <a:srgbClr val="DBCAA1"/>
            </a:solidFill>
          </a:ln>
        </p:spPr>
        <p:style>
          <a:lnRef idx="2">
            <a:schemeClr val="accent4"/>
          </a:lnRef>
          <a:fillRef idx="0">
            <a:schemeClr val="accent4"/>
          </a:fillRef>
          <a:effectRef idx="1">
            <a:schemeClr val="accent4"/>
          </a:effectRef>
          <a:fontRef idx="minor">
            <a:schemeClr val="tx1"/>
          </a:fontRef>
        </p:style>
      </p:cxnSp>
      <p:sp>
        <p:nvSpPr>
          <p:cNvPr id="19" name="Rounded Rectangle 18"/>
          <p:cNvSpPr/>
          <p:nvPr/>
        </p:nvSpPr>
        <p:spPr>
          <a:xfrm>
            <a:off x="548640" y="1481328"/>
            <a:ext cx="7680960" cy="384048"/>
          </a:xfrm>
          <a:prstGeom prst="roundRect">
            <a:avLst>
              <a:gd name="adj" fmla="val 50000"/>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00" b="1" noProof="1">
                <a:solidFill>
                  <a:srgbClr val="21446A"/>
                </a:solidFill>
                <a:latin typeface="TheSans-Bold"/>
                <a:cs typeface="TheSans-Bold"/>
              </a:rPr>
              <a:t>Task Order period: 11 Oct 2026  to  09 Nov 2029</a:t>
            </a:r>
          </a:p>
        </p:txBody>
      </p:sp>
      <p:sp>
        <p:nvSpPr>
          <p:cNvPr id="20" name="Rounded Rectangle 19"/>
          <p:cNvSpPr/>
          <p:nvPr/>
        </p:nvSpPr>
        <p:spPr>
          <a:xfrm>
            <a:off x="8412480" y="1481328"/>
            <a:ext cx="3246120" cy="384048"/>
          </a:xfrm>
          <a:prstGeom prst="roundRect">
            <a:avLst>
              <a:gd name="adj" fmla="val 40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50" b="1" noProof="1">
                <a:solidFill>
                  <a:srgbClr val="FFFFFF"/>
                </a:solidFill>
                <a:latin typeface="TheSans-Bold"/>
                <a:cs typeface="TheSans-Bold"/>
              </a:rPr>
              <a:t>Approval before work starts: 6 working days</a:t>
            </a:r>
          </a:p>
        </p:txBody>
      </p:sp>
      <p:sp>
        <p:nvSpPr>
          <p:cNvPr id="21" name="Rounded Rectangle 20"/>
          <p:cNvSpPr/>
          <p:nvPr/>
        </p:nvSpPr>
        <p:spPr>
          <a:xfrm>
            <a:off x="2514600" y="2011680"/>
            <a:ext cx="1463039" cy="868680"/>
          </a:xfrm>
          <a:prstGeom prst="roundRect">
            <a:avLst>
              <a:gd name="adj" fmla="val 8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2587752" y="2075688"/>
            <a:ext cx="292608" cy="292608"/>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1</a:t>
            </a:r>
          </a:p>
        </p:txBody>
      </p:sp>
      <p:sp>
        <p:nvSpPr>
          <p:cNvPr id="23" name="TextBox 22"/>
          <p:cNvSpPr txBox="1"/>
          <p:nvPr/>
        </p:nvSpPr>
        <p:spPr>
          <a:xfrm>
            <a:off x="2560320" y="2286000"/>
            <a:ext cx="1371600" cy="274320"/>
          </a:xfrm>
          <a:prstGeom prst="rect">
            <a:avLst/>
          </a:prstGeom>
          <a:noFill/>
        </p:spPr>
        <p:txBody>
          <a:bodyPr wrap="square" lIns="45720" rIns="45720" tIns="18288" bIns="18288" anchor="t">
            <a:spAutoFit/>
          </a:bodyPr>
          <a:lstStyle/>
          <a:p>
            <a:pPr algn="ctr">
              <a:spcAft>
                <a:spcPts val="0"/>
              </a:spcAft>
            </a:pPr>
            <a:r>
              <a:rPr sz="1250" b="1" noProof="1">
                <a:solidFill>
                  <a:srgbClr val="FFFFFF"/>
                </a:solidFill>
                <a:latin typeface="TheSans-Bold"/>
                <a:cs typeface="TheSans-Bold"/>
              </a:rPr>
              <a:t>Plan</a:t>
            </a:r>
          </a:p>
        </p:txBody>
      </p:sp>
      <p:sp>
        <p:nvSpPr>
          <p:cNvPr id="24" name="TextBox 23"/>
          <p:cNvSpPr txBox="1"/>
          <p:nvPr/>
        </p:nvSpPr>
        <p:spPr>
          <a:xfrm>
            <a:off x="2560320" y="2542032"/>
            <a:ext cx="1371600" cy="329184"/>
          </a:xfrm>
          <a:prstGeom prst="rect">
            <a:avLst/>
          </a:prstGeom>
          <a:noFill/>
        </p:spPr>
        <p:txBody>
          <a:bodyPr wrap="square" lIns="45720" rIns="45720" tIns="18288" bIns="18288" anchor="t">
            <a:spAutoFit/>
          </a:bodyPr>
          <a:lstStyle/>
          <a:p>
            <a:pPr algn="ctr">
              <a:spcAft>
                <a:spcPts val="0"/>
              </a:spcAft>
            </a:pPr>
            <a:r>
              <a:rPr sz="850" b="0" noProof="1">
                <a:solidFill>
                  <a:srgbClr val="D6E2F0"/>
                </a:solidFill>
                <a:latin typeface="TheSans"/>
                <a:cs typeface="TheSans"/>
              </a:rPr>
              <a:t>Task Order, programme</a:t>
            </a:r>
          </a:p>
        </p:txBody>
      </p:sp>
      <p:sp>
        <p:nvSpPr>
          <p:cNvPr id="25" name="Rounded Rectangle 24"/>
          <p:cNvSpPr/>
          <p:nvPr/>
        </p:nvSpPr>
        <p:spPr>
          <a:xfrm>
            <a:off x="4050791" y="2011680"/>
            <a:ext cx="1463039" cy="868680"/>
          </a:xfrm>
          <a:prstGeom prst="roundRect">
            <a:avLst>
              <a:gd name="adj" fmla="val 8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4123944" y="2075688"/>
            <a:ext cx="292608" cy="292608"/>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2</a:t>
            </a:r>
          </a:p>
        </p:txBody>
      </p:sp>
      <p:sp>
        <p:nvSpPr>
          <p:cNvPr id="27" name="TextBox 26"/>
          <p:cNvSpPr txBox="1"/>
          <p:nvPr/>
        </p:nvSpPr>
        <p:spPr>
          <a:xfrm>
            <a:off x="4096511" y="2286000"/>
            <a:ext cx="1371600" cy="274320"/>
          </a:xfrm>
          <a:prstGeom prst="rect">
            <a:avLst/>
          </a:prstGeom>
          <a:noFill/>
        </p:spPr>
        <p:txBody>
          <a:bodyPr wrap="square" lIns="45720" rIns="45720" tIns="18288" bIns="18288" anchor="t">
            <a:spAutoFit/>
          </a:bodyPr>
          <a:lstStyle/>
          <a:p>
            <a:pPr algn="ctr">
              <a:spcAft>
                <a:spcPts val="0"/>
              </a:spcAft>
            </a:pPr>
            <a:r>
              <a:rPr sz="1250" b="1" noProof="1">
                <a:solidFill>
                  <a:srgbClr val="FFFFFF"/>
                </a:solidFill>
                <a:latin typeface="TheSans-Bold"/>
                <a:cs typeface="TheSans-Bold"/>
              </a:rPr>
              <a:t>Control</a:t>
            </a:r>
          </a:p>
        </p:txBody>
      </p:sp>
      <p:sp>
        <p:nvSpPr>
          <p:cNvPr id="28" name="TextBox 27"/>
          <p:cNvSpPr txBox="1"/>
          <p:nvPr/>
        </p:nvSpPr>
        <p:spPr>
          <a:xfrm>
            <a:off x="4096511" y="2542032"/>
            <a:ext cx="1371600" cy="329184"/>
          </a:xfrm>
          <a:prstGeom prst="rect">
            <a:avLst/>
          </a:prstGeom>
          <a:noFill/>
        </p:spPr>
        <p:txBody>
          <a:bodyPr wrap="square" lIns="45720" rIns="45720" tIns="18288" bIns="18288" anchor="t">
            <a:spAutoFit/>
          </a:bodyPr>
          <a:lstStyle/>
          <a:p>
            <a:pPr algn="ctr">
              <a:spcAft>
                <a:spcPts val="0"/>
              </a:spcAft>
            </a:pPr>
            <a:r>
              <a:rPr sz="850" b="0" noProof="1">
                <a:solidFill>
                  <a:srgbClr val="D6E2F0"/>
                </a:solidFill>
                <a:latin typeface="TheSans"/>
                <a:cs typeface="TheSans"/>
              </a:rPr>
              <a:t>Verify survey control</a:t>
            </a:r>
          </a:p>
        </p:txBody>
      </p:sp>
      <p:sp>
        <p:nvSpPr>
          <p:cNvPr id="29" name="Rounded Rectangle 28"/>
          <p:cNvSpPr/>
          <p:nvPr/>
        </p:nvSpPr>
        <p:spPr>
          <a:xfrm>
            <a:off x="5586983" y="2011680"/>
            <a:ext cx="1463039" cy="868680"/>
          </a:xfrm>
          <a:prstGeom prst="roundRect">
            <a:avLst>
              <a:gd name="adj" fmla="val 8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5660136" y="2075688"/>
            <a:ext cx="292608" cy="292608"/>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3</a:t>
            </a:r>
          </a:p>
        </p:txBody>
      </p:sp>
      <p:sp>
        <p:nvSpPr>
          <p:cNvPr id="31" name="TextBox 30"/>
          <p:cNvSpPr txBox="1"/>
          <p:nvPr/>
        </p:nvSpPr>
        <p:spPr>
          <a:xfrm>
            <a:off x="5632703" y="2286000"/>
            <a:ext cx="1371600" cy="274320"/>
          </a:xfrm>
          <a:prstGeom prst="rect">
            <a:avLst/>
          </a:prstGeom>
          <a:noFill/>
        </p:spPr>
        <p:txBody>
          <a:bodyPr wrap="square" lIns="45720" rIns="45720" tIns="18288" bIns="18288" anchor="t">
            <a:spAutoFit/>
          </a:bodyPr>
          <a:lstStyle/>
          <a:p>
            <a:pPr algn="ctr">
              <a:spcAft>
                <a:spcPts val="0"/>
              </a:spcAft>
            </a:pPr>
            <a:r>
              <a:rPr sz="1250" b="1" noProof="1">
                <a:solidFill>
                  <a:srgbClr val="FFFFFF"/>
                </a:solidFill>
                <a:latin typeface="TheSans-Bold"/>
                <a:cs typeface="TheSans-Bold"/>
              </a:rPr>
              <a:t>Survey</a:t>
            </a:r>
          </a:p>
        </p:txBody>
      </p:sp>
      <p:sp>
        <p:nvSpPr>
          <p:cNvPr id="32" name="TextBox 31"/>
          <p:cNvSpPr txBox="1"/>
          <p:nvPr/>
        </p:nvSpPr>
        <p:spPr>
          <a:xfrm>
            <a:off x="5632703" y="2542032"/>
            <a:ext cx="1371600" cy="329184"/>
          </a:xfrm>
          <a:prstGeom prst="rect">
            <a:avLst/>
          </a:prstGeom>
          <a:noFill/>
        </p:spPr>
        <p:txBody>
          <a:bodyPr wrap="square" lIns="45720" rIns="45720" tIns="18288" bIns="18288" anchor="t">
            <a:spAutoFit/>
          </a:bodyPr>
          <a:lstStyle/>
          <a:p>
            <a:pPr algn="ctr">
              <a:spcAft>
                <a:spcPts val="0"/>
              </a:spcAft>
            </a:pPr>
            <a:r>
              <a:rPr sz="850" b="0" noProof="1">
                <a:solidFill>
                  <a:srgbClr val="D6E2F0"/>
                </a:solidFill>
                <a:latin typeface="TheSans"/>
                <a:cs typeface="TheSans"/>
              </a:rPr>
              <a:t>Land and boundary survey</a:t>
            </a:r>
          </a:p>
        </p:txBody>
      </p:sp>
      <p:sp>
        <p:nvSpPr>
          <p:cNvPr id="33" name="Rounded Rectangle 32"/>
          <p:cNvSpPr/>
          <p:nvPr/>
        </p:nvSpPr>
        <p:spPr>
          <a:xfrm>
            <a:off x="7123176" y="2011680"/>
            <a:ext cx="1463039" cy="868680"/>
          </a:xfrm>
          <a:prstGeom prst="roundRect">
            <a:avLst>
              <a:gd name="adj" fmla="val 8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7196328" y="2075688"/>
            <a:ext cx="292608" cy="292608"/>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4</a:t>
            </a:r>
          </a:p>
        </p:txBody>
      </p:sp>
      <p:sp>
        <p:nvSpPr>
          <p:cNvPr id="35" name="TextBox 34"/>
          <p:cNvSpPr txBox="1"/>
          <p:nvPr/>
        </p:nvSpPr>
        <p:spPr>
          <a:xfrm>
            <a:off x="7168896" y="2286000"/>
            <a:ext cx="1371600" cy="274320"/>
          </a:xfrm>
          <a:prstGeom prst="rect">
            <a:avLst/>
          </a:prstGeom>
          <a:noFill/>
        </p:spPr>
        <p:txBody>
          <a:bodyPr wrap="square" lIns="45720" rIns="45720" tIns="18288" bIns="18288" anchor="t">
            <a:spAutoFit/>
          </a:bodyPr>
          <a:lstStyle/>
          <a:p>
            <a:pPr algn="ctr">
              <a:spcAft>
                <a:spcPts val="0"/>
              </a:spcAft>
            </a:pPr>
            <a:r>
              <a:rPr sz="1250" b="1" noProof="1">
                <a:solidFill>
                  <a:srgbClr val="FFFFFF"/>
                </a:solidFill>
                <a:latin typeface="TheSans-Bold"/>
                <a:cs typeface="TheSans-Bold"/>
              </a:rPr>
              <a:t>Demarcation</a:t>
            </a:r>
          </a:p>
        </p:txBody>
      </p:sp>
      <p:sp>
        <p:nvSpPr>
          <p:cNvPr id="36" name="TextBox 35"/>
          <p:cNvSpPr txBox="1"/>
          <p:nvPr/>
        </p:nvSpPr>
        <p:spPr>
          <a:xfrm>
            <a:off x="7168896" y="2542032"/>
            <a:ext cx="1371600" cy="329184"/>
          </a:xfrm>
          <a:prstGeom prst="rect">
            <a:avLst/>
          </a:prstGeom>
          <a:noFill/>
        </p:spPr>
        <p:txBody>
          <a:bodyPr wrap="square" lIns="45720" rIns="45720" tIns="18288" bIns="18288" anchor="t">
            <a:spAutoFit/>
          </a:bodyPr>
          <a:lstStyle/>
          <a:p>
            <a:pPr algn="ctr">
              <a:spcAft>
                <a:spcPts val="0"/>
              </a:spcAft>
            </a:pPr>
            <a:r>
              <a:rPr sz="850" b="0" noProof="1">
                <a:solidFill>
                  <a:srgbClr val="D6E2F0"/>
                </a:solidFill>
                <a:latin typeface="TheSans"/>
                <a:cs typeface="TheSans"/>
              </a:rPr>
              <a:t>Stake-out and markers</a:t>
            </a:r>
          </a:p>
        </p:txBody>
      </p:sp>
      <p:sp>
        <p:nvSpPr>
          <p:cNvPr id="37" name="Rounded Rectangle 36"/>
          <p:cNvSpPr/>
          <p:nvPr/>
        </p:nvSpPr>
        <p:spPr>
          <a:xfrm>
            <a:off x="8659367" y="2011680"/>
            <a:ext cx="1463039" cy="868680"/>
          </a:xfrm>
          <a:prstGeom prst="roundRect">
            <a:avLst>
              <a:gd name="adj" fmla="val 8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8732519" y="2075688"/>
            <a:ext cx="292608" cy="292608"/>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5</a:t>
            </a:r>
          </a:p>
        </p:txBody>
      </p:sp>
      <p:sp>
        <p:nvSpPr>
          <p:cNvPr id="39" name="TextBox 38"/>
          <p:cNvSpPr txBox="1"/>
          <p:nvPr/>
        </p:nvSpPr>
        <p:spPr>
          <a:xfrm>
            <a:off x="8705088" y="2286000"/>
            <a:ext cx="1371600" cy="274320"/>
          </a:xfrm>
          <a:prstGeom prst="rect">
            <a:avLst/>
          </a:prstGeom>
          <a:noFill/>
        </p:spPr>
        <p:txBody>
          <a:bodyPr wrap="square" lIns="45720" rIns="45720" tIns="18288" bIns="18288" anchor="t">
            <a:spAutoFit/>
          </a:bodyPr>
          <a:lstStyle/>
          <a:p>
            <a:pPr algn="ctr">
              <a:spcAft>
                <a:spcPts val="0"/>
              </a:spcAft>
            </a:pPr>
            <a:r>
              <a:rPr sz="1250" b="1" noProof="1">
                <a:solidFill>
                  <a:srgbClr val="FFFFFF"/>
                </a:solidFill>
                <a:latin typeface="TheSans-Bold"/>
                <a:cs typeface="TheSans-Bold"/>
              </a:rPr>
              <a:t>Deliverables</a:t>
            </a:r>
          </a:p>
        </p:txBody>
      </p:sp>
      <p:sp>
        <p:nvSpPr>
          <p:cNvPr id="40" name="TextBox 39"/>
          <p:cNvSpPr txBox="1"/>
          <p:nvPr/>
        </p:nvSpPr>
        <p:spPr>
          <a:xfrm>
            <a:off x="8705088" y="2542032"/>
            <a:ext cx="1371600" cy="329184"/>
          </a:xfrm>
          <a:prstGeom prst="rect">
            <a:avLst/>
          </a:prstGeom>
          <a:noFill/>
        </p:spPr>
        <p:txBody>
          <a:bodyPr wrap="square" lIns="45720" rIns="45720" tIns="18288" bIns="18288" anchor="t">
            <a:spAutoFit/>
          </a:bodyPr>
          <a:lstStyle/>
          <a:p>
            <a:pPr algn="ctr">
              <a:spcAft>
                <a:spcPts val="0"/>
              </a:spcAft>
            </a:pPr>
            <a:r>
              <a:rPr sz="850" b="0" noProof="1">
                <a:solidFill>
                  <a:srgbClr val="D6E2F0"/>
                </a:solidFill>
                <a:latin typeface="TheSans"/>
                <a:cs typeface="TheSans"/>
              </a:rPr>
              <a:t>Processing, drawings, QA/QC</a:t>
            </a:r>
          </a:p>
        </p:txBody>
      </p:sp>
      <p:sp>
        <p:nvSpPr>
          <p:cNvPr id="41" name="Rounded Rectangle 40"/>
          <p:cNvSpPr/>
          <p:nvPr/>
        </p:nvSpPr>
        <p:spPr>
          <a:xfrm>
            <a:off x="10195560" y="2011680"/>
            <a:ext cx="1463039" cy="868680"/>
          </a:xfrm>
          <a:prstGeom prst="roundRect">
            <a:avLst>
              <a:gd name="adj" fmla="val 8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Oval 41"/>
          <p:cNvSpPr/>
          <p:nvPr/>
        </p:nvSpPr>
        <p:spPr>
          <a:xfrm>
            <a:off x="10268712" y="2075688"/>
            <a:ext cx="292608" cy="292608"/>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6</a:t>
            </a:r>
          </a:p>
        </p:txBody>
      </p:sp>
      <p:sp>
        <p:nvSpPr>
          <p:cNvPr id="43" name="TextBox 42"/>
          <p:cNvSpPr txBox="1"/>
          <p:nvPr/>
        </p:nvSpPr>
        <p:spPr>
          <a:xfrm>
            <a:off x="10241280" y="2286000"/>
            <a:ext cx="1371600" cy="274320"/>
          </a:xfrm>
          <a:prstGeom prst="rect">
            <a:avLst/>
          </a:prstGeom>
          <a:noFill/>
        </p:spPr>
        <p:txBody>
          <a:bodyPr wrap="square" lIns="45720" rIns="45720" tIns="18288" bIns="18288" anchor="t">
            <a:spAutoFit/>
          </a:bodyPr>
          <a:lstStyle/>
          <a:p>
            <a:pPr algn="ctr">
              <a:spcAft>
                <a:spcPts val="0"/>
              </a:spcAft>
            </a:pPr>
            <a:r>
              <a:rPr sz="1250" b="1" noProof="1">
                <a:solidFill>
                  <a:srgbClr val="FFFFFF"/>
                </a:solidFill>
                <a:latin typeface="TheSans-Bold"/>
                <a:cs typeface="TheSans-Bold"/>
              </a:rPr>
              <a:t>Close-out</a:t>
            </a:r>
          </a:p>
        </p:txBody>
      </p:sp>
      <p:sp>
        <p:nvSpPr>
          <p:cNvPr id="44" name="TextBox 43"/>
          <p:cNvSpPr txBox="1"/>
          <p:nvPr/>
        </p:nvSpPr>
        <p:spPr>
          <a:xfrm>
            <a:off x="10241280" y="2542032"/>
            <a:ext cx="1371600" cy="329184"/>
          </a:xfrm>
          <a:prstGeom prst="rect">
            <a:avLst/>
          </a:prstGeom>
          <a:noFill/>
        </p:spPr>
        <p:txBody>
          <a:bodyPr wrap="square" lIns="45720" rIns="45720" tIns="18288" bIns="18288" anchor="t">
            <a:spAutoFit/>
          </a:bodyPr>
          <a:lstStyle/>
          <a:p>
            <a:pPr algn="ctr">
              <a:spcAft>
                <a:spcPts val="0"/>
              </a:spcAft>
            </a:pPr>
            <a:r>
              <a:rPr sz="850" b="0" noProof="1">
                <a:solidFill>
                  <a:srgbClr val="D6E2F0"/>
                </a:solidFill>
                <a:latin typeface="TheSans"/>
                <a:cs typeface="TheSans"/>
              </a:rPr>
              <a:t>Review, approval, final submission</a:t>
            </a:r>
          </a:p>
        </p:txBody>
      </p:sp>
      <p:sp>
        <p:nvSpPr>
          <p:cNvPr id="45" name="Rounded Rectangle 44"/>
          <p:cNvSpPr/>
          <p:nvPr/>
        </p:nvSpPr>
        <p:spPr>
          <a:xfrm>
            <a:off x="548640" y="3017520"/>
            <a:ext cx="1874519" cy="548640"/>
          </a:xfrm>
          <a:prstGeom prst="roundRect">
            <a:avLst>
              <a:gd name="adj" fmla="val 10000"/>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50" b="1" noProof="1">
                <a:solidFill>
                  <a:srgbClr val="FFFFFF"/>
                </a:solidFill>
                <a:latin typeface="TheSans-Bold"/>
                <a:cs typeface="TheSans-Bold"/>
              </a:rPr>
              <a:t>Land Survey</a:t>
            </a:r>
          </a:p>
        </p:txBody>
      </p:sp>
      <p:sp>
        <p:nvSpPr>
          <p:cNvPr id="46" name="Pentagon 45"/>
          <p:cNvSpPr/>
          <p:nvPr/>
        </p:nvSpPr>
        <p:spPr>
          <a:xfrm>
            <a:off x="2514600" y="3017520"/>
            <a:ext cx="1517904" cy="548640"/>
          </a:xfrm>
          <a:prstGeom prst="homePlate">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Chevron 46"/>
          <p:cNvSpPr/>
          <p:nvPr/>
        </p:nvSpPr>
        <p:spPr>
          <a:xfrm>
            <a:off x="4050791" y="3017520"/>
            <a:ext cx="1517904" cy="548640"/>
          </a:xfrm>
          <a:prstGeom prst="chevron">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Chevron 47"/>
          <p:cNvSpPr/>
          <p:nvPr/>
        </p:nvSpPr>
        <p:spPr>
          <a:xfrm>
            <a:off x="5586983" y="3017520"/>
            <a:ext cx="1517904" cy="548640"/>
          </a:xfrm>
          <a:prstGeom prst="chevron">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9" name="Connector 48"/>
          <p:cNvCxnSpPr/>
          <p:nvPr/>
        </p:nvCxnSpPr>
        <p:spPr>
          <a:xfrm>
            <a:off x="7351775" y="3291839"/>
            <a:ext cx="1078993" cy="0"/>
          </a:xfrm>
          <a:prstGeom prst="line">
            <a:avLst/>
          </a:prstGeom>
          <a:ln w="19050">
            <a:solidFill>
              <a:srgbClr val="7F8692"/>
            </a:solidFill>
            <a:prstDash val="dash"/>
          </a:ln>
        </p:spPr>
        <p:style>
          <a:lnRef idx="2">
            <a:schemeClr val="accent1"/>
          </a:lnRef>
          <a:fillRef idx="0">
            <a:schemeClr val="accent1"/>
          </a:fillRef>
          <a:effectRef idx="1">
            <a:schemeClr val="accent1"/>
          </a:effectRef>
          <a:fontRef idx="minor">
            <a:schemeClr val="tx1"/>
          </a:fontRef>
        </p:style>
      </p:cxnSp>
      <p:sp>
        <p:nvSpPr>
          <p:cNvPr id="50" name="Chevron 49"/>
          <p:cNvSpPr/>
          <p:nvPr/>
        </p:nvSpPr>
        <p:spPr>
          <a:xfrm>
            <a:off x="8659367" y="3017520"/>
            <a:ext cx="1517904" cy="548640"/>
          </a:xfrm>
          <a:prstGeom prst="chevron">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Chevron 50"/>
          <p:cNvSpPr/>
          <p:nvPr/>
        </p:nvSpPr>
        <p:spPr>
          <a:xfrm>
            <a:off x="10195560" y="3017520"/>
            <a:ext cx="1517904" cy="548640"/>
          </a:xfrm>
          <a:prstGeom prst="chevron">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Rounded Rectangle 51"/>
          <p:cNvSpPr/>
          <p:nvPr/>
        </p:nvSpPr>
        <p:spPr>
          <a:xfrm>
            <a:off x="548640" y="3657600"/>
            <a:ext cx="1874519" cy="548640"/>
          </a:xfrm>
          <a:prstGeom prst="roundRect">
            <a:avLst>
              <a:gd name="adj" fmla="val 10000"/>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50" b="1" noProof="1">
                <a:solidFill>
                  <a:srgbClr val="21446A"/>
                </a:solidFill>
                <a:latin typeface="TheSans-Bold"/>
                <a:cs typeface="TheSans-Bold"/>
              </a:rPr>
              <a:t>Land Demarcation</a:t>
            </a:r>
          </a:p>
        </p:txBody>
      </p:sp>
      <p:sp>
        <p:nvSpPr>
          <p:cNvPr id="53" name="Pentagon 52"/>
          <p:cNvSpPr/>
          <p:nvPr/>
        </p:nvSpPr>
        <p:spPr>
          <a:xfrm>
            <a:off x="2514600" y="3657600"/>
            <a:ext cx="1517904" cy="548640"/>
          </a:xfrm>
          <a:prstGeom prst="homePlate">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hevron 53"/>
          <p:cNvSpPr/>
          <p:nvPr/>
        </p:nvSpPr>
        <p:spPr>
          <a:xfrm>
            <a:off x="4050791" y="3657600"/>
            <a:ext cx="1517904" cy="548640"/>
          </a:xfrm>
          <a:prstGeom prst="chevron">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55" name="Connector 54"/>
          <p:cNvCxnSpPr/>
          <p:nvPr/>
        </p:nvCxnSpPr>
        <p:spPr>
          <a:xfrm>
            <a:off x="5815583" y="3931920"/>
            <a:ext cx="1078992" cy="0"/>
          </a:xfrm>
          <a:prstGeom prst="line">
            <a:avLst/>
          </a:prstGeom>
          <a:ln w="19050">
            <a:solidFill>
              <a:srgbClr val="7F8692"/>
            </a:solidFill>
            <a:prstDash val="dash"/>
          </a:ln>
        </p:spPr>
        <p:style>
          <a:lnRef idx="2">
            <a:schemeClr val="accent1"/>
          </a:lnRef>
          <a:fillRef idx="0">
            <a:schemeClr val="accent1"/>
          </a:fillRef>
          <a:effectRef idx="1">
            <a:schemeClr val="accent1"/>
          </a:effectRef>
          <a:fontRef idx="minor">
            <a:schemeClr val="tx1"/>
          </a:fontRef>
        </p:style>
      </p:cxnSp>
      <p:sp>
        <p:nvSpPr>
          <p:cNvPr id="56" name="Chevron 55"/>
          <p:cNvSpPr/>
          <p:nvPr/>
        </p:nvSpPr>
        <p:spPr>
          <a:xfrm>
            <a:off x="7123176" y="3657600"/>
            <a:ext cx="1517904" cy="548640"/>
          </a:xfrm>
          <a:prstGeom prst="chevron">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Chevron 56"/>
          <p:cNvSpPr/>
          <p:nvPr/>
        </p:nvSpPr>
        <p:spPr>
          <a:xfrm>
            <a:off x="8659367" y="3657600"/>
            <a:ext cx="1517904" cy="548640"/>
          </a:xfrm>
          <a:prstGeom prst="chevron">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Chevron 57"/>
          <p:cNvSpPr/>
          <p:nvPr/>
        </p:nvSpPr>
        <p:spPr>
          <a:xfrm>
            <a:off x="10195560" y="3657600"/>
            <a:ext cx="1517904" cy="548640"/>
          </a:xfrm>
          <a:prstGeom prst="chevron">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ounded Rectangle 58"/>
          <p:cNvSpPr/>
          <p:nvPr/>
        </p:nvSpPr>
        <p:spPr>
          <a:xfrm>
            <a:off x="548640" y="4297679"/>
            <a:ext cx="1874519" cy="548640"/>
          </a:xfrm>
          <a:prstGeom prst="roundRect">
            <a:avLst>
              <a:gd name="adj" fmla="val 10000"/>
            </a:avLst>
          </a:prstGeom>
          <a:solidFill>
            <a:srgbClr val="5B8F6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50" b="1" noProof="1">
                <a:solidFill>
                  <a:srgbClr val="FFFFFF"/>
                </a:solidFill>
                <a:latin typeface="TheSans-Bold"/>
                <a:cs typeface="TheSans-Bold"/>
              </a:rPr>
              <a:t>Title Deeds</a:t>
            </a:r>
          </a:p>
          <a:p>
            <a:pPr algn="ctr"/>
            <a:r>
              <a:rPr sz="1050" b="1" noProof="1">
                <a:solidFill>
                  <a:srgbClr val="FFFFFF"/>
                </a:solidFill>
                <a:latin typeface="TheSans-Bold"/>
                <a:cs typeface="TheSans-Bold"/>
              </a:rPr>
              <a:t>Plots and Units</a:t>
            </a:r>
          </a:p>
        </p:txBody>
      </p:sp>
      <p:sp>
        <p:nvSpPr>
          <p:cNvPr id="60" name="Pentagon 59"/>
          <p:cNvSpPr/>
          <p:nvPr/>
        </p:nvSpPr>
        <p:spPr>
          <a:xfrm>
            <a:off x="2514600" y="4297679"/>
            <a:ext cx="1517904" cy="548640"/>
          </a:xfrm>
          <a:prstGeom prst="homePlate">
            <a:avLst/>
          </a:prstGeom>
          <a:solidFill>
            <a:srgbClr val="5B8F6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Chevron 60"/>
          <p:cNvSpPr/>
          <p:nvPr/>
        </p:nvSpPr>
        <p:spPr>
          <a:xfrm>
            <a:off x="4050791" y="4297679"/>
            <a:ext cx="1517904" cy="548640"/>
          </a:xfrm>
          <a:prstGeom prst="chevron">
            <a:avLst/>
          </a:prstGeom>
          <a:solidFill>
            <a:srgbClr val="5B8F6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hevron 61"/>
          <p:cNvSpPr/>
          <p:nvPr/>
        </p:nvSpPr>
        <p:spPr>
          <a:xfrm>
            <a:off x="5586983" y="4297679"/>
            <a:ext cx="1517904" cy="548640"/>
          </a:xfrm>
          <a:prstGeom prst="chevron">
            <a:avLst/>
          </a:prstGeom>
          <a:solidFill>
            <a:srgbClr val="5B8F6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Chevron 62"/>
          <p:cNvSpPr/>
          <p:nvPr/>
        </p:nvSpPr>
        <p:spPr>
          <a:xfrm>
            <a:off x="7123176" y="4297679"/>
            <a:ext cx="1517904" cy="548640"/>
          </a:xfrm>
          <a:prstGeom prst="chevron">
            <a:avLst/>
          </a:prstGeom>
          <a:solidFill>
            <a:srgbClr val="FFFFFF"/>
          </a:solidFill>
          <a:ln w="31750">
            <a:solidFill>
              <a:srgbClr val="5B8F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7397496" y="4343399"/>
            <a:ext cx="850392" cy="457200"/>
          </a:xfrm>
          <a:prstGeom prst="rect">
            <a:avLst/>
          </a:prstGeom>
          <a:noFill/>
        </p:spPr>
        <p:txBody>
          <a:bodyPr wrap="square" lIns="0" rIns="0" tIns="18288" bIns="18288" anchor="ctr">
            <a:spAutoFit/>
          </a:bodyPr>
          <a:lstStyle/>
          <a:p>
            <a:pPr algn="ctr">
              <a:spcAft>
                <a:spcPts val="0"/>
              </a:spcAft>
            </a:pPr>
            <a:r>
              <a:rPr sz="850" b="1" noProof="1">
                <a:solidFill>
                  <a:srgbClr val="5B8F6B"/>
                </a:solidFill>
                <a:latin typeface="TheSans-Bold"/>
                <a:cs typeface="TheSans-Bold"/>
              </a:rPr>
              <a:t>where instructed</a:t>
            </a:r>
          </a:p>
        </p:txBody>
      </p:sp>
      <p:sp>
        <p:nvSpPr>
          <p:cNvPr id="65" name="Chevron 64"/>
          <p:cNvSpPr/>
          <p:nvPr/>
        </p:nvSpPr>
        <p:spPr>
          <a:xfrm>
            <a:off x="8659367" y="4297679"/>
            <a:ext cx="1517904" cy="548640"/>
          </a:xfrm>
          <a:prstGeom prst="chevron">
            <a:avLst/>
          </a:prstGeom>
          <a:solidFill>
            <a:srgbClr val="5B8F6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hevron 65"/>
          <p:cNvSpPr/>
          <p:nvPr/>
        </p:nvSpPr>
        <p:spPr>
          <a:xfrm>
            <a:off x="10195560" y="4297679"/>
            <a:ext cx="1517904" cy="548640"/>
          </a:xfrm>
          <a:prstGeom prst="chevron">
            <a:avLst/>
          </a:prstGeom>
          <a:solidFill>
            <a:srgbClr val="5B8F6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extBox 66"/>
          <p:cNvSpPr txBox="1"/>
          <p:nvPr/>
        </p:nvSpPr>
        <p:spPr>
          <a:xfrm>
            <a:off x="10469880" y="4343399"/>
            <a:ext cx="850392" cy="457200"/>
          </a:xfrm>
          <a:prstGeom prst="rect">
            <a:avLst/>
          </a:prstGeom>
          <a:noFill/>
        </p:spPr>
        <p:txBody>
          <a:bodyPr wrap="square" lIns="0" rIns="0" tIns="18288" bIns="18288" anchor="ctr">
            <a:spAutoFit/>
          </a:bodyPr>
          <a:lstStyle/>
          <a:p>
            <a:pPr algn="ctr">
              <a:spcAft>
                <a:spcPts val="0"/>
              </a:spcAft>
            </a:pPr>
            <a:r>
              <a:rPr sz="850" b="1" noProof="1">
                <a:solidFill>
                  <a:srgbClr val="FFFFFF"/>
                </a:solidFill>
                <a:latin typeface="TheSans-Bold"/>
                <a:cs typeface="TheSans-Bold"/>
              </a:rPr>
              <a:t>incl. authority approval</a:t>
            </a:r>
          </a:p>
        </p:txBody>
      </p:sp>
      <p:sp>
        <p:nvSpPr>
          <p:cNvPr id="68" name="Rounded Rectangle 67"/>
          <p:cNvSpPr/>
          <p:nvPr/>
        </p:nvSpPr>
        <p:spPr>
          <a:xfrm>
            <a:off x="548640" y="4937759"/>
            <a:ext cx="1874519" cy="548640"/>
          </a:xfrm>
          <a:prstGeom prst="roundRect">
            <a:avLst>
              <a:gd name="adj" fmla="val 10000"/>
            </a:avLst>
          </a:prstGeom>
          <a:solidFill>
            <a:srgbClr val="B44B4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50" b="1" noProof="1">
                <a:solidFill>
                  <a:srgbClr val="FFFFFF"/>
                </a:solidFill>
                <a:latin typeface="TheSans-Bold"/>
                <a:cs typeface="TheSans-Bold"/>
              </a:rPr>
              <a:t>Title Deeds</a:t>
            </a:r>
          </a:p>
          <a:p>
            <a:pPr algn="ctr"/>
            <a:r>
              <a:rPr sz="1050" b="1" noProof="1">
                <a:solidFill>
                  <a:srgbClr val="FFFFFF"/>
                </a:solidFill>
                <a:latin typeface="TheSans-Bold"/>
                <a:cs typeface="TheSans-Bold"/>
              </a:rPr>
              <a:t>Main, Phase, Sub-Phase, Block</a:t>
            </a:r>
          </a:p>
        </p:txBody>
      </p:sp>
      <p:sp>
        <p:nvSpPr>
          <p:cNvPr id="69" name="Pentagon 68"/>
          <p:cNvSpPr/>
          <p:nvPr/>
        </p:nvSpPr>
        <p:spPr>
          <a:xfrm>
            <a:off x="2514600" y="4937759"/>
            <a:ext cx="1517904" cy="548640"/>
          </a:xfrm>
          <a:prstGeom prst="homePlate">
            <a:avLst/>
          </a:prstGeom>
          <a:solidFill>
            <a:srgbClr val="B44B4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Chevron 69"/>
          <p:cNvSpPr/>
          <p:nvPr/>
        </p:nvSpPr>
        <p:spPr>
          <a:xfrm>
            <a:off x="4050791" y="4937759"/>
            <a:ext cx="1517904" cy="548640"/>
          </a:xfrm>
          <a:prstGeom prst="chevron">
            <a:avLst/>
          </a:prstGeom>
          <a:solidFill>
            <a:srgbClr val="B44B4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Chevron 70"/>
          <p:cNvSpPr/>
          <p:nvPr/>
        </p:nvSpPr>
        <p:spPr>
          <a:xfrm>
            <a:off x="5586983" y="4937759"/>
            <a:ext cx="1517904" cy="548640"/>
          </a:xfrm>
          <a:prstGeom prst="chevron">
            <a:avLst/>
          </a:prstGeom>
          <a:solidFill>
            <a:srgbClr val="B44B4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Chevron 71"/>
          <p:cNvSpPr/>
          <p:nvPr/>
        </p:nvSpPr>
        <p:spPr>
          <a:xfrm>
            <a:off x="7123176" y="4937759"/>
            <a:ext cx="1517904" cy="548640"/>
          </a:xfrm>
          <a:prstGeom prst="chevron">
            <a:avLst/>
          </a:prstGeom>
          <a:solidFill>
            <a:srgbClr val="FFFFFF"/>
          </a:solidFill>
          <a:ln w="31750">
            <a:solidFill>
              <a:srgbClr val="B44B4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extBox 72"/>
          <p:cNvSpPr txBox="1"/>
          <p:nvPr/>
        </p:nvSpPr>
        <p:spPr>
          <a:xfrm>
            <a:off x="7397496" y="4983479"/>
            <a:ext cx="850392" cy="457200"/>
          </a:xfrm>
          <a:prstGeom prst="rect">
            <a:avLst/>
          </a:prstGeom>
          <a:noFill/>
        </p:spPr>
        <p:txBody>
          <a:bodyPr wrap="square" lIns="0" rIns="0" tIns="18288" bIns="18288" anchor="ctr">
            <a:spAutoFit/>
          </a:bodyPr>
          <a:lstStyle/>
          <a:p>
            <a:pPr algn="ctr">
              <a:spcAft>
                <a:spcPts val="0"/>
              </a:spcAft>
            </a:pPr>
            <a:r>
              <a:rPr sz="850" b="1" noProof="1">
                <a:solidFill>
                  <a:srgbClr val="B44B4B"/>
                </a:solidFill>
                <a:latin typeface="TheSans-Bold"/>
                <a:cs typeface="TheSans-Bold"/>
              </a:rPr>
              <a:t>where instructed</a:t>
            </a:r>
          </a:p>
        </p:txBody>
      </p:sp>
      <p:sp>
        <p:nvSpPr>
          <p:cNvPr id="74" name="Chevron 73"/>
          <p:cNvSpPr/>
          <p:nvPr/>
        </p:nvSpPr>
        <p:spPr>
          <a:xfrm>
            <a:off x="8659367" y="4937759"/>
            <a:ext cx="1517904" cy="548640"/>
          </a:xfrm>
          <a:prstGeom prst="chevron">
            <a:avLst/>
          </a:prstGeom>
          <a:solidFill>
            <a:srgbClr val="B44B4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Chevron 74"/>
          <p:cNvSpPr/>
          <p:nvPr/>
        </p:nvSpPr>
        <p:spPr>
          <a:xfrm>
            <a:off x="10195560" y="4937759"/>
            <a:ext cx="1517904" cy="548640"/>
          </a:xfrm>
          <a:prstGeom prst="chevron">
            <a:avLst/>
          </a:prstGeom>
          <a:solidFill>
            <a:srgbClr val="B44B4B"/>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10469880" y="4983479"/>
            <a:ext cx="850392" cy="457200"/>
          </a:xfrm>
          <a:prstGeom prst="rect">
            <a:avLst/>
          </a:prstGeom>
          <a:noFill/>
        </p:spPr>
        <p:txBody>
          <a:bodyPr wrap="square" lIns="0" rIns="0" tIns="18288" bIns="18288" anchor="ctr">
            <a:spAutoFit/>
          </a:bodyPr>
          <a:lstStyle/>
          <a:p>
            <a:pPr algn="ctr">
              <a:spcAft>
                <a:spcPts val="0"/>
              </a:spcAft>
            </a:pPr>
            <a:r>
              <a:rPr sz="850" b="1" noProof="1">
                <a:solidFill>
                  <a:srgbClr val="FFFFFF"/>
                </a:solidFill>
                <a:latin typeface="TheSans-Bold"/>
                <a:cs typeface="TheSans-Bold"/>
              </a:rPr>
              <a:t>incl. authority approval</a:t>
            </a:r>
          </a:p>
        </p:txBody>
      </p:sp>
      <p:sp>
        <p:nvSpPr>
          <p:cNvPr id="77" name="TextBox 76"/>
          <p:cNvSpPr txBox="1"/>
          <p:nvPr/>
        </p:nvSpPr>
        <p:spPr>
          <a:xfrm>
            <a:off x="548640" y="5641848"/>
            <a:ext cx="1874519" cy="274320"/>
          </a:xfrm>
          <a:prstGeom prst="rect">
            <a:avLst/>
          </a:prstGeom>
          <a:noFill/>
        </p:spPr>
        <p:txBody>
          <a:bodyPr wrap="square" lIns="45720" rIns="45720" tIns="18288" bIns="18288" anchor="ctr">
            <a:spAutoFit/>
          </a:bodyPr>
          <a:lstStyle/>
          <a:p>
            <a:pPr algn="l">
              <a:spcAft>
                <a:spcPts val="0"/>
              </a:spcAft>
            </a:pPr>
            <a:r>
              <a:rPr sz="1100" b="1" noProof="1">
                <a:solidFill>
                  <a:srgbClr val="21446A"/>
                </a:solidFill>
                <a:latin typeface="TheSans-Bold"/>
                <a:cs typeface="TheSans-Bold"/>
              </a:rPr>
              <a:t>Milestones</a:t>
            </a:r>
          </a:p>
        </p:txBody>
      </p:sp>
      <p:cxnSp>
        <p:nvCxnSpPr>
          <p:cNvPr id="78" name="Connector 77"/>
          <p:cNvCxnSpPr/>
          <p:nvPr/>
        </p:nvCxnSpPr>
        <p:spPr>
          <a:xfrm>
            <a:off x="2697480" y="5779008"/>
            <a:ext cx="8851392" cy="0"/>
          </a:xfrm>
          <a:prstGeom prst="line">
            <a:avLst/>
          </a:prstGeom>
          <a:ln w="25400">
            <a:solidFill>
              <a:srgbClr val="21446A"/>
            </a:solidFill>
          </a:ln>
        </p:spPr>
        <p:style>
          <a:lnRef idx="2">
            <a:schemeClr val="accent1"/>
          </a:lnRef>
          <a:fillRef idx="0">
            <a:schemeClr val="accent1"/>
          </a:fillRef>
          <a:effectRef idx="1">
            <a:schemeClr val="accent1"/>
          </a:effectRef>
          <a:fontRef idx="minor">
            <a:schemeClr val="tx1"/>
          </a:fontRef>
        </p:style>
      </p:cxnSp>
      <p:sp>
        <p:nvSpPr>
          <p:cNvPr id="79" name="Diamond 78"/>
          <p:cNvSpPr/>
          <p:nvPr/>
        </p:nvSpPr>
        <p:spPr>
          <a:xfrm>
            <a:off x="2636520"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1</a:t>
            </a:r>
          </a:p>
        </p:txBody>
      </p:sp>
      <p:sp>
        <p:nvSpPr>
          <p:cNvPr id="80" name="Diamond 79"/>
          <p:cNvSpPr/>
          <p:nvPr/>
        </p:nvSpPr>
        <p:spPr>
          <a:xfrm>
            <a:off x="3118104"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2</a:t>
            </a:r>
          </a:p>
        </p:txBody>
      </p:sp>
      <p:sp>
        <p:nvSpPr>
          <p:cNvPr id="81" name="Diamond 80"/>
          <p:cNvSpPr/>
          <p:nvPr/>
        </p:nvSpPr>
        <p:spPr>
          <a:xfrm>
            <a:off x="3599688"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3</a:t>
            </a:r>
          </a:p>
        </p:txBody>
      </p:sp>
      <p:sp>
        <p:nvSpPr>
          <p:cNvPr id="82" name="Diamond 81"/>
          <p:cNvSpPr/>
          <p:nvPr/>
        </p:nvSpPr>
        <p:spPr>
          <a:xfrm>
            <a:off x="6931151"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4</a:t>
            </a:r>
          </a:p>
        </p:txBody>
      </p:sp>
      <p:sp>
        <p:nvSpPr>
          <p:cNvPr id="83" name="Diamond 82"/>
          <p:cNvSpPr/>
          <p:nvPr/>
        </p:nvSpPr>
        <p:spPr>
          <a:xfrm>
            <a:off x="8901683"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5</a:t>
            </a:r>
          </a:p>
        </p:txBody>
      </p:sp>
      <p:sp>
        <p:nvSpPr>
          <p:cNvPr id="84" name="Diamond 83"/>
          <p:cNvSpPr/>
          <p:nvPr/>
        </p:nvSpPr>
        <p:spPr>
          <a:xfrm>
            <a:off x="9624059"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6</a:t>
            </a:r>
          </a:p>
        </p:txBody>
      </p:sp>
      <p:sp>
        <p:nvSpPr>
          <p:cNvPr id="85" name="Diamond 84"/>
          <p:cNvSpPr/>
          <p:nvPr/>
        </p:nvSpPr>
        <p:spPr>
          <a:xfrm>
            <a:off x="10257282"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7</a:t>
            </a:r>
          </a:p>
        </p:txBody>
      </p:sp>
      <p:sp>
        <p:nvSpPr>
          <p:cNvPr id="86" name="Diamond 85"/>
          <p:cNvSpPr/>
          <p:nvPr/>
        </p:nvSpPr>
        <p:spPr>
          <a:xfrm>
            <a:off x="10618469"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8</a:t>
            </a:r>
          </a:p>
        </p:txBody>
      </p:sp>
      <p:sp>
        <p:nvSpPr>
          <p:cNvPr id="87" name="Diamond 86"/>
          <p:cNvSpPr/>
          <p:nvPr/>
        </p:nvSpPr>
        <p:spPr>
          <a:xfrm>
            <a:off x="10979658"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9</a:t>
            </a:r>
          </a:p>
        </p:txBody>
      </p:sp>
      <p:sp>
        <p:nvSpPr>
          <p:cNvPr id="88" name="Diamond 87"/>
          <p:cNvSpPr/>
          <p:nvPr/>
        </p:nvSpPr>
        <p:spPr>
          <a:xfrm>
            <a:off x="11340846" y="5623560"/>
            <a:ext cx="310896" cy="310896"/>
          </a:xfrm>
          <a:prstGeom prst="diamond">
            <a:avLst/>
          </a:prstGeom>
          <a:solidFill>
            <a:srgbClr val="EBB13D"/>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750" b="1" noProof="1">
                <a:solidFill>
                  <a:srgbClr val="21446A"/>
                </a:solidFill>
                <a:latin typeface="TheSans-Bold"/>
                <a:cs typeface="TheSans-Bold"/>
              </a:rPr>
              <a:t>10</a:t>
            </a:r>
          </a:p>
        </p:txBody>
      </p:sp>
      <p:sp>
        <p:nvSpPr>
          <p:cNvPr id="89" name="TextBox 88"/>
          <p:cNvSpPr txBox="1"/>
          <p:nvPr/>
        </p:nvSpPr>
        <p:spPr>
          <a:xfrm>
            <a:off x="548640" y="5998464"/>
            <a:ext cx="11109960" cy="274320"/>
          </a:xfrm>
          <a:prstGeom prst="rect">
            <a:avLst/>
          </a:prstGeom>
          <a:noFill/>
        </p:spPr>
        <p:txBody>
          <a:bodyPr wrap="square" lIns="45720" rIns="45720" tIns="18288" bIns="18288" anchor="t">
            <a:spAutoFit/>
          </a:bodyPr>
          <a:lstStyle/>
          <a:p>
            <a:pPr algn="l">
              <a:spcAft>
                <a:spcPts val="0"/>
              </a:spcAft>
            </a:pPr>
            <a:r>
              <a:rPr sz="850" b="0" noProof="1">
                <a:solidFill>
                  <a:srgbClr val="7F8692"/>
                </a:solidFill>
                <a:latin typeface="TheSans"/>
                <a:cs typeface="TheSans"/>
              </a:rPr>
              <a:t>M1 Receipt  |  M2 Programme agreed  |  M3 Mobilized  |  M4 Field survey done  |  M5 Draft ready  |  M6 QA/QC done  |  M7 Submitted  |  M8 Comments closed  |  M9 Final submission  |  M10 Close-out</a:t>
            </a:r>
          </a:p>
        </p:txBody>
      </p:sp>
    </p:spTree>
    <p:extLst>
      <p:ext uri="{BB962C8B-B14F-4D97-AF65-F5344CB8AC3E}">
        <p14:creationId xmlns:p14="http://schemas.microsoft.com/office/powerpoint/2010/main" val="8908098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descr="bg_pale.jpg"/>
          <p:cNvPicPr>
            <a:picLocks noChangeAspect="1"/>
          </p:cNvPicPr>
          <p:nvPr/>
        </p:nvPicPr>
        <p:blipFill>
          <a:blip r:embed="rId6"/>
          <a:srcRect t="11650" b="11650"/>
          <a:stretch>
            <a:fillRect/>
          </a:stretch>
        </p:blipFill>
        <p:spPr>
          <a:xfrm>
            <a:off x="0" y="1078992"/>
            <a:ext cx="12191695" cy="5257800"/>
          </a:xfrm>
          <a:prstGeom prst="rect">
            <a:avLst/>
          </a:prstGeom>
        </p:spPr>
      </p:pic>
      <p:grpSp>
        <p:nvGrpSpPr>
          <p:cNvPr id="9" name="Group 8">
            <a:extLst>
              <a:ext uri="{FF2B5EF4-FFF2-40B4-BE49-F238E27FC236}">
                <a16:creationId xmlns:a16="http://schemas.microsoft.com/office/drawing/2014/main" id="{BF0BD76B-811E-4EFD-804B-67A8E433E89C}"/>
              </a:ext>
            </a:extLst>
          </p:cNvPr>
          <p:cNvGrpSpPr/>
          <p:nvPr/>
        </p:nvGrpSpPr>
        <p:grpSpPr>
          <a:xfrm>
            <a:off x="567795" y="227737"/>
            <a:ext cx="4672014" cy="619125"/>
            <a:chOff x="1544039" y="223837"/>
            <a:chExt cx="4543427"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39" y="223837"/>
              <a:ext cx="4543426"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1" y="333344"/>
              <a:ext cx="3157915"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Deliverables</a:t>
              </a:r>
            </a:p>
          </p:txBody>
        </p:sp>
      </p:grpSp>
      <p:cxnSp>
        <p:nvCxnSpPr>
          <p:cNvPr id="17" name="Straight Connector 16">
            <a:extLst>
              <a:ext uri="{FF2B5EF4-FFF2-40B4-BE49-F238E27FC236}">
                <a16:creationId xmlns:a16="http://schemas.microsoft.com/office/drawing/2014/main" id="{CF712617-4E93-403A-AE63-CE4F60AB7A9E}"/>
              </a:ext>
            </a:extLst>
          </p:cNvPr>
          <p:cNvCxnSpPr>
            <a:cxnSpLocks/>
          </p:cNvCxnSpPr>
          <p:nvPr/>
        </p:nvCxnSpPr>
        <p:spPr>
          <a:xfrm flipH="1" flipV="1">
            <a:off x="0" y="1714500"/>
            <a:ext cx="63500" cy="83430"/>
          </a:xfrm>
          <a:prstGeom prst="line">
            <a:avLst/>
          </a:prstGeom>
          <a:ln>
            <a:solidFill>
              <a:srgbClr val="DBCAA1"/>
            </a:solidFill>
          </a:ln>
        </p:spPr>
        <p:style>
          <a:lnRef idx="2">
            <a:schemeClr val="accent4"/>
          </a:lnRef>
          <a:fillRef idx="0">
            <a:schemeClr val="accent4"/>
          </a:fillRef>
          <a:effectRef idx="1">
            <a:schemeClr val="accent4"/>
          </a:effectRef>
          <a:fontRef idx="minor">
            <a:schemeClr val="tx1"/>
          </a:fontRef>
        </p:style>
      </p:cxnSp>
      <p:pic>
        <p:nvPicPr>
          <p:cNvPr id="19" name="Picture 18" descr="safar_idplan.png"/>
          <p:cNvPicPr>
            <a:picLocks noChangeAspect="1"/>
          </p:cNvPicPr>
          <p:nvPr/>
        </p:nvPicPr>
        <p:blipFill>
          <a:blip r:embed="rId7"/>
          <a:srcRect l="14" r="14"/>
          <a:stretch>
            <a:fillRect/>
          </a:stretch>
        </p:blipFill>
        <p:spPr>
          <a:xfrm>
            <a:off x="548640" y="1280160"/>
            <a:ext cx="5577840" cy="3831336"/>
          </a:xfrm>
          <a:prstGeom prst="rect">
            <a:avLst/>
          </a:prstGeom>
          <a:ln w="12700">
            <a:solidFill>
              <a:srgbClr val="C9D3E3"/>
            </a:solidFill>
          </a:ln>
          <a:effectLst>
            <a:outerShdw blurRad="101600" dist="25400" dir="5400000" algn="t" rotWithShape="0">
              <a:srgbClr val="000000">
                <a:alpha val="25000"/>
              </a:srgbClr>
            </a:outerShdw>
          </a:effectLst>
        </p:spPr>
      </p:pic>
      <p:pic>
        <p:nvPicPr>
          <p:cNvPr id="20" name="Picture 19" descr="safar_photos.png"/>
          <p:cNvPicPr>
            <a:picLocks noChangeAspect="1"/>
          </p:cNvPicPr>
          <p:nvPr/>
        </p:nvPicPr>
        <p:blipFill>
          <a:blip r:embed="rId8"/>
          <a:srcRect l="2" r="2"/>
          <a:stretch>
            <a:fillRect/>
          </a:stretch>
        </p:blipFill>
        <p:spPr>
          <a:xfrm>
            <a:off x="6400800" y="1280160"/>
            <a:ext cx="5257800" cy="3447288"/>
          </a:xfrm>
          <a:prstGeom prst="rect">
            <a:avLst/>
          </a:prstGeom>
          <a:ln w="12700">
            <a:solidFill>
              <a:srgbClr val="C9D3E3"/>
            </a:solidFill>
          </a:ln>
          <a:effectLst>
            <a:outerShdw blurRad="101600" dist="25400" dir="5400000" algn="t" rotWithShape="0">
              <a:srgbClr val="000000">
                <a:alpha val="25000"/>
              </a:srgbClr>
            </a:outerShdw>
          </a:effectLst>
        </p:spPr>
      </p:pic>
      <p:sp>
        <p:nvSpPr>
          <p:cNvPr id="21" name="TextBox 20"/>
          <p:cNvSpPr txBox="1"/>
          <p:nvPr/>
        </p:nvSpPr>
        <p:spPr>
          <a:xfrm>
            <a:off x="548640" y="5138928"/>
            <a:ext cx="5577840" cy="256032"/>
          </a:xfrm>
          <a:prstGeom prst="rect">
            <a:avLst/>
          </a:prstGeom>
          <a:noFill/>
        </p:spPr>
        <p:txBody>
          <a:bodyPr wrap="square" lIns="45720" rIns="45720" tIns="18288" bIns="18288" anchor="t">
            <a:spAutoFit/>
          </a:bodyPr>
          <a:lstStyle/>
          <a:p>
            <a:pPr algn="l">
              <a:spcAft>
                <a:spcPts val="0"/>
              </a:spcAft>
            </a:pPr>
            <a:r>
              <a:rPr sz="1000" b="0" noProof="1">
                <a:solidFill>
                  <a:srgbClr val="7F8692"/>
                </a:solidFill>
                <a:latin typeface="TheSans"/>
                <a:cs typeface="TheSans"/>
              </a:rPr>
              <a:t>Survey decision (Property ID Plan): sample from previous Alqotr work</a:t>
            </a:r>
          </a:p>
        </p:txBody>
      </p:sp>
      <p:sp>
        <p:nvSpPr>
          <p:cNvPr id="22" name="TextBox 21"/>
          <p:cNvSpPr txBox="1"/>
          <p:nvPr/>
        </p:nvSpPr>
        <p:spPr>
          <a:xfrm>
            <a:off x="6400800" y="4754880"/>
            <a:ext cx="5257800" cy="256032"/>
          </a:xfrm>
          <a:prstGeom prst="rect">
            <a:avLst/>
          </a:prstGeom>
          <a:noFill/>
        </p:spPr>
        <p:txBody>
          <a:bodyPr wrap="square" lIns="45720" rIns="45720" tIns="18288" bIns="18288" anchor="t">
            <a:spAutoFit/>
          </a:bodyPr>
          <a:lstStyle/>
          <a:p>
            <a:pPr algn="l">
              <a:spcAft>
                <a:spcPts val="0"/>
              </a:spcAft>
            </a:pPr>
            <a:r>
              <a:rPr sz="1000" b="0" noProof="1">
                <a:solidFill>
                  <a:srgbClr val="7F8692"/>
                </a:solidFill>
                <a:latin typeface="TheSans"/>
                <a:cs typeface="TheSans"/>
              </a:rPr>
              <a:t>Plot photo record: sample from previous Alqotr work</a:t>
            </a:r>
          </a:p>
        </p:txBody>
      </p:sp>
      <p:sp>
        <p:nvSpPr>
          <p:cNvPr id="23" name="Rounded Rectangle 22"/>
          <p:cNvSpPr/>
          <p:nvPr/>
        </p:nvSpPr>
        <p:spPr>
          <a:xfrm>
            <a:off x="548640" y="5623560"/>
            <a:ext cx="2697480" cy="502920"/>
          </a:xfrm>
          <a:prstGeom prst="roundRect">
            <a:avLst>
              <a:gd name="adj" fmla="val 35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noProof="1">
                <a:solidFill>
                  <a:srgbClr val="FFFFFF"/>
                </a:solidFill>
                <a:latin typeface="TheSans-Bold"/>
                <a:cs typeface="TheSans-Bold"/>
              </a:rPr>
              <a:t>Survey drawings</a:t>
            </a:r>
          </a:p>
        </p:txBody>
      </p:sp>
      <p:sp>
        <p:nvSpPr>
          <p:cNvPr id="24" name="Rounded Rectangle 23"/>
          <p:cNvSpPr/>
          <p:nvPr/>
        </p:nvSpPr>
        <p:spPr>
          <a:xfrm>
            <a:off x="3355848" y="5623560"/>
            <a:ext cx="2697480" cy="502920"/>
          </a:xfrm>
          <a:prstGeom prst="roundRect">
            <a:avLst>
              <a:gd name="adj" fmla="val 35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noProof="1">
                <a:solidFill>
                  <a:srgbClr val="FFFFFF"/>
                </a:solidFill>
                <a:latin typeface="TheSans-Bold"/>
                <a:cs typeface="TheSans-Bold"/>
              </a:rPr>
              <a:t>Title deed documents</a:t>
            </a:r>
          </a:p>
        </p:txBody>
      </p:sp>
      <p:sp>
        <p:nvSpPr>
          <p:cNvPr id="25" name="Rounded Rectangle 24"/>
          <p:cNvSpPr/>
          <p:nvPr/>
        </p:nvSpPr>
        <p:spPr>
          <a:xfrm>
            <a:off x="6163055" y="5623560"/>
            <a:ext cx="2697480" cy="502920"/>
          </a:xfrm>
          <a:prstGeom prst="roundRect">
            <a:avLst>
              <a:gd name="adj" fmla="val 35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noProof="1">
                <a:solidFill>
                  <a:srgbClr val="FFFFFF"/>
                </a:solidFill>
                <a:latin typeface="TheSans-Bold"/>
                <a:cs typeface="TheSans-Bold"/>
              </a:rPr>
              <a:t>Demarcation report</a:t>
            </a:r>
          </a:p>
        </p:txBody>
      </p:sp>
      <p:sp>
        <p:nvSpPr>
          <p:cNvPr id="26" name="Rounded Rectangle 25"/>
          <p:cNvSpPr/>
          <p:nvPr/>
        </p:nvSpPr>
        <p:spPr>
          <a:xfrm>
            <a:off x="8970263" y="5623560"/>
            <a:ext cx="2697480" cy="502920"/>
          </a:xfrm>
          <a:prstGeom prst="roundRect">
            <a:avLst>
              <a:gd name="adj" fmla="val 35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noProof="1">
                <a:solidFill>
                  <a:srgbClr val="FFFFFF"/>
                </a:solidFill>
                <a:latin typeface="TheSans-Bold"/>
                <a:cs typeface="TheSans-Bold"/>
              </a:rPr>
              <a:t>Final survey records</a:t>
            </a:r>
          </a:p>
        </p:txBody>
      </p:sp>
    </p:spTree>
    <p:extLst>
      <p:ext uri="{BB962C8B-B14F-4D97-AF65-F5344CB8AC3E}">
        <p14:creationId xmlns:p14="http://schemas.microsoft.com/office/powerpoint/2010/main" val="575504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bg4.jpg"/>
          <p:cNvPicPr>
            <a:picLocks noChangeAspect="1"/>
          </p:cNvPicPr>
          <p:nvPr/>
        </p:nvPicPr>
        <p:blipFill>
          <a:blip r:embed="rId6"/>
          <a:srcRect l="146" r="146"/>
          <a:stretch>
            <a:fillRect/>
          </a:stretch>
        </p:blipFill>
        <p:spPr>
          <a:xfrm>
            <a:off x="0" y="1078992"/>
            <a:ext cx="12191695" cy="5257800"/>
          </a:xfrm>
          <a:prstGeom prst="rect">
            <a:avLst/>
          </a:prstGeom>
        </p:spPr>
      </p:pic>
      <p:grpSp>
        <p:nvGrpSpPr>
          <p:cNvPr id="9" name="Group 8">
            <a:extLst>
              <a:ext uri="{FF2B5EF4-FFF2-40B4-BE49-F238E27FC236}">
                <a16:creationId xmlns:a16="http://schemas.microsoft.com/office/drawing/2014/main" id="{BF0BD76B-811E-4EFD-804B-67A8E433E89C}"/>
              </a:ext>
            </a:extLst>
          </p:cNvPr>
          <p:cNvGrpSpPr/>
          <p:nvPr/>
        </p:nvGrpSpPr>
        <p:grpSpPr>
          <a:xfrm>
            <a:off x="235476" y="319978"/>
            <a:ext cx="4538665" cy="619125"/>
            <a:chOff x="1544037" y="223837"/>
            <a:chExt cx="4538665"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37" y="223837"/>
              <a:ext cx="4538665"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51" y="333344"/>
              <a:ext cx="2867401"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Resource deployment</a:t>
              </a:r>
            </a:p>
          </p:txBody>
        </p:sp>
      </p:grpSp>
      <p:sp>
        <p:nvSpPr>
          <p:cNvPr id="13" name="Rounded Rectangle 12"/>
          <p:cNvSpPr/>
          <p:nvPr/>
        </p:nvSpPr>
        <p:spPr>
          <a:xfrm>
            <a:off x="5024628" y="1280160"/>
            <a:ext cx="2148840" cy="566928"/>
          </a:xfrm>
          <a:prstGeom prst="roundRect">
            <a:avLst>
              <a:gd name="adj" fmla="val 15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FFFFFF"/>
                </a:solidFill>
                <a:latin typeface="TheSans-Bold"/>
                <a:cs typeface="TheSans-Bold"/>
              </a:rPr>
              <a:t>Project Director</a:t>
            </a:r>
          </a:p>
        </p:txBody>
      </p:sp>
      <p:sp>
        <p:nvSpPr>
          <p:cNvPr id="14" name="Rounded Rectangle 13"/>
          <p:cNvSpPr/>
          <p:nvPr/>
        </p:nvSpPr>
        <p:spPr>
          <a:xfrm>
            <a:off x="5024628" y="2176272"/>
            <a:ext cx="2148840" cy="566928"/>
          </a:xfrm>
          <a:prstGeom prst="roundRect">
            <a:avLst>
              <a:gd name="adj" fmla="val 15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FFFFFF"/>
                </a:solidFill>
                <a:latin typeface="TheSans-Bold"/>
                <a:cs typeface="TheSans-Bold"/>
              </a:rPr>
              <a:t>Project Manager</a:t>
            </a:r>
          </a:p>
        </p:txBody>
      </p:sp>
      <p:cxnSp>
        <p:nvCxnSpPr>
          <p:cNvPr id="15" name="Connector 14"/>
          <p:cNvCxnSpPr/>
          <p:nvPr/>
        </p:nvCxnSpPr>
        <p:spPr>
          <a:xfrm>
            <a:off x="6099048" y="1847088"/>
            <a:ext cx="0" cy="164592"/>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6099048" y="2011680"/>
            <a:ext cx="0"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099048" y="2011680"/>
            <a:ext cx="0" cy="164592"/>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1851660" y="3072384"/>
            <a:ext cx="2148840" cy="566928"/>
          </a:xfrm>
          <a:prstGeom prst="roundRect">
            <a:avLst>
              <a:gd name="adj" fmla="val 15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FFFFFF"/>
                </a:solidFill>
                <a:latin typeface="TheSans-Bold"/>
                <a:cs typeface="TheSans-Bold"/>
              </a:rPr>
              <a:t>QA/QC Engineer</a:t>
            </a:r>
          </a:p>
        </p:txBody>
      </p:sp>
      <p:sp>
        <p:nvSpPr>
          <p:cNvPr id="19" name="Rounded Rectangle 18"/>
          <p:cNvSpPr/>
          <p:nvPr/>
        </p:nvSpPr>
        <p:spPr>
          <a:xfrm>
            <a:off x="5024628" y="3072384"/>
            <a:ext cx="2148840" cy="566928"/>
          </a:xfrm>
          <a:prstGeom prst="roundRect">
            <a:avLst>
              <a:gd name="adj" fmla="val 15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FFFFFF"/>
                </a:solidFill>
                <a:latin typeface="TheSans-Bold"/>
                <a:cs typeface="TheSans-Bold"/>
              </a:rPr>
              <a:t>Survey Manager</a:t>
            </a:r>
          </a:p>
        </p:txBody>
      </p:sp>
      <p:sp>
        <p:nvSpPr>
          <p:cNvPr id="20" name="Rounded Rectangle 19"/>
          <p:cNvSpPr/>
          <p:nvPr/>
        </p:nvSpPr>
        <p:spPr>
          <a:xfrm>
            <a:off x="8161019" y="3072384"/>
            <a:ext cx="2148840" cy="566928"/>
          </a:xfrm>
          <a:prstGeom prst="roundRect">
            <a:avLst>
              <a:gd name="adj" fmla="val 15000"/>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21446A"/>
                </a:solidFill>
                <a:latin typeface="TheSans-Bold"/>
                <a:cs typeface="TheSans-Bold"/>
              </a:rPr>
              <a:t>HSE Officer</a:t>
            </a:r>
          </a:p>
        </p:txBody>
      </p:sp>
      <p:cxnSp>
        <p:nvCxnSpPr>
          <p:cNvPr id="21" name="Connector 20"/>
          <p:cNvCxnSpPr/>
          <p:nvPr/>
        </p:nvCxnSpPr>
        <p:spPr>
          <a:xfrm>
            <a:off x="6099048" y="2743200"/>
            <a:ext cx="0" cy="164591"/>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2926080" y="2907791"/>
            <a:ext cx="3172968"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2926080" y="2907791"/>
            <a:ext cx="0" cy="164593"/>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6099048" y="2743200"/>
            <a:ext cx="0" cy="164591"/>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6099048" y="2907791"/>
            <a:ext cx="0"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6099048" y="2907791"/>
            <a:ext cx="0" cy="164593"/>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99048" y="2743200"/>
            <a:ext cx="0" cy="164591"/>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6099048" y="2907791"/>
            <a:ext cx="3136392"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35440" y="2907791"/>
            <a:ext cx="0" cy="164593"/>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583180" y="4023360"/>
            <a:ext cx="2148840" cy="566928"/>
          </a:xfrm>
          <a:prstGeom prst="roundRect">
            <a:avLst>
              <a:gd name="adj" fmla="val 15000"/>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21446A"/>
                </a:solidFill>
                <a:latin typeface="TheSans-Bold"/>
                <a:cs typeface="TheSans-Bold"/>
              </a:rPr>
              <a:t>CAD Draftsman</a:t>
            </a:r>
          </a:p>
        </p:txBody>
      </p:sp>
      <p:sp>
        <p:nvSpPr>
          <p:cNvPr id="31" name="Rounded Rectangle 30"/>
          <p:cNvSpPr/>
          <p:nvPr/>
        </p:nvSpPr>
        <p:spPr>
          <a:xfrm>
            <a:off x="5024628" y="4023360"/>
            <a:ext cx="2148840" cy="566928"/>
          </a:xfrm>
          <a:prstGeom prst="roundRect">
            <a:avLst>
              <a:gd name="adj" fmla="val 15000"/>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FFFFFF"/>
                </a:solidFill>
                <a:latin typeface="TheSans-Bold"/>
                <a:cs typeface="TheSans-Bold"/>
              </a:rPr>
              <a:t>Senior Survey Engineer</a:t>
            </a:r>
          </a:p>
        </p:txBody>
      </p:sp>
      <p:sp>
        <p:nvSpPr>
          <p:cNvPr id="32" name="Rounded Rectangle 31"/>
          <p:cNvSpPr/>
          <p:nvPr/>
        </p:nvSpPr>
        <p:spPr>
          <a:xfrm>
            <a:off x="7429500" y="4023360"/>
            <a:ext cx="2148840" cy="566928"/>
          </a:xfrm>
          <a:prstGeom prst="roundRect">
            <a:avLst>
              <a:gd name="adj" fmla="val 15000"/>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21446A"/>
                </a:solidFill>
                <a:latin typeface="TheSans-Bold"/>
                <a:cs typeface="TheSans-Bold"/>
              </a:rPr>
              <a:t>GIS Specialist</a:t>
            </a:r>
          </a:p>
        </p:txBody>
      </p:sp>
      <p:cxnSp>
        <p:nvCxnSpPr>
          <p:cNvPr id="33" name="Connector 32"/>
          <p:cNvCxnSpPr/>
          <p:nvPr/>
        </p:nvCxnSpPr>
        <p:spPr>
          <a:xfrm>
            <a:off x="6099048" y="3639312"/>
            <a:ext cx="0" cy="192024"/>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3657600" y="3831336"/>
            <a:ext cx="2441448"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3657600" y="3831336"/>
            <a:ext cx="0" cy="192024"/>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6099048" y="3639312"/>
            <a:ext cx="0" cy="192024"/>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6099048" y="3831336"/>
            <a:ext cx="0"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6099048" y="3831336"/>
            <a:ext cx="0" cy="192024"/>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6099048" y="3639312"/>
            <a:ext cx="0" cy="192024"/>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6099048" y="3831336"/>
            <a:ext cx="2404872"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a:off x="8503920" y="3831336"/>
            <a:ext cx="0" cy="192024"/>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5024628" y="4937760"/>
            <a:ext cx="2148840" cy="566928"/>
          </a:xfrm>
          <a:prstGeom prst="roundRect">
            <a:avLst>
              <a:gd name="adj" fmla="val 15000"/>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FFFFFF"/>
                </a:solidFill>
                <a:latin typeface="TheSans-Bold"/>
                <a:cs typeface="TheSans-Bold"/>
              </a:rPr>
              <a:t>Surveyor(s)</a:t>
            </a:r>
          </a:p>
        </p:txBody>
      </p:sp>
      <p:cxnSp>
        <p:nvCxnSpPr>
          <p:cNvPr id="43" name="Connector 42"/>
          <p:cNvCxnSpPr/>
          <p:nvPr/>
        </p:nvCxnSpPr>
        <p:spPr>
          <a:xfrm>
            <a:off x="6099048" y="4590288"/>
            <a:ext cx="0" cy="173736"/>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6099048" y="4764024"/>
            <a:ext cx="0"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a:off x="6099048" y="4764024"/>
            <a:ext cx="0" cy="173736"/>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ounded Rectangle 45"/>
          <p:cNvSpPr/>
          <p:nvPr/>
        </p:nvSpPr>
        <p:spPr>
          <a:xfrm>
            <a:off x="5024628" y="5669280"/>
            <a:ext cx="2148840" cy="566928"/>
          </a:xfrm>
          <a:prstGeom prst="roundRect">
            <a:avLst>
              <a:gd name="adj" fmla="val 15000"/>
            </a:avLst>
          </a:prstGeom>
          <a:solidFill>
            <a:srgbClr val="2F5B8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150" b="1" noProof="1">
                <a:solidFill>
                  <a:srgbClr val="FFFFFF"/>
                </a:solidFill>
                <a:latin typeface="TheSans-Bold"/>
                <a:cs typeface="TheSans-Bold"/>
              </a:rPr>
              <a:t>Survey Assistant(s)</a:t>
            </a:r>
          </a:p>
        </p:txBody>
      </p:sp>
      <p:cxnSp>
        <p:nvCxnSpPr>
          <p:cNvPr id="47" name="Connector 46"/>
          <p:cNvCxnSpPr/>
          <p:nvPr/>
        </p:nvCxnSpPr>
        <p:spPr>
          <a:xfrm>
            <a:off x="6099048" y="5504688"/>
            <a:ext cx="0" cy="82296"/>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099048" y="5586984"/>
            <a:ext cx="0" cy="0"/>
          </a:xfrm>
          <a:prstGeom prst="line">
            <a:avLst/>
          </a:prstGeom>
          <a:ln w="22225">
            <a:solidFill>
              <a:srgbClr val="21446A"/>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6099048" y="5586984"/>
            <a:ext cx="0" cy="82296"/>
          </a:xfrm>
          <a:prstGeom prst="line">
            <a:avLst/>
          </a:prstGeom>
          <a:ln w="22225">
            <a:solidFill>
              <a:srgbClr val="21446A"/>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8778240" y="4846320"/>
            <a:ext cx="274320" cy="274320"/>
          </a:xfrm>
          <a:prstGeom prst="roundRect">
            <a:avLst>
              <a:gd name="adj" fmla="val 30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144000" y="4846320"/>
            <a:ext cx="2560320" cy="274320"/>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Core Project Team</a:t>
            </a:r>
          </a:p>
        </p:txBody>
      </p:sp>
      <p:sp>
        <p:nvSpPr>
          <p:cNvPr id="52" name="Rounded Rectangle 51"/>
          <p:cNvSpPr/>
          <p:nvPr/>
        </p:nvSpPr>
        <p:spPr>
          <a:xfrm>
            <a:off x="8778240" y="5230368"/>
            <a:ext cx="274320" cy="274320"/>
          </a:xfrm>
          <a:prstGeom prst="roundRect">
            <a:avLst>
              <a:gd name="adj" fmla="val 30000"/>
            </a:avLst>
          </a:prstGeom>
          <a:solidFill>
            <a:srgbClr val="2F5B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extBox 52"/>
          <p:cNvSpPr txBox="1"/>
          <p:nvPr/>
        </p:nvSpPr>
        <p:spPr>
          <a:xfrm>
            <a:off x="9144000" y="5230368"/>
            <a:ext cx="2560320" cy="274320"/>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According to active Task Orders</a:t>
            </a:r>
          </a:p>
        </p:txBody>
      </p:sp>
      <p:sp>
        <p:nvSpPr>
          <p:cNvPr id="54" name="Rounded Rectangle 53"/>
          <p:cNvSpPr/>
          <p:nvPr/>
        </p:nvSpPr>
        <p:spPr>
          <a:xfrm>
            <a:off x="8778240" y="5614416"/>
            <a:ext cx="274320" cy="274320"/>
          </a:xfrm>
          <a:prstGeom prst="roundRect">
            <a:avLst>
              <a:gd name="adj" fmla="val 30000"/>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9144000" y="5614416"/>
            <a:ext cx="2560320" cy="274320"/>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As required</a:t>
            </a:r>
          </a:p>
        </p:txBody>
      </p:sp>
      <p:sp>
        <p:nvSpPr>
          <p:cNvPr id="56" name="TextBox 55"/>
          <p:cNvSpPr txBox="1"/>
          <p:nvPr/>
        </p:nvSpPr>
        <p:spPr>
          <a:xfrm>
            <a:off x="8778240" y="5943600"/>
            <a:ext cx="2926080" cy="457200"/>
          </a:xfrm>
          <a:prstGeom prst="rect">
            <a:avLst/>
          </a:prstGeom>
          <a:noFill/>
        </p:spPr>
        <p:txBody>
          <a:bodyPr wrap="square" lIns="45720" rIns="45720" tIns="18288" bIns="18288" anchor="t">
            <a:spAutoFit/>
          </a:bodyPr>
          <a:lstStyle/>
          <a:p>
            <a:pPr algn="l">
              <a:spcAft>
                <a:spcPts val="0"/>
              </a:spcAft>
            </a:pPr>
            <a:r>
              <a:rPr sz="1000" b="0" noProof="1">
                <a:solidFill>
                  <a:srgbClr val="7F8692"/>
                </a:solidFill>
                <a:latin typeface="TheSans"/>
                <a:cs typeface="TheSans"/>
              </a:rPr>
              <a:t>Additional survey crews are mobilized as required.</a:t>
            </a:r>
          </a:p>
        </p:txBody>
      </p:sp>
    </p:spTree>
    <p:extLst>
      <p:ext uri="{BB962C8B-B14F-4D97-AF65-F5344CB8AC3E}">
        <p14:creationId xmlns:p14="http://schemas.microsoft.com/office/powerpoint/2010/main" val="1785618830"/>
      </p:ext>
    </p:extLst>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4" name="Picture 3" descr="bg5.jpg"/>
          <p:cNvPicPr>
            <a:picLocks noChangeAspect="1"/>
          </p:cNvPicPr>
          <p:nvPr/>
        </p:nvPicPr>
        <p:blipFill>
          <a:blip r:embed="rId4"/>
          <a:srcRect l="146" r="146"/>
          <a:stretch>
            <a:fillRect/>
          </a:stretch>
        </p:blipFill>
        <p:spPr>
          <a:xfrm>
            <a:off x="0" y="1078992"/>
            <a:ext cx="12191695" cy="5257800"/>
          </a:xfrm>
          <a:prstGeom prst="rect">
            <a:avLst/>
          </a:prstGeom>
        </p:spPr>
      </p:pic>
      <p:pic>
        <p:nvPicPr>
          <p:cNvPr id="2" name="Title tag" descr="image.png"/>
          <p:cNvPicPr>
            <a:picLocks noChangeAspect="1"/>
          </p:cNvPicPr>
          <p:nvPr/>
        </p:nvPicPr>
        <p:blipFill>
          <a:blip r:embed="rId2"/>
          <a:stretch>
            <a:fillRect/>
          </a:stretch>
        </p:blipFill>
        <p:spPr>
          <a:xfrm flipH="1">
            <a:off x="502920" y="301752"/>
            <a:ext cx="4855464" cy="621792"/>
          </a:xfrm>
          <a:prstGeom prst="rect">
            <a:avLst/>
          </a:prstGeom>
        </p:spPr>
      </p:pic>
      <p:sp>
        <p:nvSpPr>
          <p:cNvPr id="3" name="Title"/>
          <p:cNvSpPr txBox="1"/>
          <p:nvPr/>
        </p:nvSpPr>
        <p:spPr>
          <a:xfrm>
            <a:off x="1527048" y="365760"/>
            <a:ext cx="3529584" cy="502920"/>
          </a:xfrm>
          <a:prstGeom prst="rect">
            <a:avLst/>
          </a:prstGeom>
          <a:noFill/>
        </p:spPr>
        <p:txBody>
          <a:bodyPr wrap="square" lIns="45720" rIns="45720" tIns="18288" bIns="18288" anchor="ctr">
            <a:spAutoFit/>
          </a:bodyPr>
          <a:lstStyle/>
          <a:p>
            <a:pPr algn="ctr">
              <a:spcAft>
                <a:spcPts val="0"/>
              </a:spcAft>
            </a:pPr>
            <a:r>
              <a:rPr sz="2000" b="1" noProof="1">
                <a:solidFill>
                  <a:srgbClr val="FFFFFF"/>
                </a:solidFill>
                <a:latin typeface="TheSans-Bold"/>
                <a:cs typeface="TheSans-Bold"/>
              </a:rPr>
              <a:t>Typical Task Programme</a:t>
            </a:r>
          </a:p>
        </p:txBody>
      </p:sp>
      <p:sp>
        <p:nvSpPr>
          <p:cNvPr id="5" name="TextBox 4"/>
          <p:cNvSpPr txBox="1"/>
          <p:nvPr/>
        </p:nvSpPr>
        <p:spPr>
          <a:xfrm>
            <a:off x="548640" y="1097280"/>
            <a:ext cx="7315200" cy="320040"/>
          </a:xfrm>
          <a:prstGeom prst="rect">
            <a:avLst/>
          </a:prstGeom>
          <a:noFill/>
        </p:spPr>
        <p:txBody>
          <a:bodyPr wrap="square" lIns="45720" rIns="45720" tIns="18288" bIns="18288" anchor="t">
            <a:spAutoFit/>
          </a:bodyPr>
          <a:lstStyle/>
          <a:p>
            <a:pPr algn="l">
              <a:spcAft>
                <a:spcPts val="0"/>
              </a:spcAft>
            </a:pPr>
            <a:r>
              <a:rPr sz="1400" b="1" noProof="1">
                <a:solidFill>
                  <a:srgbClr val="21446A"/>
                </a:solidFill>
                <a:latin typeface="TheSans-Bold"/>
                <a:cs typeface="TheSans-Bold"/>
              </a:rPr>
              <a:t>Step 1: before work starts</a:t>
            </a:r>
          </a:p>
        </p:txBody>
      </p:sp>
      <p:sp>
        <p:nvSpPr>
          <p:cNvPr id="6" name="Rounded Rectangle 5"/>
          <p:cNvSpPr/>
          <p:nvPr/>
        </p:nvSpPr>
        <p:spPr>
          <a:xfrm>
            <a:off x="548640" y="1508760"/>
            <a:ext cx="2514600" cy="1188720"/>
          </a:xfrm>
          <a:prstGeom prst="roundRect">
            <a:avLst>
              <a:gd name="adj" fmla="val 8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ectangle 6"/>
          <p:cNvSpPr/>
          <p:nvPr/>
        </p:nvSpPr>
        <p:spPr>
          <a:xfrm>
            <a:off x="548640" y="1508760"/>
            <a:ext cx="2514600" cy="91440"/>
          </a:xfrm>
          <a:prstGeom prst="rect">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731520" y="1691640"/>
            <a:ext cx="2148840" cy="365760"/>
          </a:xfrm>
          <a:prstGeom prst="rect">
            <a:avLst/>
          </a:prstGeom>
          <a:noFill/>
        </p:spPr>
        <p:txBody>
          <a:bodyPr wrap="square" lIns="45720" rIns="45720" tIns="18288" bIns="18288" anchor="t">
            <a:spAutoFit/>
          </a:bodyPr>
          <a:lstStyle/>
          <a:p>
            <a:pPr algn="l">
              <a:spcAft>
                <a:spcPts val="0"/>
              </a:spcAft>
            </a:pPr>
            <a:r>
              <a:rPr sz="1400" b="1" noProof="1">
                <a:solidFill>
                  <a:srgbClr val="21446A"/>
                </a:solidFill>
                <a:latin typeface="TheSans-Bold"/>
                <a:cs typeface="TheSans-Bold"/>
              </a:rPr>
              <a:t>Our proposal</a:t>
            </a:r>
          </a:p>
        </p:txBody>
      </p:sp>
      <p:sp>
        <p:nvSpPr>
          <p:cNvPr id="9" name="TextBox 8"/>
          <p:cNvSpPr txBox="1"/>
          <p:nvPr/>
        </p:nvSpPr>
        <p:spPr>
          <a:xfrm>
            <a:off x="731520" y="2057400"/>
            <a:ext cx="2148840" cy="274320"/>
          </a:xfrm>
          <a:prstGeom prst="rect">
            <a:avLst/>
          </a:prstGeom>
          <a:noFill/>
        </p:spPr>
        <p:txBody>
          <a:bodyPr wrap="square" lIns="45720" rIns="45720" tIns="18288" bIns="18288" anchor="t">
            <a:spAutoFit/>
          </a:bodyPr>
          <a:lstStyle/>
          <a:p>
            <a:pPr algn="l">
              <a:spcAft>
                <a:spcPts val="0"/>
              </a:spcAft>
            </a:pPr>
            <a:r>
              <a:rPr sz="1050" b="0" noProof="1">
                <a:solidFill>
                  <a:srgbClr val="7F8692"/>
                </a:solidFill>
                <a:latin typeface="TheSans"/>
                <a:cs typeface="TheSans"/>
              </a:rPr>
              <a:t>Al Qotr</a:t>
            </a:r>
          </a:p>
        </p:txBody>
      </p:sp>
      <p:sp>
        <p:nvSpPr>
          <p:cNvPr id="10" name="TextBox 9"/>
          <p:cNvSpPr txBox="1"/>
          <p:nvPr/>
        </p:nvSpPr>
        <p:spPr>
          <a:xfrm>
            <a:off x="731520" y="2286000"/>
            <a:ext cx="2148840" cy="365760"/>
          </a:xfrm>
          <a:prstGeom prst="rect">
            <a:avLst/>
          </a:prstGeom>
          <a:noFill/>
        </p:spPr>
        <p:txBody>
          <a:bodyPr wrap="square" lIns="45720" rIns="45720" tIns="18288" bIns="18288" anchor="t">
            <a:spAutoFit/>
          </a:bodyPr>
          <a:lstStyle/>
          <a:p>
            <a:pPr algn="l">
              <a:spcAft>
                <a:spcPts val="0"/>
              </a:spcAft>
            </a:pPr>
            <a:r>
              <a:rPr sz="1500" b="1" noProof="1">
                <a:solidFill>
                  <a:srgbClr val="21446A"/>
                </a:solidFill>
                <a:latin typeface="TheSans-Bold"/>
                <a:cs typeface="TheSans-Bold"/>
              </a:rPr>
              <a:t>2 working days</a:t>
            </a:r>
          </a:p>
        </p:txBody>
      </p:sp>
      <p:sp>
        <p:nvSpPr>
          <p:cNvPr id="11" name="Right Arrow 10"/>
          <p:cNvSpPr/>
          <p:nvPr/>
        </p:nvSpPr>
        <p:spPr>
          <a:xfrm>
            <a:off x="3081528" y="1965960"/>
            <a:ext cx="201168" cy="274320"/>
          </a:xfrm>
          <a:prstGeom prst="rightArrow">
            <a:avLst/>
          </a:prstGeom>
          <a:solidFill>
            <a:srgbClr val="7F86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3291840" y="1508760"/>
            <a:ext cx="2514600" cy="1188720"/>
          </a:xfrm>
          <a:prstGeom prst="roundRect">
            <a:avLst>
              <a:gd name="adj" fmla="val 8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291840" y="1508760"/>
            <a:ext cx="2514600" cy="91440"/>
          </a:xfrm>
          <a:prstGeom prst="rect">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474720" y="1691640"/>
            <a:ext cx="2148840" cy="365760"/>
          </a:xfrm>
          <a:prstGeom prst="rect">
            <a:avLst/>
          </a:prstGeom>
          <a:noFill/>
        </p:spPr>
        <p:txBody>
          <a:bodyPr wrap="square" lIns="45720" rIns="45720" tIns="18288" bIns="18288" anchor="t">
            <a:spAutoFit/>
          </a:bodyPr>
          <a:lstStyle/>
          <a:p>
            <a:pPr algn="l">
              <a:spcAft>
                <a:spcPts val="0"/>
              </a:spcAft>
            </a:pPr>
            <a:r>
              <a:rPr sz="1400" b="1" noProof="1">
                <a:solidFill>
                  <a:srgbClr val="21446A"/>
                </a:solidFill>
                <a:latin typeface="TheSans-Bold"/>
                <a:cs typeface="TheSans-Bold"/>
              </a:rPr>
              <a:t>Diriyah review</a:t>
            </a:r>
          </a:p>
        </p:txBody>
      </p:sp>
      <p:sp>
        <p:nvSpPr>
          <p:cNvPr id="15" name="TextBox 14"/>
          <p:cNvSpPr txBox="1"/>
          <p:nvPr/>
        </p:nvSpPr>
        <p:spPr>
          <a:xfrm>
            <a:off x="3474720" y="2057400"/>
            <a:ext cx="2148840" cy="274320"/>
          </a:xfrm>
          <a:prstGeom prst="rect">
            <a:avLst/>
          </a:prstGeom>
          <a:noFill/>
        </p:spPr>
        <p:txBody>
          <a:bodyPr wrap="square" lIns="45720" rIns="45720" tIns="18288" bIns="18288" anchor="t">
            <a:spAutoFit/>
          </a:bodyPr>
          <a:lstStyle/>
          <a:p>
            <a:pPr algn="l">
              <a:spcAft>
                <a:spcPts val="0"/>
              </a:spcAft>
            </a:pPr>
            <a:r>
              <a:rPr sz="1050" b="0" noProof="1">
                <a:solidFill>
                  <a:srgbClr val="7F8692"/>
                </a:solidFill>
                <a:latin typeface="TheSans"/>
                <a:cs typeface="TheSans"/>
              </a:rPr>
              <a:t>Diriyah team</a:t>
            </a:r>
          </a:p>
        </p:txBody>
      </p:sp>
      <p:sp>
        <p:nvSpPr>
          <p:cNvPr id="16" name="TextBox 15"/>
          <p:cNvSpPr txBox="1"/>
          <p:nvPr/>
        </p:nvSpPr>
        <p:spPr>
          <a:xfrm>
            <a:off x="3474720" y="2286000"/>
            <a:ext cx="2148840" cy="365760"/>
          </a:xfrm>
          <a:prstGeom prst="rect">
            <a:avLst/>
          </a:prstGeom>
          <a:noFill/>
        </p:spPr>
        <p:txBody>
          <a:bodyPr wrap="square" lIns="45720" rIns="45720" tIns="18288" bIns="18288" anchor="t">
            <a:spAutoFit/>
          </a:bodyPr>
          <a:lstStyle/>
          <a:p>
            <a:pPr algn="l">
              <a:spcAft>
                <a:spcPts val="0"/>
              </a:spcAft>
            </a:pPr>
            <a:r>
              <a:rPr sz="1500" b="1" noProof="1">
                <a:solidFill>
                  <a:srgbClr val="B0780C"/>
                </a:solidFill>
                <a:latin typeface="TheSans-Bold"/>
                <a:cs typeface="TheSans-Bold"/>
              </a:rPr>
              <a:t>2 working days</a:t>
            </a:r>
          </a:p>
        </p:txBody>
      </p:sp>
      <p:sp>
        <p:nvSpPr>
          <p:cNvPr id="17" name="Right Arrow 16"/>
          <p:cNvSpPr/>
          <p:nvPr/>
        </p:nvSpPr>
        <p:spPr>
          <a:xfrm>
            <a:off x="5824727" y="1965960"/>
            <a:ext cx="201168" cy="274320"/>
          </a:xfrm>
          <a:prstGeom prst="rightArrow">
            <a:avLst/>
          </a:prstGeom>
          <a:solidFill>
            <a:srgbClr val="7F86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6035040" y="1508760"/>
            <a:ext cx="2514600" cy="1188720"/>
          </a:xfrm>
          <a:prstGeom prst="roundRect">
            <a:avLst>
              <a:gd name="adj" fmla="val 8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6035040" y="1508760"/>
            <a:ext cx="2514600" cy="91440"/>
          </a:xfrm>
          <a:prstGeom prst="rect">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217920" y="1691640"/>
            <a:ext cx="2148840" cy="365760"/>
          </a:xfrm>
          <a:prstGeom prst="rect">
            <a:avLst/>
          </a:prstGeom>
          <a:noFill/>
        </p:spPr>
        <p:txBody>
          <a:bodyPr wrap="square" lIns="45720" rIns="45720" tIns="18288" bIns="18288" anchor="t">
            <a:spAutoFit/>
          </a:bodyPr>
          <a:lstStyle/>
          <a:p>
            <a:pPr algn="l">
              <a:spcAft>
                <a:spcPts val="0"/>
              </a:spcAft>
            </a:pPr>
            <a:r>
              <a:rPr sz="1400" b="1" noProof="1">
                <a:solidFill>
                  <a:srgbClr val="21446A"/>
                </a:solidFill>
                <a:latin typeface="TheSans-Bold"/>
                <a:cs typeface="TheSans-Bold"/>
              </a:rPr>
              <a:t>Commercial review</a:t>
            </a:r>
          </a:p>
        </p:txBody>
      </p:sp>
      <p:sp>
        <p:nvSpPr>
          <p:cNvPr id="21" name="TextBox 20"/>
          <p:cNvSpPr txBox="1"/>
          <p:nvPr/>
        </p:nvSpPr>
        <p:spPr>
          <a:xfrm>
            <a:off x="6217920" y="2057400"/>
            <a:ext cx="2148840" cy="274320"/>
          </a:xfrm>
          <a:prstGeom prst="rect">
            <a:avLst/>
          </a:prstGeom>
          <a:noFill/>
        </p:spPr>
        <p:txBody>
          <a:bodyPr wrap="square" lIns="45720" rIns="45720" tIns="18288" bIns="18288" anchor="t">
            <a:spAutoFit/>
          </a:bodyPr>
          <a:lstStyle/>
          <a:p>
            <a:pPr algn="l">
              <a:spcAft>
                <a:spcPts val="0"/>
              </a:spcAft>
            </a:pPr>
            <a:r>
              <a:rPr sz="1050" b="0" noProof="1">
                <a:solidFill>
                  <a:srgbClr val="7F8692"/>
                </a:solidFill>
                <a:latin typeface="TheSans"/>
                <a:cs typeface="TheSans"/>
              </a:rPr>
              <a:t>Diriyah</a:t>
            </a:r>
          </a:p>
        </p:txBody>
      </p:sp>
      <p:sp>
        <p:nvSpPr>
          <p:cNvPr id="22" name="TextBox 21"/>
          <p:cNvSpPr txBox="1"/>
          <p:nvPr/>
        </p:nvSpPr>
        <p:spPr>
          <a:xfrm>
            <a:off x="6217920" y="2286000"/>
            <a:ext cx="2148840" cy="365760"/>
          </a:xfrm>
          <a:prstGeom prst="rect">
            <a:avLst/>
          </a:prstGeom>
          <a:noFill/>
        </p:spPr>
        <p:txBody>
          <a:bodyPr wrap="square" lIns="45720" rIns="45720" tIns="18288" bIns="18288" anchor="t">
            <a:spAutoFit/>
          </a:bodyPr>
          <a:lstStyle/>
          <a:p>
            <a:pPr algn="l">
              <a:spcAft>
                <a:spcPts val="0"/>
              </a:spcAft>
            </a:pPr>
            <a:r>
              <a:rPr sz="1500" b="1" noProof="1">
                <a:solidFill>
                  <a:srgbClr val="B0780C"/>
                </a:solidFill>
                <a:latin typeface="TheSans-Bold"/>
                <a:cs typeface="TheSans-Bold"/>
              </a:rPr>
              <a:t>2 working days</a:t>
            </a:r>
          </a:p>
        </p:txBody>
      </p:sp>
      <p:sp>
        <p:nvSpPr>
          <p:cNvPr id="23" name="Rounded Rectangle 22"/>
          <p:cNvSpPr/>
          <p:nvPr/>
        </p:nvSpPr>
        <p:spPr>
          <a:xfrm>
            <a:off x="9052560" y="1508760"/>
            <a:ext cx="2606040" cy="1188720"/>
          </a:xfrm>
          <a:prstGeom prst="roundRect">
            <a:avLst>
              <a:gd name="adj" fmla="val 8000"/>
            </a:avLst>
          </a:prstGeom>
          <a:solidFill>
            <a:srgbClr val="21446A"/>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052560" y="1572768"/>
            <a:ext cx="2606040" cy="685800"/>
          </a:xfrm>
          <a:prstGeom prst="rect">
            <a:avLst/>
          </a:prstGeom>
          <a:noFill/>
        </p:spPr>
        <p:txBody>
          <a:bodyPr wrap="square" lIns="45720" rIns="45720" tIns="18288" bIns="18288" anchor="ctr">
            <a:spAutoFit/>
          </a:bodyPr>
          <a:lstStyle/>
          <a:p>
            <a:pPr algn="ctr">
              <a:spcAft>
                <a:spcPts val="0"/>
              </a:spcAft>
            </a:pPr>
            <a:r>
              <a:rPr sz="4000" b="1" noProof="1">
                <a:solidFill>
                  <a:srgbClr val="EBB13D"/>
                </a:solidFill>
                <a:latin typeface="TheSans-Bold"/>
                <a:cs typeface="TheSans-Bold"/>
              </a:rPr>
              <a:t>6</a:t>
            </a:r>
          </a:p>
        </p:txBody>
      </p:sp>
      <p:sp>
        <p:nvSpPr>
          <p:cNvPr id="25" name="TextBox 24"/>
          <p:cNvSpPr txBox="1"/>
          <p:nvPr/>
        </p:nvSpPr>
        <p:spPr>
          <a:xfrm>
            <a:off x="9052560" y="2194560"/>
            <a:ext cx="2606040" cy="457200"/>
          </a:xfrm>
          <a:prstGeom prst="rect">
            <a:avLst/>
          </a:prstGeom>
          <a:noFill/>
        </p:spPr>
        <p:txBody>
          <a:bodyPr wrap="square" lIns="45720" rIns="45720" tIns="18288" bIns="18288" anchor="t">
            <a:spAutoFit/>
          </a:bodyPr>
          <a:lstStyle/>
          <a:p>
            <a:pPr algn="ctr">
              <a:spcAft>
                <a:spcPts val="0"/>
              </a:spcAft>
            </a:pPr>
            <a:r>
              <a:rPr sz="1050" b="1" noProof="1">
                <a:solidFill>
                  <a:srgbClr val="FFFFFF"/>
                </a:solidFill>
                <a:latin typeface="TheSans-Bold"/>
                <a:cs typeface="TheSans-Bold"/>
              </a:rPr>
              <a:t>working days to</a:t>
            </a:r>
          </a:p>
          <a:p>
            <a:pPr algn="ctr">
              <a:spcAft>
                <a:spcPts val="0"/>
              </a:spcAft>
            </a:pPr>
            <a:r>
              <a:rPr sz="1050" b="1" noProof="1">
                <a:solidFill>
                  <a:srgbClr val="FFFFFF"/>
                </a:solidFill>
                <a:latin typeface="TheSans-Bold"/>
                <a:cs typeface="TheSans-Bold"/>
              </a:rPr>
              <a:t>written authorisation</a:t>
            </a:r>
          </a:p>
        </p:txBody>
      </p:sp>
      <p:sp>
        <p:nvSpPr>
          <p:cNvPr id="26" name="TextBox 25"/>
          <p:cNvSpPr txBox="1"/>
          <p:nvPr/>
        </p:nvSpPr>
        <p:spPr>
          <a:xfrm>
            <a:off x="548640" y="2926080"/>
            <a:ext cx="9144000" cy="320040"/>
          </a:xfrm>
          <a:prstGeom prst="rect">
            <a:avLst/>
          </a:prstGeom>
          <a:noFill/>
        </p:spPr>
        <p:txBody>
          <a:bodyPr wrap="square" lIns="45720" rIns="45720" tIns="18288" bIns="18288" anchor="t">
            <a:spAutoFit/>
          </a:bodyPr>
          <a:lstStyle/>
          <a:p>
            <a:pPr algn="l">
              <a:spcAft>
                <a:spcPts val="0"/>
              </a:spcAft>
            </a:pPr>
            <a:r>
              <a:rPr sz="1400" b="1" noProof="1">
                <a:solidFill>
                  <a:srgbClr val="21446A"/>
                </a:solidFill>
                <a:latin typeface="TheSans-Bold"/>
                <a:cs typeface="TheSans-Bold"/>
              </a:rPr>
              <a:t>Step 2: delivery, duration agreed with Diriyah for each task</a:t>
            </a:r>
          </a:p>
        </p:txBody>
      </p:sp>
      <p:sp>
        <p:nvSpPr>
          <p:cNvPr id="27" name="Rounded Rectangle 26"/>
          <p:cNvSpPr/>
          <p:nvPr/>
        </p:nvSpPr>
        <p:spPr>
          <a:xfrm>
            <a:off x="548640" y="3337560"/>
            <a:ext cx="1699260" cy="2331720"/>
          </a:xfrm>
          <a:prstGeom prst="roundRect">
            <a:avLst>
              <a:gd name="adj" fmla="val 7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ounded Rectangle 27"/>
          <p:cNvSpPr/>
          <p:nvPr/>
        </p:nvSpPr>
        <p:spPr>
          <a:xfrm>
            <a:off x="548640" y="3337560"/>
            <a:ext cx="1699260" cy="566928"/>
          </a:xfrm>
          <a:prstGeom prst="roundRect">
            <a:avLst>
              <a:gd name="adj" fmla="val 18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27432" bIns="27432"/>
          <a:lstStyle/>
          <a:p>
            <a:pPr algn="ctr"/>
            <a:r>
              <a:rPr sz="1200" b="1" noProof="1">
                <a:solidFill>
                  <a:srgbClr val="FFFFFF"/>
                </a:solidFill>
                <a:latin typeface="TheSans-Bold"/>
                <a:cs typeface="TheSans-Bold"/>
              </a:rPr>
              <a:t>Plan and mobilize</a:t>
            </a:r>
          </a:p>
        </p:txBody>
      </p:sp>
      <p:sp>
        <p:nvSpPr>
          <p:cNvPr id="29" name="Oval 28"/>
          <p:cNvSpPr/>
          <p:nvPr/>
        </p:nvSpPr>
        <p:spPr>
          <a:xfrm>
            <a:off x="621792" y="3246120"/>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1</a:t>
            </a:r>
          </a:p>
        </p:txBody>
      </p:sp>
      <p:sp>
        <p:nvSpPr>
          <p:cNvPr id="30" name="Diamond 29"/>
          <p:cNvSpPr/>
          <p:nvPr/>
        </p:nvSpPr>
        <p:spPr>
          <a:xfrm>
            <a:off x="713232" y="4224527"/>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877824" y="4114800"/>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Scope and data review</a:t>
            </a:r>
          </a:p>
        </p:txBody>
      </p:sp>
      <p:sp>
        <p:nvSpPr>
          <p:cNvPr id="32" name="Diamond 31"/>
          <p:cNvSpPr/>
          <p:nvPr/>
        </p:nvSpPr>
        <p:spPr>
          <a:xfrm>
            <a:off x="713232" y="4645151"/>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77824" y="4535424"/>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Resources</a:t>
            </a:r>
          </a:p>
        </p:txBody>
      </p:sp>
      <p:sp>
        <p:nvSpPr>
          <p:cNvPr id="34" name="Diamond 33"/>
          <p:cNvSpPr/>
          <p:nvPr/>
        </p:nvSpPr>
        <p:spPr>
          <a:xfrm>
            <a:off x="713232" y="5065775"/>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77824" y="4956048"/>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Site access</a:t>
            </a:r>
          </a:p>
        </p:txBody>
      </p:sp>
      <p:sp>
        <p:nvSpPr>
          <p:cNvPr id="36" name="Rounded Rectangle 35"/>
          <p:cNvSpPr/>
          <p:nvPr/>
        </p:nvSpPr>
        <p:spPr>
          <a:xfrm>
            <a:off x="685800" y="5349240"/>
            <a:ext cx="666750" cy="256032"/>
          </a:xfrm>
          <a:prstGeom prst="roundRect">
            <a:avLst>
              <a:gd name="adj" fmla="val 40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FFFFFF"/>
                </a:solidFill>
                <a:latin typeface="TheSans-Bold"/>
                <a:cs typeface="TheSans-Bold"/>
              </a:rPr>
              <a:t>Al Qotr</a:t>
            </a:r>
          </a:p>
        </p:txBody>
      </p:sp>
      <p:sp>
        <p:nvSpPr>
          <p:cNvPr id="37" name="Rounded Rectangle 36"/>
          <p:cNvSpPr/>
          <p:nvPr/>
        </p:nvSpPr>
        <p:spPr>
          <a:xfrm>
            <a:off x="1398270" y="5349240"/>
            <a:ext cx="666750" cy="256032"/>
          </a:xfrm>
          <a:prstGeom prst="roundRect">
            <a:avLst>
              <a:gd name="adj" fmla="val 40000"/>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21446A"/>
                </a:solidFill>
                <a:latin typeface="TheSans-Bold"/>
                <a:cs typeface="TheSans-Bold"/>
              </a:rPr>
              <a:t>Diriyah</a:t>
            </a:r>
          </a:p>
        </p:txBody>
      </p:sp>
      <p:sp>
        <p:nvSpPr>
          <p:cNvPr id="38" name="Rounded Rectangle 37"/>
          <p:cNvSpPr/>
          <p:nvPr/>
        </p:nvSpPr>
        <p:spPr>
          <a:xfrm>
            <a:off x="2430780" y="3337560"/>
            <a:ext cx="1699260" cy="2331720"/>
          </a:xfrm>
          <a:prstGeom prst="roundRect">
            <a:avLst>
              <a:gd name="adj" fmla="val 7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unded Rectangle 38"/>
          <p:cNvSpPr/>
          <p:nvPr/>
        </p:nvSpPr>
        <p:spPr>
          <a:xfrm>
            <a:off x="2430780" y="3337560"/>
            <a:ext cx="1699260" cy="566928"/>
          </a:xfrm>
          <a:prstGeom prst="roundRect">
            <a:avLst>
              <a:gd name="adj" fmla="val 18000"/>
            </a:avLst>
          </a:prstGeom>
          <a:solidFill>
            <a:srgbClr val="2F5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27432" bIns="27432"/>
          <a:lstStyle/>
          <a:p>
            <a:pPr algn="ctr"/>
            <a:r>
              <a:rPr sz="1200" b="1" noProof="1">
                <a:solidFill>
                  <a:srgbClr val="FFFFFF"/>
                </a:solidFill>
                <a:latin typeface="TheSans-Bold"/>
                <a:cs typeface="TheSans-Bold"/>
              </a:rPr>
              <a:t>Survey</a:t>
            </a:r>
          </a:p>
        </p:txBody>
      </p:sp>
      <p:sp>
        <p:nvSpPr>
          <p:cNvPr id="40" name="Oval 39"/>
          <p:cNvSpPr/>
          <p:nvPr/>
        </p:nvSpPr>
        <p:spPr>
          <a:xfrm>
            <a:off x="2503932" y="3246120"/>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2</a:t>
            </a:r>
          </a:p>
        </p:txBody>
      </p:sp>
      <p:sp>
        <p:nvSpPr>
          <p:cNvPr id="41" name="Diamond 40"/>
          <p:cNvSpPr/>
          <p:nvPr/>
        </p:nvSpPr>
        <p:spPr>
          <a:xfrm>
            <a:off x="2595372" y="4224527"/>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2759964" y="4114800"/>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Control verification</a:t>
            </a:r>
          </a:p>
        </p:txBody>
      </p:sp>
      <p:sp>
        <p:nvSpPr>
          <p:cNvPr id="43" name="Diamond 42"/>
          <p:cNvSpPr/>
          <p:nvPr/>
        </p:nvSpPr>
        <p:spPr>
          <a:xfrm>
            <a:off x="2595372" y="4645151"/>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2759964" y="4535424"/>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Field survey</a:t>
            </a:r>
          </a:p>
        </p:txBody>
      </p:sp>
      <p:sp>
        <p:nvSpPr>
          <p:cNvPr id="45" name="Diamond 44"/>
          <p:cNvSpPr/>
          <p:nvPr/>
        </p:nvSpPr>
        <p:spPr>
          <a:xfrm>
            <a:off x="2595372" y="5065775"/>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2759964" y="4956048"/>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Demarcation</a:t>
            </a:r>
          </a:p>
        </p:txBody>
      </p:sp>
      <p:sp>
        <p:nvSpPr>
          <p:cNvPr id="47" name="Rounded Rectangle 46"/>
          <p:cNvSpPr/>
          <p:nvPr/>
        </p:nvSpPr>
        <p:spPr>
          <a:xfrm>
            <a:off x="2567940" y="5349240"/>
            <a:ext cx="1379220" cy="256032"/>
          </a:xfrm>
          <a:prstGeom prst="roundRect">
            <a:avLst>
              <a:gd name="adj" fmla="val 40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FFFFFF"/>
                </a:solidFill>
                <a:latin typeface="TheSans-Bold"/>
                <a:cs typeface="TheSans-Bold"/>
              </a:rPr>
              <a:t>Al Qotr</a:t>
            </a:r>
          </a:p>
        </p:txBody>
      </p:sp>
      <p:sp>
        <p:nvSpPr>
          <p:cNvPr id="48" name="Rounded Rectangle 47"/>
          <p:cNvSpPr/>
          <p:nvPr/>
        </p:nvSpPr>
        <p:spPr>
          <a:xfrm>
            <a:off x="4312920" y="3337560"/>
            <a:ext cx="1699260" cy="2331720"/>
          </a:xfrm>
          <a:prstGeom prst="roundRect">
            <a:avLst>
              <a:gd name="adj" fmla="val 7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unded Rectangle 48"/>
          <p:cNvSpPr/>
          <p:nvPr/>
        </p:nvSpPr>
        <p:spPr>
          <a:xfrm>
            <a:off x="4312920" y="3337560"/>
            <a:ext cx="1699260" cy="566928"/>
          </a:xfrm>
          <a:prstGeom prst="roundRect">
            <a:avLst>
              <a:gd name="adj" fmla="val 18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27432" bIns="27432"/>
          <a:lstStyle/>
          <a:p>
            <a:pPr algn="ctr"/>
            <a:r>
              <a:rPr sz="1200" b="1" noProof="1">
                <a:solidFill>
                  <a:srgbClr val="FFFFFF"/>
                </a:solidFill>
                <a:latin typeface="TheSans-Bold"/>
                <a:cs typeface="TheSans-Bold"/>
              </a:rPr>
              <a:t>Prepare</a:t>
            </a:r>
          </a:p>
        </p:txBody>
      </p:sp>
      <p:sp>
        <p:nvSpPr>
          <p:cNvPr id="50" name="Oval 49"/>
          <p:cNvSpPr/>
          <p:nvPr/>
        </p:nvSpPr>
        <p:spPr>
          <a:xfrm>
            <a:off x="4386072" y="3246120"/>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3</a:t>
            </a:r>
          </a:p>
        </p:txBody>
      </p:sp>
      <p:sp>
        <p:nvSpPr>
          <p:cNvPr id="51" name="Diamond 50"/>
          <p:cNvSpPr/>
          <p:nvPr/>
        </p:nvSpPr>
        <p:spPr>
          <a:xfrm>
            <a:off x="4477512" y="4224527"/>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4642104" y="4114800"/>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Processing</a:t>
            </a:r>
          </a:p>
        </p:txBody>
      </p:sp>
      <p:sp>
        <p:nvSpPr>
          <p:cNvPr id="53" name="Diamond 52"/>
          <p:cNvSpPr/>
          <p:nvPr/>
        </p:nvSpPr>
        <p:spPr>
          <a:xfrm>
            <a:off x="4477512" y="4645151"/>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4642104" y="4535424"/>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Calculations</a:t>
            </a:r>
          </a:p>
        </p:txBody>
      </p:sp>
      <p:sp>
        <p:nvSpPr>
          <p:cNvPr id="55" name="Diamond 54"/>
          <p:cNvSpPr/>
          <p:nvPr/>
        </p:nvSpPr>
        <p:spPr>
          <a:xfrm>
            <a:off x="4477512" y="5065775"/>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4642104" y="4956048"/>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Drawings</a:t>
            </a:r>
          </a:p>
        </p:txBody>
      </p:sp>
      <p:sp>
        <p:nvSpPr>
          <p:cNvPr id="57" name="Rounded Rectangle 56"/>
          <p:cNvSpPr/>
          <p:nvPr/>
        </p:nvSpPr>
        <p:spPr>
          <a:xfrm>
            <a:off x="4450080" y="5349240"/>
            <a:ext cx="1379220" cy="256032"/>
          </a:xfrm>
          <a:prstGeom prst="roundRect">
            <a:avLst>
              <a:gd name="adj" fmla="val 40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FFFFFF"/>
                </a:solidFill>
                <a:latin typeface="TheSans-Bold"/>
                <a:cs typeface="TheSans-Bold"/>
              </a:rPr>
              <a:t>Al Qotr</a:t>
            </a:r>
          </a:p>
        </p:txBody>
      </p:sp>
      <p:sp>
        <p:nvSpPr>
          <p:cNvPr id="58" name="Rounded Rectangle 57"/>
          <p:cNvSpPr/>
          <p:nvPr/>
        </p:nvSpPr>
        <p:spPr>
          <a:xfrm>
            <a:off x="6195060" y="3337560"/>
            <a:ext cx="1699260" cy="2331720"/>
          </a:xfrm>
          <a:prstGeom prst="roundRect">
            <a:avLst>
              <a:gd name="adj" fmla="val 7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ounded Rectangle 58"/>
          <p:cNvSpPr/>
          <p:nvPr/>
        </p:nvSpPr>
        <p:spPr>
          <a:xfrm>
            <a:off x="6195060" y="3337560"/>
            <a:ext cx="1699260" cy="566928"/>
          </a:xfrm>
          <a:prstGeom prst="roundRect">
            <a:avLst>
              <a:gd name="adj" fmla="val 18000"/>
            </a:avLst>
          </a:prstGeom>
          <a:solidFill>
            <a:srgbClr val="2F5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27432" bIns="27432"/>
          <a:lstStyle/>
          <a:p>
            <a:pPr algn="ctr"/>
            <a:r>
              <a:rPr sz="1200" b="1" noProof="1">
                <a:solidFill>
                  <a:srgbClr val="FFFFFF"/>
                </a:solidFill>
                <a:latin typeface="TheSans-Bold"/>
                <a:cs typeface="TheSans-Bold"/>
              </a:rPr>
              <a:t>QA/QC and submit</a:t>
            </a:r>
          </a:p>
        </p:txBody>
      </p:sp>
      <p:sp>
        <p:nvSpPr>
          <p:cNvPr id="60" name="Oval 59"/>
          <p:cNvSpPr/>
          <p:nvPr/>
        </p:nvSpPr>
        <p:spPr>
          <a:xfrm>
            <a:off x="6268212" y="3246120"/>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4</a:t>
            </a:r>
          </a:p>
        </p:txBody>
      </p:sp>
      <p:sp>
        <p:nvSpPr>
          <p:cNvPr id="61" name="Diamond 60"/>
          <p:cNvSpPr/>
          <p:nvPr/>
        </p:nvSpPr>
        <p:spPr>
          <a:xfrm>
            <a:off x="6359652" y="4224527"/>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6524244" y="4114800"/>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Technical review</a:t>
            </a:r>
          </a:p>
        </p:txBody>
      </p:sp>
      <p:sp>
        <p:nvSpPr>
          <p:cNvPr id="63" name="Diamond 62"/>
          <p:cNvSpPr/>
          <p:nvPr/>
        </p:nvSpPr>
        <p:spPr>
          <a:xfrm>
            <a:off x="6359652" y="4645151"/>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TextBox 63"/>
          <p:cNvSpPr txBox="1"/>
          <p:nvPr/>
        </p:nvSpPr>
        <p:spPr>
          <a:xfrm>
            <a:off x="6524244" y="4535424"/>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QA/QC</a:t>
            </a:r>
          </a:p>
        </p:txBody>
      </p:sp>
      <p:sp>
        <p:nvSpPr>
          <p:cNvPr id="65" name="Diamond 64"/>
          <p:cNvSpPr/>
          <p:nvPr/>
        </p:nvSpPr>
        <p:spPr>
          <a:xfrm>
            <a:off x="6359652" y="5065775"/>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TextBox 65"/>
          <p:cNvSpPr txBox="1"/>
          <p:nvPr/>
        </p:nvSpPr>
        <p:spPr>
          <a:xfrm>
            <a:off x="6524244" y="4956048"/>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Submission</a:t>
            </a:r>
          </a:p>
        </p:txBody>
      </p:sp>
      <p:sp>
        <p:nvSpPr>
          <p:cNvPr id="67" name="Rounded Rectangle 66"/>
          <p:cNvSpPr/>
          <p:nvPr/>
        </p:nvSpPr>
        <p:spPr>
          <a:xfrm>
            <a:off x="6332220" y="5349240"/>
            <a:ext cx="1379220" cy="256032"/>
          </a:xfrm>
          <a:prstGeom prst="roundRect">
            <a:avLst>
              <a:gd name="adj" fmla="val 40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FFFFFF"/>
                </a:solidFill>
                <a:latin typeface="TheSans-Bold"/>
                <a:cs typeface="TheSans-Bold"/>
              </a:rPr>
              <a:t>Al Qotr</a:t>
            </a:r>
          </a:p>
        </p:txBody>
      </p:sp>
      <p:sp>
        <p:nvSpPr>
          <p:cNvPr id="68" name="Rounded Rectangle 67"/>
          <p:cNvSpPr/>
          <p:nvPr/>
        </p:nvSpPr>
        <p:spPr>
          <a:xfrm>
            <a:off x="8077200" y="3337560"/>
            <a:ext cx="1699260" cy="2331720"/>
          </a:xfrm>
          <a:prstGeom prst="roundRect">
            <a:avLst>
              <a:gd name="adj" fmla="val 7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ounded Rectangle 68"/>
          <p:cNvSpPr/>
          <p:nvPr/>
        </p:nvSpPr>
        <p:spPr>
          <a:xfrm>
            <a:off x="8077200" y="3337560"/>
            <a:ext cx="1699260" cy="566928"/>
          </a:xfrm>
          <a:prstGeom prst="roundRect">
            <a:avLst>
              <a:gd name="adj" fmla="val 18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27432" bIns="27432"/>
          <a:lstStyle/>
          <a:p>
            <a:pPr algn="ctr"/>
            <a:r>
              <a:rPr sz="1200" b="1" noProof="1">
                <a:solidFill>
                  <a:srgbClr val="FFFFFF"/>
                </a:solidFill>
                <a:latin typeface="TheSans-Bold"/>
                <a:cs typeface="TheSans-Bold"/>
              </a:rPr>
              <a:t>Review</a:t>
            </a:r>
          </a:p>
        </p:txBody>
      </p:sp>
      <p:sp>
        <p:nvSpPr>
          <p:cNvPr id="70" name="Oval 69"/>
          <p:cNvSpPr/>
          <p:nvPr/>
        </p:nvSpPr>
        <p:spPr>
          <a:xfrm>
            <a:off x="8150352" y="3246120"/>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5</a:t>
            </a:r>
          </a:p>
        </p:txBody>
      </p:sp>
      <p:sp>
        <p:nvSpPr>
          <p:cNvPr id="71" name="Diamond 70"/>
          <p:cNvSpPr/>
          <p:nvPr/>
        </p:nvSpPr>
        <p:spPr>
          <a:xfrm>
            <a:off x="8241792" y="4224527"/>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TextBox 71"/>
          <p:cNvSpPr txBox="1"/>
          <p:nvPr/>
        </p:nvSpPr>
        <p:spPr>
          <a:xfrm>
            <a:off x="8406384" y="4114800"/>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Diriyah review</a:t>
            </a:r>
          </a:p>
        </p:txBody>
      </p:sp>
      <p:sp>
        <p:nvSpPr>
          <p:cNvPr id="73" name="Diamond 72"/>
          <p:cNvSpPr/>
          <p:nvPr/>
        </p:nvSpPr>
        <p:spPr>
          <a:xfrm>
            <a:off x="8241792" y="4645151"/>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TextBox 73"/>
          <p:cNvSpPr txBox="1"/>
          <p:nvPr/>
        </p:nvSpPr>
        <p:spPr>
          <a:xfrm>
            <a:off x="8406384" y="4535424"/>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Comments resolved</a:t>
            </a:r>
          </a:p>
        </p:txBody>
      </p:sp>
      <p:sp>
        <p:nvSpPr>
          <p:cNvPr id="75" name="Diamond 74"/>
          <p:cNvSpPr/>
          <p:nvPr/>
        </p:nvSpPr>
        <p:spPr>
          <a:xfrm>
            <a:off x="8241792" y="5065775"/>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8406384" y="4956048"/>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Authority, if any</a:t>
            </a:r>
          </a:p>
        </p:txBody>
      </p:sp>
      <p:sp>
        <p:nvSpPr>
          <p:cNvPr id="77" name="Rounded Rectangle 76"/>
          <p:cNvSpPr/>
          <p:nvPr/>
        </p:nvSpPr>
        <p:spPr>
          <a:xfrm>
            <a:off x="8214360" y="5349240"/>
            <a:ext cx="666750" cy="256032"/>
          </a:xfrm>
          <a:prstGeom prst="roundRect">
            <a:avLst>
              <a:gd name="adj" fmla="val 40000"/>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21446A"/>
                </a:solidFill>
                <a:latin typeface="TheSans-Bold"/>
                <a:cs typeface="TheSans-Bold"/>
              </a:rPr>
              <a:t>Diriyah</a:t>
            </a:r>
          </a:p>
        </p:txBody>
      </p:sp>
      <p:sp>
        <p:nvSpPr>
          <p:cNvPr id="78" name="Rounded Rectangle 77"/>
          <p:cNvSpPr/>
          <p:nvPr/>
        </p:nvSpPr>
        <p:spPr>
          <a:xfrm>
            <a:off x="8926830" y="5349240"/>
            <a:ext cx="666750" cy="256032"/>
          </a:xfrm>
          <a:prstGeom prst="roundRect">
            <a:avLst>
              <a:gd name="adj" fmla="val 40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FFFFFF"/>
                </a:solidFill>
                <a:latin typeface="TheSans-Bold"/>
                <a:cs typeface="TheSans-Bold"/>
              </a:rPr>
              <a:t>Al Qotr</a:t>
            </a:r>
          </a:p>
        </p:txBody>
      </p:sp>
      <p:sp>
        <p:nvSpPr>
          <p:cNvPr id="79" name="Rounded Rectangle 78"/>
          <p:cNvSpPr/>
          <p:nvPr/>
        </p:nvSpPr>
        <p:spPr>
          <a:xfrm>
            <a:off x="9959340" y="3337560"/>
            <a:ext cx="1699260" cy="2331720"/>
          </a:xfrm>
          <a:prstGeom prst="roundRect">
            <a:avLst>
              <a:gd name="adj" fmla="val 7000"/>
            </a:avLst>
          </a:prstGeom>
          <a:solidFill>
            <a:srgbClr val="FFFFFF"/>
          </a:solidFill>
          <a:ln w="9525">
            <a:solidFill>
              <a:srgbClr val="C9D3E3"/>
            </a:solid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0" name="Rounded Rectangle 79"/>
          <p:cNvSpPr/>
          <p:nvPr/>
        </p:nvSpPr>
        <p:spPr>
          <a:xfrm>
            <a:off x="9959340" y="3337560"/>
            <a:ext cx="1699260" cy="566928"/>
          </a:xfrm>
          <a:prstGeom prst="roundRect">
            <a:avLst>
              <a:gd name="adj" fmla="val 18000"/>
            </a:avLst>
          </a:prstGeom>
          <a:solidFill>
            <a:srgbClr val="2F5B8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10896" rIns="310896" tIns="27432" bIns="27432"/>
          <a:lstStyle/>
          <a:p>
            <a:pPr algn="ctr"/>
            <a:r>
              <a:rPr sz="1200" b="1" noProof="1">
                <a:solidFill>
                  <a:srgbClr val="FFFFFF"/>
                </a:solidFill>
                <a:latin typeface="TheSans-Bold"/>
                <a:cs typeface="TheSans-Bold"/>
              </a:rPr>
              <a:t>Close-out</a:t>
            </a:r>
          </a:p>
        </p:txBody>
      </p:sp>
      <p:sp>
        <p:nvSpPr>
          <p:cNvPr id="81" name="Oval 80"/>
          <p:cNvSpPr/>
          <p:nvPr/>
        </p:nvSpPr>
        <p:spPr>
          <a:xfrm>
            <a:off x="10032492" y="3246120"/>
            <a:ext cx="329184" cy="329184"/>
          </a:xfrm>
          <a:prstGeom prst="ellipse">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100" b="1" noProof="1">
                <a:solidFill>
                  <a:srgbClr val="21446A"/>
                </a:solidFill>
                <a:latin typeface="TheSans-Bold"/>
                <a:cs typeface="TheSans-Bold"/>
              </a:rPr>
              <a:t>6</a:t>
            </a:r>
          </a:p>
        </p:txBody>
      </p:sp>
      <p:sp>
        <p:nvSpPr>
          <p:cNvPr id="82" name="Diamond 81"/>
          <p:cNvSpPr/>
          <p:nvPr/>
        </p:nvSpPr>
        <p:spPr>
          <a:xfrm>
            <a:off x="10123932" y="4224527"/>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extBox 82"/>
          <p:cNvSpPr txBox="1"/>
          <p:nvPr/>
        </p:nvSpPr>
        <p:spPr>
          <a:xfrm>
            <a:off x="10288524" y="4114800"/>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Final submission</a:t>
            </a:r>
          </a:p>
        </p:txBody>
      </p:sp>
      <p:sp>
        <p:nvSpPr>
          <p:cNvPr id="84" name="Diamond 83"/>
          <p:cNvSpPr/>
          <p:nvPr/>
        </p:nvSpPr>
        <p:spPr>
          <a:xfrm>
            <a:off x="10123932" y="4645151"/>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extBox 84"/>
          <p:cNvSpPr txBox="1"/>
          <p:nvPr/>
        </p:nvSpPr>
        <p:spPr>
          <a:xfrm>
            <a:off x="10288524" y="4535424"/>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Acceptance</a:t>
            </a:r>
          </a:p>
        </p:txBody>
      </p:sp>
      <p:sp>
        <p:nvSpPr>
          <p:cNvPr id="86" name="Diamond 85"/>
          <p:cNvSpPr/>
          <p:nvPr/>
        </p:nvSpPr>
        <p:spPr>
          <a:xfrm>
            <a:off x="10123932" y="5065775"/>
            <a:ext cx="91440" cy="91440"/>
          </a:xfrm>
          <a:prstGeom prst="diamond">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extBox 86"/>
          <p:cNvSpPr txBox="1"/>
          <p:nvPr/>
        </p:nvSpPr>
        <p:spPr>
          <a:xfrm>
            <a:off x="10288524" y="4956048"/>
            <a:ext cx="1287780" cy="292608"/>
          </a:xfrm>
          <a:prstGeom prst="rect">
            <a:avLst/>
          </a:prstGeom>
          <a:noFill/>
        </p:spPr>
        <p:txBody>
          <a:bodyPr wrap="square" lIns="45720" rIns="45720" tIns="18288" bIns="18288" anchor="ctr">
            <a:spAutoFit/>
          </a:bodyPr>
          <a:lstStyle/>
          <a:p>
            <a:pPr algn="l">
              <a:spcAft>
                <a:spcPts val="0"/>
              </a:spcAft>
            </a:pPr>
            <a:r>
              <a:rPr sz="1050" b="0" noProof="1">
                <a:solidFill>
                  <a:srgbClr val="404040"/>
                </a:solidFill>
                <a:latin typeface="TheSans"/>
                <a:cs typeface="TheSans"/>
              </a:rPr>
              <a:t>Records handover</a:t>
            </a:r>
          </a:p>
        </p:txBody>
      </p:sp>
      <p:sp>
        <p:nvSpPr>
          <p:cNvPr id="88" name="Rounded Rectangle 87"/>
          <p:cNvSpPr/>
          <p:nvPr/>
        </p:nvSpPr>
        <p:spPr>
          <a:xfrm>
            <a:off x="10096500" y="5349240"/>
            <a:ext cx="666750" cy="256032"/>
          </a:xfrm>
          <a:prstGeom prst="roundRect">
            <a:avLst>
              <a:gd name="adj" fmla="val 40000"/>
            </a:avLst>
          </a:prstGeom>
          <a:solidFill>
            <a:srgbClr val="21446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FFFFFF"/>
                </a:solidFill>
                <a:latin typeface="TheSans-Bold"/>
                <a:cs typeface="TheSans-Bold"/>
              </a:rPr>
              <a:t>Al Qotr</a:t>
            </a:r>
          </a:p>
        </p:txBody>
      </p:sp>
      <p:sp>
        <p:nvSpPr>
          <p:cNvPr id="89" name="Rounded Rectangle 88"/>
          <p:cNvSpPr/>
          <p:nvPr/>
        </p:nvSpPr>
        <p:spPr>
          <a:xfrm>
            <a:off x="10808970" y="5349240"/>
            <a:ext cx="666750" cy="256032"/>
          </a:xfrm>
          <a:prstGeom prst="roundRect">
            <a:avLst>
              <a:gd name="adj" fmla="val 40000"/>
            </a:avLst>
          </a:prstGeom>
          <a:solidFill>
            <a:srgbClr val="EBB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850" b="1" noProof="1">
                <a:solidFill>
                  <a:srgbClr val="21446A"/>
                </a:solidFill>
                <a:latin typeface="TheSans-Bold"/>
                <a:cs typeface="TheSans-Bold"/>
              </a:rPr>
              <a:t>Diriyah</a:t>
            </a:r>
          </a:p>
        </p:txBody>
      </p:sp>
      <p:sp>
        <p:nvSpPr>
          <p:cNvPr id="90" name="Right Arrow 89"/>
          <p:cNvSpPr/>
          <p:nvPr/>
        </p:nvSpPr>
        <p:spPr>
          <a:xfrm>
            <a:off x="548640" y="5852160"/>
            <a:ext cx="11109960" cy="384048"/>
          </a:xfrm>
          <a:prstGeom prst="rightArrow">
            <a:avLst/>
          </a:prstGeom>
          <a:solidFill>
            <a:srgbClr val="EBB13D"/>
          </a:solidFill>
          <a:ln>
            <a:noFill/>
          </a:ln>
          <a:effectLst>
            <a:outerShdw blurRad="76200" dist="25400" dir="5400000" algn="t" rotWithShape="0">
              <a:srgbClr val="000000">
                <a:alpha val="22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50" b="1" noProof="1">
                <a:solidFill>
                  <a:srgbClr val="21446A"/>
                </a:solidFill>
                <a:latin typeface="TheSans-Bold"/>
                <a:cs typeface="TheSans-Bold"/>
              </a:rPr>
              <a:t>Duration of each step is agreed with Diriyah after the instruction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BF0BD76B-811E-4EFD-804B-67A8E433E89C}"/>
              </a:ext>
            </a:extLst>
          </p:cNvPr>
          <p:cNvGrpSpPr/>
          <p:nvPr/>
        </p:nvGrpSpPr>
        <p:grpSpPr>
          <a:xfrm>
            <a:off x="752729" y="378163"/>
            <a:ext cx="2928942" cy="619125"/>
            <a:chOff x="1544035" y="223837"/>
            <a:chExt cx="3970798" cy="619125"/>
          </a:xfrm>
        </p:grpSpPr>
        <p:pic>
          <p:nvPicPr>
            <p:cNvPr id="10" name="Graphic 9">
              <a:extLst>
                <a:ext uri="{FF2B5EF4-FFF2-40B4-BE49-F238E27FC236}">
                  <a16:creationId xmlns:a16="http://schemas.microsoft.com/office/drawing/2014/main" id="{88D3EBC5-02AC-424D-8CE2-4C72B663DD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flipH="1">
              <a:off x="1544035" y="223837"/>
              <a:ext cx="3970798" cy="619125"/>
            </a:xfrm>
            <a:prstGeom prst="rect">
              <a:avLst/>
            </a:prstGeom>
          </p:spPr>
        </p:pic>
        <p:sp>
          <p:nvSpPr>
            <p:cNvPr id="11" name="TextBox 10">
              <a:extLst>
                <a:ext uri="{FF2B5EF4-FFF2-40B4-BE49-F238E27FC236}">
                  <a16:creationId xmlns:a16="http://schemas.microsoft.com/office/drawing/2014/main" id="{197EFB41-9E77-48BC-8BD2-730FEE3D264A}"/>
                </a:ext>
              </a:extLst>
            </p:cNvPr>
            <p:cNvSpPr txBox="1"/>
            <p:nvPr/>
          </p:nvSpPr>
          <p:spPr>
            <a:xfrm flipH="1">
              <a:off x="2929549" y="333344"/>
              <a:ext cx="1705353" cy="400110"/>
            </a:xfrm>
            <a:prstGeom prst="rect">
              <a:avLst/>
            </a:prstGeom>
            <a:noFill/>
          </p:spPr>
          <p:txBody>
            <a:bodyPr wrap="square" rtlCol="0">
              <a:spAutoFit/>
            </a:bodyPr>
            <a:lstStyle/>
            <a:p>
              <a:r>
                <a:rPr lang="en-US" sz="2000" b="1" dirty="0" noProof="1">
                  <a:solidFill>
                    <a:schemeClr val="bg1"/>
                  </a:solidFill>
                  <a:latin typeface="TheSans-Bold" panose="020B0803040302020203" pitchFamily="34" charset="-78"/>
                  <a:cs typeface="TheSans-Bold" panose="020B0803040302020203" pitchFamily="34" charset="-78"/>
                </a:rPr>
                <a:t>HSE</a:t>
              </a:r>
            </a:p>
          </p:txBody>
        </p:sp>
      </p:grpSp>
      <p:sp>
        <p:nvSpPr>
          <p:cNvPr id="7" name="Rectangle 6">
            <a:extLst>
              <a:ext uri="{FF2B5EF4-FFF2-40B4-BE49-F238E27FC236}">
                <a16:creationId xmlns:a16="http://schemas.microsoft.com/office/drawing/2014/main" id="{13E438F9-2AEA-42E3-883E-97E29016FA8D}"/>
              </a:ext>
            </a:extLst>
          </p:cNvPr>
          <p:cNvSpPr/>
          <p:nvPr/>
        </p:nvSpPr>
        <p:spPr>
          <a:xfrm>
            <a:off x="3257550" y="1285875"/>
            <a:ext cx="323850" cy="2190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76753C9-0DA3-4B76-B6EF-100EAF66A6CD}"/>
              </a:ext>
            </a:extLst>
          </p:cNvPr>
          <p:cNvSpPr txBox="1"/>
          <p:nvPr/>
        </p:nvSpPr>
        <p:spPr>
          <a:xfrm>
            <a:off x="668759" y="1471398"/>
            <a:ext cx="7846945" cy="705258"/>
          </a:xfrm>
          <a:prstGeom prst="rect">
            <a:avLst/>
          </a:prstGeom>
          <a:noFill/>
        </p:spPr>
        <p:txBody>
          <a:bodyPr wrap="square" rtlCol="0">
            <a:spAutoFit/>
          </a:bodyPr>
          <a:lstStyle/>
          <a:p>
            <a:pPr algn="just">
              <a:lnSpc>
                <a:spcPct val="150000"/>
              </a:lnSpc>
            </a:pPr>
            <a:r>
              <a:rPr lang="en-US" sz="1400" b="1" dirty="0" noProof="1">
                <a:solidFill>
                  <a:schemeClr val="accent5">
                    <a:lumMod val="50000"/>
                  </a:schemeClr>
                </a:solidFill>
                <a:cs typeface="TheSans" panose="020B0503040302020203" pitchFamily="34" charset="-78"/>
              </a:rPr>
              <a:t>Roles and Responsibilities: </a:t>
            </a:r>
          </a:p>
          <a:p>
            <a:pPr algn="just">
              <a:lnSpc>
                <a:spcPct val="150000"/>
              </a:lnSpc>
            </a:pPr>
            <a:endParaRPr lang="en-US" sz="1400" dirty="0">
              <a:solidFill>
                <a:schemeClr val="tx1">
                  <a:lumMod val="75000"/>
                  <a:lumOff val="25000"/>
                </a:schemeClr>
              </a:solidFill>
              <a:cs typeface="TheSans" panose="020B0503040302020203" pitchFamily="34" charset="-78"/>
            </a:endParaRPr>
          </a:p>
        </p:txBody>
      </p:sp>
      <p:sp>
        <p:nvSpPr>
          <p:cNvPr id="24" name="TextBox 23">
            <a:extLst>
              <a:ext uri="{FF2B5EF4-FFF2-40B4-BE49-F238E27FC236}">
                <a16:creationId xmlns:a16="http://schemas.microsoft.com/office/drawing/2014/main" id="{BBEF12D1-C29D-4C30-90E0-C72E2880EBF5}"/>
              </a:ext>
            </a:extLst>
          </p:cNvPr>
          <p:cNvSpPr txBox="1"/>
          <p:nvPr/>
        </p:nvSpPr>
        <p:spPr>
          <a:xfrm>
            <a:off x="668759" y="1834045"/>
            <a:ext cx="10073417" cy="3739485"/>
          </a:xfrm>
          <a:prstGeom prst="rect">
            <a:avLst/>
          </a:prstGeom>
          <a:noFill/>
        </p:spPr>
        <p:txBody>
          <a:bodyPr wrap="square" rtlCol="0">
            <a:spAutoFit/>
          </a:bodyPr>
          <a:lstStyle/>
          <a:p>
            <a:pPr algn="just">
              <a:lnSpc>
                <a:spcPct val="200000"/>
              </a:lnSpc>
            </a:pPr>
            <a:r>
              <a:rPr lang="en-US" sz="1200" b="1" dirty="0" noProof="1">
                <a:solidFill>
                  <a:schemeClr val="accent5">
                    <a:lumMod val="50000"/>
                  </a:schemeClr>
                </a:solidFill>
                <a:latin typeface="TheSans" panose="020B0503040302020203" pitchFamily="34" charset="-78"/>
                <a:cs typeface="TheSans" panose="020B0503040302020203" pitchFamily="34" charset="-78"/>
              </a:rPr>
              <a:t>ALQOTR is fully committed to implementing this HSE Plan by establishing an agreed HSE Management System in order to: </a:t>
            </a:r>
          </a:p>
          <a:p>
            <a:pPr algn="just">
              <a:lnSpc>
                <a:spcPct val="200000"/>
              </a:lnSpc>
            </a:pPr>
            <a:r>
              <a:rPr lang="en-US" sz="1200" dirty="0" noProof="1">
                <a:solidFill>
                  <a:schemeClr val="tx1">
                    <a:lumMod val="75000"/>
                    <a:lumOff val="25000"/>
                  </a:schemeClr>
                </a:solidFill>
                <a:latin typeface="TheSans" panose="020B0503040302020203" pitchFamily="34" charset="-78"/>
                <a:cs typeface="TheSans" panose="020B0503040302020203" pitchFamily="34" charset="-78"/>
              </a:rPr>
              <a:t>- Execute all activities in compliance with KSA legal EHSMS framework, local requirements, international best practice, and contractual expectations.</a:t>
            </a:r>
          </a:p>
          <a:p>
            <a:pPr algn="just">
              <a:lnSpc>
                <a:spcPct val="200000"/>
              </a:lnSpc>
            </a:pPr>
            <a:r>
              <a:rPr lang="en-US" sz="1200" dirty="0" noProof="1">
                <a:solidFill>
                  <a:schemeClr val="tx1">
                    <a:lumMod val="75000"/>
                    <a:lumOff val="25000"/>
                  </a:schemeClr>
                </a:solidFill>
                <a:latin typeface="TheSans" panose="020B0503040302020203" pitchFamily="34" charset="-78"/>
                <a:cs typeface="TheSans" panose="020B0503040302020203" pitchFamily="34" charset="-78"/>
              </a:rPr>
              <a:t>- Provide leadership and guidance to middle management for the acceptance, maintenance and enforcement of the Loss Prevention Program.</a:t>
            </a:r>
          </a:p>
          <a:p>
            <a:pPr algn="just">
              <a:lnSpc>
                <a:spcPct val="200000"/>
              </a:lnSpc>
            </a:pPr>
            <a:r>
              <a:rPr lang="en-US" sz="1200" dirty="0" noProof="1">
                <a:solidFill>
                  <a:schemeClr val="tx1">
                    <a:lumMod val="75000"/>
                    <a:lumOff val="25000"/>
                  </a:schemeClr>
                </a:solidFill>
                <a:latin typeface="TheSans" panose="020B0503040302020203" pitchFamily="34" charset="-78"/>
                <a:cs typeface="TheSans" panose="020B0503040302020203" pitchFamily="34" charset="-78"/>
              </a:rPr>
              <a:t>- Achieve all occupational health, safety and environmental objectives set by Diriyah Company.</a:t>
            </a:r>
          </a:p>
          <a:p>
            <a:pPr algn="just">
              <a:lnSpc>
                <a:spcPct val="200000"/>
              </a:lnSpc>
            </a:pPr>
            <a:r>
              <a:rPr lang="en-US" sz="1200" dirty="0" noProof="1">
                <a:solidFill>
                  <a:schemeClr val="tx1">
                    <a:lumMod val="75000"/>
                    <a:lumOff val="25000"/>
                  </a:schemeClr>
                </a:solidFill>
                <a:latin typeface="TheSans" panose="020B0503040302020203" pitchFamily="34" charset="-78"/>
                <a:cs typeface="TheSans" panose="020B0503040302020203" pitchFamily="34" charset="-78"/>
              </a:rPr>
              <a:t>- Provide resources for training and monitoring the Loss Prevention Program. </a:t>
            </a:r>
          </a:p>
          <a:p>
            <a:pPr algn="just">
              <a:lnSpc>
                <a:spcPct val="200000"/>
              </a:lnSpc>
            </a:pPr>
            <a:r>
              <a:rPr lang="en-US" sz="1200" dirty="0" noProof="1">
                <a:solidFill>
                  <a:schemeClr val="tx1">
                    <a:lumMod val="75000"/>
                    <a:lumOff val="25000"/>
                  </a:schemeClr>
                </a:solidFill>
                <a:latin typeface="TheSans" panose="020B0503040302020203" pitchFamily="34" charset="-78"/>
                <a:cs typeface="TheSans" panose="020B0503040302020203" pitchFamily="34" charset="-78"/>
              </a:rPr>
              <a:t>- Maintain open lines of communication between employees, supervisors and management relative to the free exchange of safety suggestions and information.  </a:t>
            </a:r>
          </a:p>
          <a:p>
            <a:pPr algn="just">
              <a:lnSpc>
                <a:spcPct val="200000"/>
              </a:lnSpc>
            </a:pPr>
            <a:r>
              <a:rPr lang="en-US" sz="1200" dirty="0" noProof="1">
                <a:solidFill>
                  <a:schemeClr val="tx1">
                    <a:lumMod val="75000"/>
                    <a:lumOff val="25000"/>
                  </a:schemeClr>
                </a:solidFill>
                <a:latin typeface="TheSans" panose="020B0503040302020203" pitchFamily="34" charset="-78"/>
                <a:cs typeface="TheSans" panose="020B0503040302020203" pitchFamily="34" charset="-78"/>
              </a:rPr>
              <a:t>- Protect the environment and utilize resources in the most efficient and effective manner.</a:t>
            </a:r>
          </a:p>
          <a:p>
            <a:pPr algn="just">
              <a:lnSpc>
                <a:spcPct val="200000"/>
              </a:lnSpc>
            </a:pPr>
            <a:r>
              <a:rPr lang="en-US" sz="1200" dirty="0" noProof="1">
                <a:solidFill>
                  <a:schemeClr val="tx1">
                    <a:lumMod val="75000"/>
                    <a:lumOff val="25000"/>
                  </a:schemeClr>
                </a:solidFill>
                <a:latin typeface="TheSans" panose="020B0503040302020203" pitchFamily="34" charset="-78"/>
                <a:cs typeface="TheSans" panose="020B0503040302020203" pitchFamily="34" charset="-78"/>
              </a:rPr>
              <a:t>- Promote and attend safety functions.  </a:t>
            </a:r>
          </a:p>
          <a:p>
            <a:pPr algn="just">
              <a:lnSpc>
                <a:spcPct val="200000"/>
              </a:lnSpc>
            </a:pPr>
            <a:r>
              <a:rPr lang="en-US" sz="1200" dirty="0" noProof="1">
                <a:solidFill>
                  <a:schemeClr val="tx1">
                    <a:lumMod val="75000"/>
                    <a:lumOff val="25000"/>
                  </a:schemeClr>
                </a:solidFill>
                <a:latin typeface="TheSans" panose="020B0503040302020203" pitchFamily="34" charset="-78"/>
                <a:cs typeface="TheSans" panose="020B0503040302020203" pitchFamily="34" charset="-78"/>
              </a:rPr>
              <a:t>- Monitor the follow‐up on recommendations made to improve performance and prevent accidents.</a:t>
            </a:r>
          </a:p>
        </p:txBody>
      </p:sp>
    </p:spTree>
    <p:extLst>
      <p:ext uri="{BB962C8B-B14F-4D97-AF65-F5344CB8AC3E}">
        <p14:creationId xmlns:p14="http://schemas.microsoft.com/office/powerpoint/2010/main" val="35125442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36F658-D3D9-415F-81B5-50FA47A3686B}"/>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noProof="1"/>
              <a:t>v</a:t>
            </a:r>
          </a:p>
        </p:txBody>
      </p:sp>
      <p:pic>
        <p:nvPicPr>
          <p:cNvPr id="2" name="Graphic 1">
            <a:extLst>
              <a:ext uri="{FF2B5EF4-FFF2-40B4-BE49-F238E27FC236}">
                <a16:creationId xmlns:a16="http://schemas.microsoft.com/office/drawing/2014/main" id="{87636A4D-7066-47ED-BF75-0279477975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53827799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3438</TotalTime>
  <Words>806</Words>
  <Application>Microsoft Office PowerPoint</Application>
  <PresentationFormat>Widescreen</PresentationFormat>
  <Paragraphs>165</Paragraphs>
  <Slides>14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vt:lpstr>
      <vt:lpstr>Calibri</vt:lpstr>
      <vt:lpstr>Calibri Light</vt:lpstr>
      <vt:lpstr>Changa</vt:lpstr>
      <vt:lpstr>Formular</vt:lpstr>
      <vt:lpstr>Symbol</vt:lpstr>
      <vt:lpstr>TheSans</vt:lpstr>
      <vt:lpstr>TheSans-Bold</vt:lpstr>
      <vt:lpstr>Verdana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Ahmed samy</dc:creator>
  <cp:lastModifiedBy>Megahed Hassan</cp:lastModifiedBy>
  <cp:revision>181</cp:revision>
  <dcterms:created xsi:type="dcterms:W3CDTF">2024-07-10T05:34:23Z</dcterms:created>
  <dcterms:modified xsi:type="dcterms:W3CDTF">2024-11-03T13:37:04Z</dcterms:modified>
</cp:coreProperties>
</file>